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2"/>
  </p:notesMasterIdLst>
  <p:sldIdLst>
    <p:sldId id="256" r:id="rId2"/>
    <p:sldId id="296" r:id="rId3"/>
    <p:sldId id="297" r:id="rId4"/>
    <p:sldId id="298" r:id="rId5"/>
    <p:sldId id="299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</p:sldIdLst>
  <p:sldSz cx="9144000" cy="5143500" type="screen16x9"/>
  <p:notesSz cx="6858000" cy="9144000"/>
  <p:embeddedFontLst>
    <p:embeddedFont>
      <p:font typeface="Actor" panose="020B0604020202020204" charset="0"/>
      <p:regular r:id="rId23"/>
    </p:embeddedFont>
    <p:embeddedFont>
      <p:font typeface="Cambria Math" panose="02040503050406030204" pitchFamily="18" charset="0"/>
      <p:regular r:id="rId24"/>
    </p:embeddedFont>
    <p:embeddedFont>
      <p:font typeface="Figtree" pitchFamily="2" charset="0"/>
      <p:regular r:id="rId25"/>
      <p:bold r:id="rId26"/>
      <p:italic r:id="rId27"/>
      <p:boldItalic r:id="rId28"/>
    </p:embeddedFont>
    <p:embeddedFont>
      <p:font typeface="Geologica" panose="020B0604020202020204" charset="0"/>
      <p:regular r:id="rId29"/>
      <p:bold r:id="rId30"/>
    </p:embeddedFont>
    <p:embeddedFont>
      <p:font typeface="Nunito Light" pitchFamily="2" charset="0"/>
      <p:regular r:id="rId31"/>
      <p:italic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52BC47-DEB5-42AE-B508-9AF749495DB4}">
  <a:tblStyle styleId="{F952BC47-DEB5-42AE-B508-9AF749495D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D8F93B5-1F1F-4D79-8392-977954BB6DA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l-GR" dirty="0"/>
                  <a:t>ρ</a:t>
                </a:r>
                <a:r>
                  <a:rPr lang="en-ID" dirty="0"/>
                  <a:t>rod​(t): </a:t>
                </a:r>
                <a:r>
                  <a:rPr lang="en-ID" dirty="0" err="1"/>
                  <a:t>reaktivitas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:r>
                  <a:rPr lang="en-ID" dirty="0" err="1"/>
                  <a:t>batang</a:t>
                </a:r>
                <a:r>
                  <a:rPr lang="en-ID" dirty="0"/>
                  <a:t> (</a:t>
                </a:r>
                <a:r>
                  <a:rPr lang="en-ID" dirty="0" err="1"/>
                  <a:t>hasil</a:t>
                </a:r>
                <a:r>
                  <a:rPr lang="en-ID" dirty="0"/>
                  <a:t> model worth </a:t>
                </a:r>
                <a:r>
                  <a:rPr lang="en-ID" dirty="0" err="1"/>
                  <a:t>kamu</a:t>
                </a:r>
                <a:r>
                  <a:rPr lang="en-ID" dirty="0"/>
                  <a:t>, </a:t>
                </a:r>
                <a:r>
                  <a:rPr lang="en-ID" dirty="0" err="1"/>
                  <a:t>dalam</a:t>
                </a:r>
                <a:r>
                  <a:rPr lang="en-ID" dirty="0"/>
                  <a:t> </a:t>
                </a:r>
                <a:r>
                  <a:rPr lang="en-ID" b="1" dirty="0" err="1"/>
                  <a:t>absolut</a:t>
                </a:r>
                <a:r>
                  <a:rPr lang="en-ID" dirty="0"/>
                  <a:t>)</a:t>
                </a:r>
              </a:p>
              <a:p>
                <a:r>
                  <a:rPr lang="sv-SE" dirty="0"/>
                  <a:t>T(t): temperatur bahan bakar (atau temperatur efektif teras)</a:t>
                </a:r>
              </a:p>
              <a:p>
                <a:r>
                  <a:rPr lang="en-ID" dirty="0"/>
                  <a:t>T0​: </a:t>
                </a:r>
                <a:r>
                  <a:rPr lang="en-ID" dirty="0" err="1"/>
                  <a:t>temperatur</a:t>
                </a:r>
                <a:r>
                  <a:rPr lang="en-ID" dirty="0"/>
                  <a:t> </a:t>
                </a:r>
                <a:r>
                  <a:rPr lang="en-ID" dirty="0" err="1"/>
                  <a:t>awal</a:t>
                </a:r>
                <a:endParaRPr lang="en-ID" dirty="0"/>
              </a:p>
              <a:p>
                <a:r>
                  <a:rPr lang="en-ID" dirty="0"/>
                  <a:t>a: </a:t>
                </a:r>
                <a:r>
                  <a:rPr lang="en-ID" dirty="0" err="1"/>
                  <a:t>konversi</a:t>
                </a:r>
                <a:r>
                  <a:rPr lang="en-ID" dirty="0"/>
                  <a:t> </a:t>
                </a:r>
                <a:r>
                  <a:rPr lang="en-ID" dirty="0" err="1"/>
                  <a:t>daya</a:t>
                </a:r>
                <a:r>
                  <a:rPr lang="en-ID" dirty="0"/>
                  <a:t> </a:t>
                </a:r>
                <a:r>
                  <a:rPr lang="en-ID" dirty="0" err="1"/>
                  <a:t>relatif</a:t>
                </a:r>
                <a:r>
                  <a:rPr lang="en-ID" dirty="0"/>
                  <a:t> → </a:t>
                </a:r>
                <a:r>
                  <a:rPr lang="en-ID" dirty="0" err="1"/>
                  <a:t>kenaikan</a:t>
                </a:r>
                <a:r>
                  <a:rPr lang="en-ID" dirty="0"/>
                  <a:t> </a:t>
                </a:r>
                <a:r>
                  <a:rPr lang="en-ID" dirty="0" err="1"/>
                  <a:t>suhu</a:t>
                </a:r>
                <a:r>
                  <a:rPr lang="en-ID" dirty="0"/>
                  <a:t> (K/s per unit n)</a:t>
                </a:r>
              </a:p>
              <a:p>
                <a14:m>
                  <m:oMath xmlns:m="http://schemas.openxmlformats.org/officeDocument/2006/math">
                    <m:r>
                      <a:rPr lang="en-ID" sz="1100" b="0" i="1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𝑏</m:t>
                    </m:r>
                  </m:oMath>
                </a14:m>
                <a:r>
                  <a:rPr lang="en-ID" dirty="0"/>
                  <a:t>: </a:t>
                </a:r>
                <a:r>
                  <a:rPr lang="en-ID" dirty="0" err="1"/>
                  <a:t>pendinginan</a:t>
                </a:r>
                <a:r>
                  <a:rPr lang="en-ID" dirty="0"/>
                  <a:t> </a:t>
                </a:r>
                <a:r>
                  <a:rPr lang="en-ID" dirty="0" err="1"/>
                  <a:t>ke</a:t>
                </a:r>
                <a:r>
                  <a:rPr lang="en-ID" dirty="0"/>
                  <a:t> </a:t>
                </a:r>
                <a:r>
                  <a:rPr lang="en-ID" dirty="0" err="1"/>
                  <a:t>lingkungan</a:t>
                </a:r>
                <a:r>
                  <a:rPr lang="en-ID" dirty="0"/>
                  <a:t> (1/s)</a:t>
                </a:r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l-GR" dirty="0"/>
                  <a:t>ρ</a:t>
                </a:r>
                <a:r>
                  <a:rPr lang="en-ID" dirty="0"/>
                  <a:t>rod​(t): </a:t>
                </a:r>
                <a:r>
                  <a:rPr lang="en-ID" dirty="0" err="1"/>
                  <a:t>reaktivitas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:r>
                  <a:rPr lang="en-ID" dirty="0" err="1"/>
                  <a:t>batang</a:t>
                </a:r>
                <a:r>
                  <a:rPr lang="en-ID" dirty="0"/>
                  <a:t> (</a:t>
                </a:r>
                <a:r>
                  <a:rPr lang="en-ID" dirty="0" err="1"/>
                  <a:t>hasil</a:t>
                </a:r>
                <a:r>
                  <a:rPr lang="en-ID" dirty="0"/>
                  <a:t> model worth </a:t>
                </a:r>
                <a:r>
                  <a:rPr lang="en-ID" dirty="0" err="1"/>
                  <a:t>kamu</a:t>
                </a:r>
                <a:r>
                  <a:rPr lang="en-ID" dirty="0"/>
                  <a:t>, </a:t>
                </a:r>
                <a:r>
                  <a:rPr lang="en-ID" dirty="0" err="1"/>
                  <a:t>dalam</a:t>
                </a:r>
                <a:r>
                  <a:rPr lang="en-ID" dirty="0"/>
                  <a:t> </a:t>
                </a:r>
                <a:r>
                  <a:rPr lang="en-ID" b="1" dirty="0" err="1"/>
                  <a:t>absolut</a:t>
                </a:r>
                <a:r>
                  <a:rPr lang="en-ID" dirty="0"/>
                  <a:t>)</a:t>
                </a:r>
              </a:p>
              <a:p>
                <a:r>
                  <a:rPr lang="sv-SE" dirty="0"/>
                  <a:t>T(t): temperatur bahan bakar (atau temperatur efektif teras)</a:t>
                </a:r>
              </a:p>
              <a:p>
                <a:r>
                  <a:rPr lang="en-ID" dirty="0"/>
                  <a:t>T0​: </a:t>
                </a:r>
                <a:r>
                  <a:rPr lang="en-ID" dirty="0" err="1"/>
                  <a:t>temperatur</a:t>
                </a:r>
                <a:r>
                  <a:rPr lang="en-ID" dirty="0"/>
                  <a:t> </a:t>
                </a:r>
                <a:r>
                  <a:rPr lang="en-ID" dirty="0" err="1"/>
                  <a:t>awal</a:t>
                </a:r>
                <a:endParaRPr lang="en-ID" dirty="0"/>
              </a:p>
              <a:p>
                <a:r>
                  <a:rPr lang="en-ID" dirty="0"/>
                  <a:t>a: </a:t>
                </a:r>
                <a:r>
                  <a:rPr lang="en-ID" dirty="0" err="1"/>
                  <a:t>konversi</a:t>
                </a:r>
                <a:r>
                  <a:rPr lang="en-ID" dirty="0"/>
                  <a:t> </a:t>
                </a:r>
                <a:r>
                  <a:rPr lang="en-ID" dirty="0" err="1"/>
                  <a:t>daya</a:t>
                </a:r>
                <a:r>
                  <a:rPr lang="en-ID" dirty="0"/>
                  <a:t> </a:t>
                </a:r>
                <a:r>
                  <a:rPr lang="en-ID" dirty="0" err="1"/>
                  <a:t>relatif</a:t>
                </a:r>
                <a:r>
                  <a:rPr lang="en-ID" dirty="0"/>
                  <a:t> → </a:t>
                </a:r>
                <a:r>
                  <a:rPr lang="en-ID" dirty="0" err="1"/>
                  <a:t>kenaikan</a:t>
                </a:r>
                <a:r>
                  <a:rPr lang="en-ID" dirty="0"/>
                  <a:t> </a:t>
                </a:r>
                <a:r>
                  <a:rPr lang="en-ID" dirty="0" err="1"/>
                  <a:t>suhu</a:t>
                </a:r>
                <a:r>
                  <a:rPr lang="en-ID" dirty="0"/>
                  <a:t> (K/s per unit n)</a:t>
                </a:r>
              </a:p>
              <a:p>
                <a:r>
                  <a:rPr lang="en-ID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𝑏</a:t>
                </a:r>
                <a:r>
                  <a:rPr lang="en-ID" dirty="0"/>
                  <a:t>: </a:t>
                </a:r>
                <a:r>
                  <a:rPr lang="en-ID" dirty="0" err="1"/>
                  <a:t>pendinginan</a:t>
                </a:r>
                <a:r>
                  <a:rPr lang="en-ID" dirty="0"/>
                  <a:t> </a:t>
                </a:r>
                <a:r>
                  <a:rPr lang="en-ID" dirty="0" err="1"/>
                  <a:t>ke</a:t>
                </a:r>
                <a:r>
                  <a:rPr lang="en-ID" dirty="0"/>
                  <a:t> </a:t>
                </a:r>
                <a:r>
                  <a:rPr lang="en-ID" dirty="0" err="1"/>
                  <a:t>lingkungan</a:t>
                </a:r>
                <a:r>
                  <a:rPr lang="en-ID" dirty="0"/>
                  <a:t> (1/s)</a:t>
                </a:r>
              </a:p>
              <a:p>
                <a:endParaRPr lang="en-ID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222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3857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63200" y="-34100"/>
            <a:ext cx="9251100" cy="377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301875"/>
            <a:ext cx="5331900" cy="14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2753250"/>
            <a:ext cx="4528800" cy="4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-63200" y="-34100"/>
            <a:ext cx="9251100" cy="463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190414"/>
            <a:ext cx="7704000" cy="3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5476950" y="3234750"/>
            <a:ext cx="1233000" cy="1233000"/>
          </a:xfrm>
          <a:prstGeom prst="donut">
            <a:avLst>
              <a:gd name="adj" fmla="val 25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0" y="1270625"/>
            <a:ext cx="7203600" cy="2563500"/>
          </a:xfrm>
          <a:prstGeom prst="rect">
            <a:avLst/>
          </a:prstGeom>
          <a:solidFill>
            <a:srgbClr val="F9F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7" name="Google Shape;37;p8"/>
          <p:cNvGrpSpPr/>
          <p:nvPr/>
        </p:nvGrpSpPr>
        <p:grpSpPr>
          <a:xfrm rot="5400000">
            <a:off x="5087575" y="-168435"/>
            <a:ext cx="615152" cy="2716009"/>
            <a:chOff x="6482900" y="1354425"/>
            <a:chExt cx="235600" cy="1829825"/>
          </a:xfrm>
        </p:grpSpPr>
        <p:sp>
          <p:nvSpPr>
            <p:cNvPr id="38" name="Google Shape;38;p8"/>
            <p:cNvSpPr/>
            <p:nvPr/>
          </p:nvSpPr>
          <p:spPr>
            <a:xfrm>
              <a:off x="6482900" y="1354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8"/>
            <p:cNvSpPr/>
            <p:nvPr/>
          </p:nvSpPr>
          <p:spPr>
            <a:xfrm>
              <a:off x="6482900" y="1476000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8"/>
            <p:cNvSpPr/>
            <p:nvPr/>
          </p:nvSpPr>
          <p:spPr>
            <a:xfrm>
              <a:off x="6482900" y="159757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8"/>
            <p:cNvSpPr/>
            <p:nvPr/>
          </p:nvSpPr>
          <p:spPr>
            <a:xfrm>
              <a:off x="6482900" y="1719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3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8"/>
            <p:cNvSpPr/>
            <p:nvPr/>
          </p:nvSpPr>
          <p:spPr>
            <a:xfrm>
              <a:off x="6482900" y="1839975"/>
              <a:ext cx="235600" cy="249275"/>
            </a:xfrm>
            <a:custGeom>
              <a:avLst/>
              <a:gdLst/>
              <a:ahLst/>
              <a:cxnLst/>
              <a:rect l="l" t="t" r="r" b="b"/>
              <a:pathLst>
                <a:path w="9424" h="9971" extrusionOk="0">
                  <a:moveTo>
                    <a:pt x="1" y="1"/>
                  </a:moveTo>
                  <a:lnTo>
                    <a:pt x="1" y="548"/>
                  </a:lnTo>
                  <a:lnTo>
                    <a:pt x="9424" y="9971"/>
                  </a:lnTo>
                  <a:lnTo>
                    <a:pt x="9424" y="94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8"/>
            <p:cNvSpPr/>
            <p:nvPr/>
          </p:nvSpPr>
          <p:spPr>
            <a:xfrm>
              <a:off x="6482900" y="196232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8"/>
            <p:cNvSpPr/>
            <p:nvPr/>
          </p:nvSpPr>
          <p:spPr>
            <a:xfrm>
              <a:off x="6482900" y="208390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8"/>
            <p:cNvSpPr/>
            <p:nvPr/>
          </p:nvSpPr>
          <p:spPr>
            <a:xfrm>
              <a:off x="6482900" y="22055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47"/>
                  </a:lnTo>
                  <a:lnTo>
                    <a:pt x="9424" y="9939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8"/>
            <p:cNvSpPr/>
            <p:nvPr/>
          </p:nvSpPr>
          <p:spPr>
            <a:xfrm>
              <a:off x="6482900" y="23278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10"/>
                  </a:lnTo>
                  <a:lnTo>
                    <a:pt x="9424" y="93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8"/>
            <p:cNvSpPr/>
            <p:nvPr/>
          </p:nvSpPr>
          <p:spPr>
            <a:xfrm>
              <a:off x="6482900" y="2449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8"/>
            <p:cNvSpPr/>
            <p:nvPr/>
          </p:nvSpPr>
          <p:spPr>
            <a:xfrm>
              <a:off x="6482900" y="25710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6482900" y="2692575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8"/>
            <p:cNvSpPr/>
            <p:nvPr/>
          </p:nvSpPr>
          <p:spPr>
            <a:xfrm>
              <a:off x="6482900" y="2814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8"/>
            <p:cNvSpPr/>
            <p:nvPr/>
          </p:nvSpPr>
          <p:spPr>
            <a:xfrm>
              <a:off x="6482900" y="293575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/>
          <p:nvPr/>
        </p:nvSpPr>
        <p:spPr>
          <a:xfrm>
            <a:off x="513300" y="637825"/>
            <a:ext cx="1233000" cy="1233000"/>
          </a:xfrm>
          <a:prstGeom prst="donut">
            <a:avLst>
              <a:gd name="adj" fmla="val 25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55" name="Google Shape;55;p9"/>
          <p:cNvSpPr/>
          <p:nvPr/>
        </p:nvSpPr>
        <p:spPr>
          <a:xfrm>
            <a:off x="0" y="1270625"/>
            <a:ext cx="7203600" cy="2563500"/>
          </a:xfrm>
          <a:prstGeom prst="rect">
            <a:avLst/>
          </a:prstGeom>
          <a:solidFill>
            <a:srgbClr val="F9F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12540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713225" y="32184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8" name="Google Shape;58;p9"/>
          <p:cNvGrpSpPr/>
          <p:nvPr/>
        </p:nvGrpSpPr>
        <p:grpSpPr>
          <a:xfrm rot="5400000">
            <a:off x="6598275" y="2486040"/>
            <a:ext cx="615152" cy="2716009"/>
            <a:chOff x="6482900" y="1354425"/>
            <a:chExt cx="235600" cy="1829825"/>
          </a:xfrm>
        </p:grpSpPr>
        <p:sp>
          <p:nvSpPr>
            <p:cNvPr id="59" name="Google Shape;59;p9"/>
            <p:cNvSpPr/>
            <p:nvPr/>
          </p:nvSpPr>
          <p:spPr>
            <a:xfrm>
              <a:off x="6482900" y="1354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>
              <a:off x="6482900" y="1476000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9"/>
            <p:cNvSpPr/>
            <p:nvPr/>
          </p:nvSpPr>
          <p:spPr>
            <a:xfrm>
              <a:off x="6482900" y="159757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9"/>
            <p:cNvSpPr/>
            <p:nvPr/>
          </p:nvSpPr>
          <p:spPr>
            <a:xfrm>
              <a:off x="6482900" y="1719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3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9"/>
            <p:cNvSpPr/>
            <p:nvPr/>
          </p:nvSpPr>
          <p:spPr>
            <a:xfrm>
              <a:off x="6482900" y="1839975"/>
              <a:ext cx="235600" cy="249275"/>
            </a:xfrm>
            <a:custGeom>
              <a:avLst/>
              <a:gdLst/>
              <a:ahLst/>
              <a:cxnLst/>
              <a:rect l="l" t="t" r="r" b="b"/>
              <a:pathLst>
                <a:path w="9424" h="9971" extrusionOk="0">
                  <a:moveTo>
                    <a:pt x="1" y="1"/>
                  </a:moveTo>
                  <a:lnTo>
                    <a:pt x="1" y="548"/>
                  </a:lnTo>
                  <a:lnTo>
                    <a:pt x="9424" y="9971"/>
                  </a:lnTo>
                  <a:lnTo>
                    <a:pt x="9424" y="94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9"/>
            <p:cNvSpPr/>
            <p:nvPr/>
          </p:nvSpPr>
          <p:spPr>
            <a:xfrm>
              <a:off x="6482900" y="196232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>
              <a:off x="6482900" y="208390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6482900" y="22055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47"/>
                  </a:lnTo>
                  <a:lnTo>
                    <a:pt x="9424" y="9939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9"/>
            <p:cNvSpPr/>
            <p:nvPr/>
          </p:nvSpPr>
          <p:spPr>
            <a:xfrm>
              <a:off x="6482900" y="23278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10"/>
                  </a:lnTo>
                  <a:lnTo>
                    <a:pt x="9424" y="93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6482900" y="2449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6482900" y="25710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9"/>
            <p:cNvSpPr/>
            <p:nvPr/>
          </p:nvSpPr>
          <p:spPr>
            <a:xfrm>
              <a:off x="6482900" y="2692575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>
              <a:off x="6482900" y="2814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9"/>
            <p:cNvSpPr/>
            <p:nvPr/>
          </p:nvSpPr>
          <p:spPr>
            <a:xfrm>
              <a:off x="6482900" y="293575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/>
          <p:nvPr/>
        </p:nvSpPr>
        <p:spPr>
          <a:xfrm>
            <a:off x="-550" y="-5725"/>
            <a:ext cx="8431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ctor"/>
              <a:ea typeface="Actor"/>
              <a:cs typeface="Actor"/>
              <a:sym typeface="Actor"/>
            </a:endParaRPr>
          </a:p>
        </p:txBody>
      </p:sp>
      <p:grpSp>
        <p:nvGrpSpPr>
          <p:cNvPr id="157" name="Google Shape;157;p22"/>
          <p:cNvGrpSpPr/>
          <p:nvPr/>
        </p:nvGrpSpPr>
        <p:grpSpPr>
          <a:xfrm rot="10800000">
            <a:off x="8123200" y="1438915"/>
            <a:ext cx="615152" cy="2716009"/>
            <a:chOff x="6482900" y="1354425"/>
            <a:chExt cx="235600" cy="1829825"/>
          </a:xfrm>
        </p:grpSpPr>
        <p:sp>
          <p:nvSpPr>
            <p:cNvPr id="158" name="Google Shape;158;p22"/>
            <p:cNvSpPr/>
            <p:nvPr/>
          </p:nvSpPr>
          <p:spPr>
            <a:xfrm>
              <a:off x="6482900" y="1354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2"/>
            <p:cNvSpPr/>
            <p:nvPr/>
          </p:nvSpPr>
          <p:spPr>
            <a:xfrm>
              <a:off x="6482900" y="1476000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2"/>
            <p:cNvSpPr/>
            <p:nvPr/>
          </p:nvSpPr>
          <p:spPr>
            <a:xfrm>
              <a:off x="6482900" y="159757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2"/>
            <p:cNvSpPr/>
            <p:nvPr/>
          </p:nvSpPr>
          <p:spPr>
            <a:xfrm>
              <a:off x="6482900" y="1719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3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2"/>
            <p:cNvSpPr/>
            <p:nvPr/>
          </p:nvSpPr>
          <p:spPr>
            <a:xfrm>
              <a:off x="6482900" y="1839975"/>
              <a:ext cx="235600" cy="249275"/>
            </a:xfrm>
            <a:custGeom>
              <a:avLst/>
              <a:gdLst/>
              <a:ahLst/>
              <a:cxnLst/>
              <a:rect l="l" t="t" r="r" b="b"/>
              <a:pathLst>
                <a:path w="9424" h="9971" extrusionOk="0">
                  <a:moveTo>
                    <a:pt x="1" y="1"/>
                  </a:moveTo>
                  <a:lnTo>
                    <a:pt x="1" y="548"/>
                  </a:lnTo>
                  <a:lnTo>
                    <a:pt x="9424" y="9971"/>
                  </a:lnTo>
                  <a:lnTo>
                    <a:pt x="9424" y="94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2"/>
            <p:cNvSpPr/>
            <p:nvPr/>
          </p:nvSpPr>
          <p:spPr>
            <a:xfrm>
              <a:off x="6482900" y="196232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2"/>
            <p:cNvSpPr/>
            <p:nvPr/>
          </p:nvSpPr>
          <p:spPr>
            <a:xfrm>
              <a:off x="6482900" y="208390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2"/>
            <p:cNvSpPr/>
            <p:nvPr/>
          </p:nvSpPr>
          <p:spPr>
            <a:xfrm>
              <a:off x="6482900" y="22055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47"/>
                  </a:lnTo>
                  <a:lnTo>
                    <a:pt x="9424" y="9939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2"/>
            <p:cNvSpPr/>
            <p:nvPr/>
          </p:nvSpPr>
          <p:spPr>
            <a:xfrm>
              <a:off x="6482900" y="23278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10"/>
                  </a:lnTo>
                  <a:lnTo>
                    <a:pt x="9424" y="93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6482900" y="2449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6482900" y="25710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6482900" y="2692575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6482900" y="2814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2"/>
            <p:cNvSpPr/>
            <p:nvPr/>
          </p:nvSpPr>
          <p:spPr>
            <a:xfrm>
              <a:off x="6482900" y="293575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/>
          <p:nvPr/>
        </p:nvSpPr>
        <p:spPr>
          <a:xfrm>
            <a:off x="-63200" y="-34100"/>
            <a:ext cx="9251100" cy="463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4" name="Google Shape;174;p23"/>
          <p:cNvGrpSpPr/>
          <p:nvPr/>
        </p:nvGrpSpPr>
        <p:grpSpPr>
          <a:xfrm rot="5400000">
            <a:off x="6993950" y="3245990"/>
            <a:ext cx="615152" cy="2716009"/>
            <a:chOff x="6482900" y="1354425"/>
            <a:chExt cx="235600" cy="1829825"/>
          </a:xfrm>
        </p:grpSpPr>
        <p:sp>
          <p:nvSpPr>
            <p:cNvPr id="175" name="Google Shape;175;p23"/>
            <p:cNvSpPr/>
            <p:nvPr/>
          </p:nvSpPr>
          <p:spPr>
            <a:xfrm>
              <a:off x="6482900" y="1354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3"/>
            <p:cNvSpPr/>
            <p:nvPr/>
          </p:nvSpPr>
          <p:spPr>
            <a:xfrm>
              <a:off x="6482900" y="1476000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3"/>
            <p:cNvSpPr/>
            <p:nvPr/>
          </p:nvSpPr>
          <p:spPr>
            <a:xfrm>
              <a:off x="6482900" y="159757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3"/>
            <p:cNvSpPr/>
            <p:nvPr/>
          </p:nvSpPr>
          <p:spPr>
            <a:xfrm>
              <a:off x="6482900" y="1719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3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3"/>
            <p:cNvSpPr/>
            <p:nvPr/>
          </p:nvSpPr>
          <p:spPr>
            <a:xfrm>
              <a:off x="6482900" y="1839975"/>
              <a:ext cx="235600" cy="249275"/>
            </a:xfrm>
            <a:custGeom>
              <a:avLst/>
              <a:gdLst/>
              <a:ahLst/>
              <a:cxnLst/>
              <a:rect l="l" t="t" r="r" b="b"/>
              <a:pathLst>
                <a:path w="9424" h="9971" extrusionOk="0">
                  <a:moveTo>
                    <a:pt x="1" y="1"/>
                  </a:moveTo>
                  <a:lnTo>
                    <a:pt x="1" y="548"/>
                  </a:lnTo>
                  <a:lnTo>
                    <a:pt x="9424" y="9971"/>
                  </a:lnTo>
                  <a:lnTo>
                    <a:pt x="9424" y="94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6482900" y="196232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3"/>
            <p:cNvSpPr/>
            <p:nvPr/>
          </p:nvSpPr>
          <p:spPr>
            <a:xfrm>
              <a:off x="6482900" y="208390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3"/>
            <p:cNvSpPr/>
            <p:nvPr/>
          </p:nvSpPr>
          <p:spPr>
            <a:xfrm>
              <a:off x="6482900" y="22055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47"/>
                  </a:lnTo>
                  <a:lnTo>
                    <a:pt x="9424" y="9939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6482900" y="23278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10"/>
                  </a:lnTo>
                  <a:lnTo>
                    <a:pt x="9424" y="93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3"/>
            <p:cNvSpPr/>
            <p:nvPr/>
          </p:nvSpPr>
          <p:spPr>
            <a:xfrm>
              <a:off x="6482900" y="2449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3"/>
            <p:cNvSpPr/>
            <p:nvPr/>
          </p:nvSpPr>
          <p:spPr>
            <a:xfrm>
              <a:off x="6482900" y="25710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3"/>
            <p:cNvSpPr/>
            <p:nvPr/>
          </p:nvSpPr>
          <p:spPr>
            <a:xfrm>
              <a:off x="6482900" y="2692575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6482900" y="2814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6482900" y="293575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8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5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2.png"/><Relationship Id="rId7" Type="http://schemas.openxmlformats.org/officeDocument/2006/relationships/oleObject" Target="../embeddings/oleObject7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8.wmf"/><Relationship Id="rId7" Type="http://schemas.openxmlformats.org/officeDocument/2006/relationships/oleObject" Target="../embeddings/oleObject10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11" Type="http://schemas.openxmlformats.org/officeDocument/2006/relationships/image" Target="../media/image23.pn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22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7.wmf"/><Relationship Id="rId3" Type="http://schemas.openxmlformats.org/officeDocument/2006/relationships/oleObject" Target="../embeddings/oleObject8.bin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29.w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6.wmf"/><Relationship Id="rId5" Type="http://schemas.openxmlformats.org/officeDocument/2006/relationships/image" Target="../media/image19.png"/><Relationship Id="rId15" Type="http://schemas.openxmlformats.org/officeDocument/2006/relationships/image" Target="../media/image28.wmf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18.wmf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1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ctrTitle"/>
          </p:nvPr>
        </p:nvSpPr>
        <p:spPr>
          <a:xfrm>
            <a:off x="713225" y="1087129"/>
            <a:ext cx="5932274" cy="16253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>
                    <a:lumMod val="10000"/>
                  </a:schemeClr>
                </a:solidFill>
              </a:rPr>
              <a:t>Numerical Modeling of Control Rod Reactivity in the Kartini Research Reactor Using Differential Rod Worth Functions</a:t>
            </a:r>
            <a:endParaRPr sz="24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713225" y="2753250"/>
            <a:ext cx="4528800" cy="4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Halim Hamadi</a:t>
            </a:r>
            <a:endParaRPr dirty="0"/>
          </a:p>
        </p:txBody>
      </p:sp>
      <p:grpSp>
        <p:nvGrpSpPr>
          <p:cNvPr id="201" name="Google Shape;201;p27"/>
          <p:cNvGrpSpPr/>
          <p:nvPr/>
        </p:nvGrpSpPr>
        <p:grpSpPr>
          <a:xfrm rot="5400000">
            <a:off x="6557950" y="2390790"/>
            <a:ext cx="615152" cy="2716009"/>
            <a:chOff x="6482900" y="1354425"/>
            <a:chExt cx="235600" cy="1829825"/>
          </a:xfrm>
        </p:grpSpPr>
        <p:sp>
          <p:nvSpPr>
            <p:cNvPr id="202" name="Google Shape;202;p27"/>
            <p:cNvSpPr/>
            <p:nvPr/>
          </p:nvSpPr>
          <p:spPr>
            <a:xfrm>
              <a:off x="6482900" y="1354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6482900" y="1476000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6482900" y="159757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6482900" y="1719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3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6482900" y="1839975"/>
              <a:ext cx="235600" cy="249275"/>
            </a:xfrm>
            <a:custGeom>
              <a:avLst/>
              <a:gdLst/>
              <a:ahLst/>
              <a:cxnLst/>
              <a:rect l="l" t="t" r="r" b="b"/>
              <a:pathLst>
                <a:path w="9424" h="9971" extrusionOk="0">
                  <a:moveTo>
                    <a:pt x="1" y="1"/>
                  </a:moveTo>
                  <a:lnTo>
                    <a:pt x="1" y="548"/>
                  </a:lnTo>
                  <a:lnTo>
                    <a:pt x="9424" y="9971"/>
                  </a:lnTo>
                  <a:lnTo>
                    <a:pt x="9424" y="94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6482900" y="196232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6482900" y="208390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6482900" y="22055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47"/>
                  </a:lnTo>
                  <a:lnTo>
                    <a:pt x="9424" y="9939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6482900" y="23278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10"/>
                  </a:lnTo>
                  <a:lnTo>
                    <a:pt x="9424" y="93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6482900" y="2449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6482900" y="25710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6482900" y="2692575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6482900" y="2814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6482900" y="293575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FFEFDD-BD78-8BBA-7831-BA402C0DC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483" y="0"/>
            <a:ext cx="7439034" cy="977736"/>
          </a:xfrm>
        </p:spPr>
        <p:txBody>
          <a:bodyPr/>
          <a:lstStyle/>
          <a:p>
            <a:r>
              <a:rPr lang="en-US" sz="2800" dirty="0">
                <a:solidFill>
                  <a:schemeClr val="bg1">
                    <a:lumMod val="10000"/>
                  </a:schemeClr>
                </a:solidFill>
              </a:rPr>
              <a:t>Kinematic Equations of the Kartini Reactor</a:t>
            </a:r>
            <a:endParaRPr lang="en-ID" sz="2800" dirty="0">
              <a:solidFill>
                <a:schemeClr val="bg1">
                  <a:lumMod val="10000"/>
                </a:schemeClr>
              </a:solidFill>
            </a:endParaRPr>
          </a:p>
        </p:txBody>
      </p:sp>
      <p:grpSp>
        <p:nvGrpSpPr>
          <p:cNvPr id="6" name="Google Shape;201;p27">
            <a:extLst>
              <a:ext uri="{FF2B5EF4-FFF2-40B4-BE49-F238E27FC236}">
                <a16:creationId xmlns:a16="http://schemas.microsoft.com/office/drawing/2014/main" id="{990C1640-417E-7588-5938-0223A90B3629}"/>
              </a:ext>
            </a:extLst>
          </p:cNvPr>
          <p:cNvGrpSpPr/>
          <p:nvPr/>
        </p:nvGrpSpPr>
        <p:grpSpPr>
          <a:xfrm rot="5400000">
            <a:off x="8534858" y="-1050428"/>
            <a:ext cx="615152" cy="2716009"/>
            <a:chOff x="6482900" y="1354425"/>
            <a:chExt cx="235600" cy="1829825"/>
          </a:xfrm>
          <a:solidFill>
            <a:schemeClr val="bg2"/>
          </a:solidFill>
        </p:grpSpPr>
        <p:sp>
          <p:nvSpPr>
            <p:cNvPr id="7" name="Google Shape;202;p27">
              <a:extLst>
                <a:ext uri="{FF2B5EF4-FFF2-40B4-BE49-F238E27FC236}">
                  <a16:creationId xmlns:a16="http://schemas.microsoft.com/office/drawing/2014/main" id="{17451E58-CAEF-3C04-BD21-6586CF9EF2DE}"/>
                </a:ext>
              </a:extLst>
            </p:cNvPr>
            <p:cNvSpPr/>
            <p:nvPr/>
          </p:nvSpPr>
          <p:spPr>
            <a:xfrm>
              <a:off x="6482900" y="1354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03;p27">
              <a:extLst>
                <a:ext uri="{FF2B5EF4-FFF2-40B4-BE49-F238E27FC236}">
                  <a16:creationId xmlns:a16="http://schemas.microsoft.com/office/drawing/2014/main" id="{024DC2BA-4485-85D7-2975-787BF11A8788}"/>
                </a:ext>
              </a:extLst>
            </p:cNvPr>
            <p:cNvSpPr/>
            <p:nvPr/>
          </p:nvSpPr>
          <p:spPr>
            <a:xfrm>
              <a:off x="6482900" y="1476000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4;p27">
              <a:extLst>
                <a:ext uri="{FF2B5EF4-FFF2-40B4-BE49-F238E27FC236}">
                  <a16:creationId xmlns:a16="http://schemas.microsoft.com/office/drawing/2014/main" id="{52FA9214-BBAB-325F-508C-ABCE6BED6202}"/>
                </a:ext>
              </a:extLst>
            </p:cNvPr>
            <p:cNvSpPr/>
            <p:nvPr/>
          </p:nvSpPr>
          <p:spPr>
            <a:xfrm>
              <a:off x="6482900" y="159757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62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5;p27">
              <a:extLst>
                <a:ext uri="{FF2B5EF4-FFF2-40B4-BE49-F238E27FC236}">
                  <a16:creationId xmlns:a16="http://schemas.microsoft.com/office/drawing/2014/main" id="{1467ED41-7C59-2A50-50F9-B50EA4B97DB9}"/>
                </a:ext>
              </a:extLst>
            </p:cNvPr>
            <p:cNvSpPr/>
            <p:nvPr/>
          </p:nvSpPr>
          <p:spPr>
            <a:xfrm>
              <a:off x="6482900" y="1719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36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6;p27">
              <a:extLst>
                <a:ext uri="{FF2B5EF4-FFF2-40B4-BE49-F238E27FC236}">
                  <a16:creationId xmlns:a16="http://schemas.microsoft.com/office/drawing/2014/main" id="{D9ED5936-6900-8690-FBD0-E31EA781E99E}"/>
                </a:ext>
              </a:extLst>
            </p:cNvPr>
            <p:cNvSpPr/>
            <p:nvPr/>
          </p:nvSpPr>
          <p:spPr>
            <a:xfrm>
              <a:off x="6482900" y="1839975"/>
              <a:ext cx="235600" cy="249275"/>
            </a:xfrm>
            <a:custGeom>
              <a:avLst/>
              <a:gdLst/>
              <a:ahLst/>
              <a:cxnLst/>
              <a:rect l="l" t="t" r="r" b="b"/>
              <a:pathLst>
                <a:path w="9424" h="9971" extrusionOk="0">
                  <a:moveTo>
                    <a:pt x="1" y="1"/>
                  </a:moveTo>
                  <a:lnTo>
                    <a:pt x="1" y="548"/>
                  </a:lnTo>
                  <a:lnTo>
                    <a:pt x="9424" y="9971"/>
                  </a:lnTo>
                  <a:lnTo>
                    <a:pt x="9424" y="9454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7;p27">
              <a:extLst>
                <a:ext uri="{FF2B5EF4-FFF2-40B4-BE49-F238E27FC236}">
                  <a16:creationId xmlns:a16="http://schemas.microsoft.com/office/drawing/2014/main" id="{3954509A-F793-F7E5-F1F5-6462C117C89C}"/>
                </a:ext>
              </a:extLst>
            </p:cNvPr>
            <p:cNvSpPr/>
            <p:nvPr/>
          </p:nvSpPr>
          <p:spPr>
            <a:xfrm>
              <a:off x="6482900" y="196232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8;p27">
              <a:extLst>
                <a:ext uri="{FF2B5EF4-FFF2-40B4-BE49-F238E27FC236}">
                  <a16:creationId xmlns:a16="http://schemas.microsoft.com/office/drawing/2014/main" id="{50BFA87C-4D6C-0AE0-FFD9-2EA6A2685CFB}"/>
                </a:ext>
              </a:extLst>
            </p:cNvPr>
            <p:cNvSpPr/>
            <p:nvPr/>
          </p:nvSpPr>
          <p:spPr>
            <a:xfrm>
              <a:off x="6482900" y="208390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9;p27">
              <a:extLst>
                <a:ext uri="{FF2B5EF4-FFF2-40B4-BE49-F238E27FC236}">
                  <a16:creationId xmlns:a16="http://schemas.microsoft.com/office/drawing/2014/main" id="{98B23D37-4EF1-A6DD-0AC4-60210AC05B6A}"/>
                </a:ext>
              </a:extLst>
            </p:cNvPr>
            <p:cNvSpPr/>
            <p:nvPr/>
          </p:nvSpPr>
          <p:spPr>
            <a:xfrm>
              <a:off x="6482900" y="22055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47"/>
                  </a:lnTo>
                  <a:lnTo>
                    <a:pt x="9424" y="9939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10;p27">
              <a:extLst>
                <a:ext uri="{FF2B5EF4-FFF2-40B4-BE49-F238E27FC236}">
                  <a16:creationId xmlns:a16="http://schemas.microsoft.com/office/drawing/2014/main" id="{56A51AC2-F73C-FC69-46B6-7893961EB80D}"/>
                </a:ext>
              </a:extLst>
            </p:cNvPr>
            <p:cNvSpPr/>
            <p:nvPr/>
          </p:nvSpPr>
          <p:spPr>
            <a:xfrm>
              <a:off x="6482900" y="23278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10"/>
                  </a:lnTo>
                  <a:lnTo>
                    <a:pt x="9424" y="939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11;p27">
              <a:extLst>
                <a:ext uri="{FF2B5EF4-FFF2-40B4-BE49-F238E27FC236}">
                  <a16:creationId xmlns:a16="http://schemas.microsoft.com/office/drawing/2014/main" id="{1D14A1C8-09DC-068A-C3BF-2954912F3F69}"/>
                </a:ext>
              </a:extLst>
            </p:cNvPr>
            <p:cNvSpPr/>
            <p:nvPr/>
          </p:nvSpPr>
          <p:spPr>
            <a:xfrm>
              <a:off x="6482900" y="2449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9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12;p27">
              <a:extLst>
                <a:ext uri="{FF2B5EF4-FFF2-40B4-BE49-F238E27FC236}">
                  <a16:creationId xmlns:a16="http://schemas.microsoft.com/office/drawing/2014/main" id="{A75C9177-8E20-B5D7-9853-5FDB61B3D1A9}"/>
                </a:ext>
              </a:extLst>
            </p:cNvPr>
            <p:cNvSpPr/>
            <p:nvPr/>
          </p:nvSpPr>
          <p:spPr>
            <a:xfrm>
              <a:off x="6482900" y="25710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9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13;p27">
              <a:extLst>
                <a:ext uri="{FF2B5EF4-FFF2-40B4-BE49-F238E27FC236}">
                  <a16:creationId xmlns:a16="http://schemas.microsoft.com/office/drawing/2014/main" id="{CB696752-C165-EEA6-7327-0C5307CBA846}"/>
                </a:ext>
              </a:extLst>
            </p:cNvPr>
            <p:cNvSpPr/>
            <p:nvPr/>
          </p:nvSpPr>
          <p:spPr>
            <a:xfrm>
              <a:off x="6482900" y="2692575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4;p27">
              <a:extLst>
                <a:ext uri="{FF2B5EF4-FFF2-40B4-BE49-F238E27FC236}">
                  <a16:creationId xmlns:a16="http://schemas.microsoft.com/office/drawing/2014/main" id="{2E7A2700-8E56-A4FF-80D0-C0ADB254D097}"/>
                </a:ext>
              </a:extLst>
            </p:cNvPr>
            <p:cNvSpPr/>
            <p:nvPr/>
          </p:nvSpPr>
          <p:spPr>
            <a:xfrm>
              <a:off x="6482900" y="2814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4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5;p27">
              <a:extLst>
                <a:ext uri="{FF2B5EF4-FFF2-40B4-BE49-F238E27FC236}">
                  <a16:creationId xmlns:a16="http://schemas.microsoft.com/office/drawing/2014/main" id="{541FBB76-B7F7-DAD7-BE15-5C96DB498090}"/>
                </a:ext>
              </a:extLst>
            </p:cNvPr>
            <p:cNvSpPr/>
            <p:nvPr/>
          </p:nvSpPr>
          <p:spPr>
            <a:xfrm>
              <a:off x="6482900" y="293575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3018BD59-8E43-F76F-04DA-281C6D9E4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079" y="1552997"/>
            <a:ext cx="5105842" cy="116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87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0DD14-3921-6ADA-73C3-E1F61873C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90DA34-683B-2BC5-9033-C6AF82506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483" y="0"/>
            <a:ext cx="7439034" cy="977736"/>
          </a:xfrm>
        </p:spPr>
        <p:txBody>
          <a:bodyPr/>
          <a:lstStyle/>
          <a:p>
            <a:r>
              <a:rPr lang="en-US" sz="2800" dirty="0">
                <a:solidFill>
                  <a:schemeClr val="bg1">
                    <a:lumMod val="10000"/>
                  </a:schemeClr>
                </a:solidFill>
              </a:rPr>
              <a:t>Kinematic Equations of the Kartini Reactor</a:t>
            </a:r>
            <a:endParaRPr lang="en-ID" sz="2800" dirty="0">
              <a:solidFill>
                <a:schemeClr val="bg1">
                  <a:lumMod val="10000"/>
                </a:schemeClr>
              </a:solidFill>
            </a:endParaRPr>
          </a:p>
        </p:txBody>
      </p:sp>
      <p:grpSp>
        <p:nvGrpSpPr>
          <p:cNvPr id="6" name="Google Shape;201;p27">
            <a:extLst>
              <a:ext uri="{FF2B5EF4-FFF2-40B4-BE49-F238E27FC236}">
                <a16:creationId xmlns:a16="http://schemas.microsoft.com/office/drawing/2014/main" id="{63F54C54-A4B8-9792-09EB-EFB9F382E6E5}"/>
              </a:ext>
            </a:extLst>
          </p:cNvPr>
          <p:cNvGrpSpPr/>
          <p:nvPr/>
        </p:nvGrpSpPr>
        <p:grpSpPr>
          <a:xfrm rot="5400000">
            <a:off x="7478419" y="3477920"/>
            <a:ext cx="615152" cy="2716009"/>
            <a:chOff x="6482900" y="1354425"/>
            <a:chExt cx="235600" cy="1829825"/>
          </a:xfrm>
          <a:solidFill>
            <a:schemeClr val="bg2"/>
          </a:solidFill>
        </p:grpSpPr>
        <p:sp>
          <p:nvSpPr>
            <p:cNvPr id="7" name="Google Shape;202;p27">
              <a:extLst>
                <a:ext uri="{FF2B5EF4-FFF2-40B4-BE49-F238E27FC236}">
                  <a16:creationId xmlns:a16="http://schemas.microsoft.com/office/drawing/2014/main" id="{48604E84-8F24-6D9C-2F87-CE5FBADDC387}"/>
                </a:ext>
              </a:extLst>
            </p:cNvPr>
            <p:cNvSpPr/>
            <p:nvPr/>
          </p:nvSpPr>
          <p:spPr>
            <a:xfrm>
              <a:off x="6482900" y="1354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03;p27">
              <a:extLst>
                <a:ext uri="{FF2B5EF4-FFF2-40B4-BE49-F238E27FC236}">
                  <a16:creationId xmlns:a16="http://schemas.microsoft.com/office/drawing/2014/main" id="{2398C22F-CA5F-E3E8-C2E2-7F39F8E197B7}"/>
                </a:ext>
              </a:extLst>
            </p:cNvPr>
            <p:cNvSpPr/>
            <p:nvPr/>
          </p:nvSpPr>
          <p:spPr>
            <a:xfrm>
              <a:off x="6482900" y="1476000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4;p27">
              <a:extLst>
                <a:ext uri="{FF2B5EF4-FFF2-40B4-BE49-F238E27FC236}">
                  <a16:creationId xmlns:a16="http://schemas.microsoft.com/office/drawing/2014/main" id="{77A4F80A-7867-580D-153E-90ADBE895D4E}"/>
                </a:ext>
              </a:extLst>
            </p:cNvPr>
            <p:cNvSpPr/>
            <p:nvPr/>
          </p:nvSpPr>
          <p:spPr>
            <a:xfrm>
              <a:off x="6482900" y="159757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62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5;p27">
              <a:extLst>
                <a:ext uri="{FF2B5EF4-FFF2-40B4-BE49-F238E27FC236}">
                  <a16:creationId xmlns:a16="http://schemas.microsoft.com/office/drawing/2014/main" id="{B0FFA118-E7F7-D93E-96E2-63C3ACCE6202}"/>
                </a:ext>
              </a:extLst>
            </p:cNvPr>
            <p:cNvSpPr/>
            <p:nvPr/>
          </p:nvSpPr>
          <p:spPr>
            <a:xfrm>
              <a:off x="6482900" y="1719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36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6;p27">
              <a:extLst>
                <a:ext uri="{FF2B5EF4-FFF2-40B4-BE49-F238E27FC236}">
                  <a16:creationId xmlns:a16="http://schemas.microsoft.com/office/drawing/2014/main" id="{30845081-4181-8DF6-AB7C-AC28294D7432}"/>
                </a:ext>
              </a:extLst>
            </p:cNvPr>
            <p:cNvSpPr/>
            <p:nvPr/>
          </p:nvSpPr>
          <p:spPr>
            <a:xfrm>
              <a:off x="6482900" y="1839975"/>
              <a:ext cx="235600" cy="249275"/>
            </a:xfrm>
            <a:custGeom>
              <a:avLst/>
              <a:gdLst/>
              <a:ahLst/>
              <a:cxnLst/>
              <a:rect l="l" t="t" r="r" b="b"/>
              <a:pathLst>
                <a:path w="9424" h="9971" extrusionOk="0">
                  <a:moveTo>
                    <a:pt x="1" y="1"/>
                  </a:moveTo>
                  <a:lnTo>
                    <a:pt x="1" y="548"/>
                  </a:lnTo>
                  <a:lnTo>
                    <a:pt x="9424" y="9971"/>
                  </a:lnTo>
                  <a:lnTo>
                    <a:pt x="9424" y="9454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7;p27">
              <a:extLst>
                <a:ext uri="{FF2B5EF4-FFF2-40B4-BE49-F238E27FC236}">
                  <a16:creationId xmlns:a16="http://schemas.microsoft.com/office/drawing/2014/main" id="{0D751294-8116-7F09-CB58-FB970E73DF5B}"/>
                </a:ext>
              </a:extLst>
            </p:cNvPr>
            <p:cNvSpPr/>
            <p:nvPr/>
          </p:nvSpPr>
          <p:spPr>
            <a:xfrm>
              <a:off x="6482900" y="196232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8;p27">
              <a:extLst>
                <a:ext uri="{FF2B5EF4-FFF2-40B4-BE49-F238E27FC236}">
                  <a16:creationId xmlns:a16="http://schemas.microsoft.com/office/drawing/2014/main" id="{DC81EA66-F60D-9A4D-7831-00AD4551DDA2}"/>
                </a:ext>
              </a:extLst>
            </p:cNvPr>
            <p:cNvSpPr/>
            <p:nvPr/>
          </p:nvSpPr>
          <p:spPr>
            <a:xfrm>
              <a:off x="6482900" y="208390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9;p27">
              <a:extLst>
                <a:ext uri="{FF2B5EF4-FFF2-40B4-BE49-F238E27FC236}">
                  <a16:creationId xmlns:a16="http://schemas.microsoft.com/office/drawing/2014/main" id="{1A193BFF-7304-0066-9ED9-C4FF54751F71}"/>
                </a:ext>
              </a:extLst>
            </p:cNvPr>
            <p:cNvSpPr/>
            <p:nvPr/>
          </p:nvSpPr>
          <p:spPr>
            <a:xfrm>
              <a:off x="6482900" y="22055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47"/>
                  </a:lnTo>
                  <a:lnTo>
                    <a:pt x="9424" y="9939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10;p27">
              <a:extLst>
                <a:ext uri="{FF2B5EF4-FFF2-40B4-BE49-F238E27FC236}">
                  <a16:creationId xmlns:a16="http://schemas.microsoft.com/office/drawing/2014/main" id="{586810F2-1274-0FAE-436A-68DD78D76713}"/>
                </a:ext>
              </a:extLst>
            </p:cNvPr>
            <p:cNvSpPr/>
            <p:nvPr/>
          </p:nvSpPr>
          <p:spPr>
            <a:xfrm>
              <a:off x="6482900" y="23278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10"/>
                  </a:lnTo>
                  <a:lnTo>
                    <a:pt x="9424" y="939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11;p27">
              <a:extLst>
                <a:ext uri="{FF2B5EF4-FFF2-40B4-BE49-F238E27FC236}">
                  <a16:creationId xmlns:a16="http://schemas.microsoft.com/office/drawing/2014/main" id="{D233B7AE-B9FB-4DB9-A0A2-65A6C397C282}"/>
                </a:ext>
              </a:extLst>
            </p:cNvPr>
            <p:cNvSpPr/>
            <p:nvPr/>
          </p:nvSpPr>
          <p:spPr>
            <a:xfrm>
              <a:off x="6482900" y="2449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9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12;p27">
              <a:extLst>
                <a:ext uri="{FF2B5EF4-FFF2-40B4-BE49-F238E27FC236}">
                  <a16:creationId xmlns:a16="http://schemas.microsoft.com/office/drawing/2014/main" id="{6DF02103-1EFB-4EC4-F4A4-6D9B3962BF9E}"/>
                </a:ext>
              </a:extLst>
            </p:cNvPr>
            <p:cNvSpPr/>
            <p:nvPr/>
          </p:nvSpPr>
          <p:spPr>
            <a:xfrm>
              <a:off x="6482900" y="25710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9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13;p27">
              <a:extLst>
                <a:ext uri="{FF2B5EF4-FFF2-40B4-BE49-F238E27FC236}">
                  <a16:creationId xmlns:a16="http://schemas.microsoft.com/office/drawing/2014/main" id="{B321C3A8-BFF2-91A3-C24C-BA85FB0AB6C3}"/>
                </a:ext>
              </a:extLst>
            </p:cNvPr>
            <p:cNvSpPr/>
            <p:nvPr/>
          </p:nvSpPr>
          <p:spPr>
            <a:xfrm>
              <a:off x="6482900" y="2692575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4;p27">
              <a:extLst>
                <a:ext uri="{FF2B5EF4-FFF2-40B4-BE49-F238E27FC236}">
                  <a16:creationId xmlns:a16="http://schemas.microsoft.com/office/drawing/2014/main" id="{4E48B69A-2E50-D094-724F-8F7F92A0DE15}"/>
                </a:ext>
              </a:extLst>
            </p:cNvPr>
            <p:cNvSpPr/>
            <p:nvPr/>
          </p:nvSpPr>
          <p:spPr>
            <a:xfrm>
              <a:off x="6482900" y="2814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4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5;p27">
              <a:extLst>
                <a:ext uri="{FF2B5EF4-FFF2-40B4-BE49-F238E27FC236}">
                  <a16:creationId xmlns:a16="http://schemas.microsoft.com/office/drawing/2014/main" id="{C9FE9B57-899B-FC4F-E185-C8025E5D65D9}"/>
                </a:ext>
              </a:extLst>
            </p:cNvPr>
            <p:cNvSpPr/>
            <p:nvPr/>
          </p:nvSpPr>
          <p:spPr>
            <a:xfrm>
              <a:off x="6482900" y="293575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428AF1B-4DCE-34E4-E427-971232F3A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079" y="1552997"/>
            <a:ext cx="5105842" cy="11659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3E9BCA1-F308-78F0-7E8A-554ED0F37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229" y="3294219"/>
            <a:ext cx="2781541" cy="739204"/>
          </a:xfrm>
          <a:prstGeom prst="rect">
            <a:avLst/>
          </a:prstGeom>
        </p:spPr>
      </p:pic>
      <p:sp>
        <p:nvSpPr>
          <p:cNvPr id="2" name="Google Shape;221;p28">
            <a:extLst>
              <a:ext uri="{FF2B5EF4-FFF2-40B4-BE49-F238E27FC236}">
                <a16:creationId xmlns:a16="http://schemas.microsoft.com/office/drawing/2014/main" id="{F51A2DBD-E71D-ABD7-4573-D4172FE10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90414"/>
            <a:ext cx="7704000" cy="3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D" dirty="0"/>
              <a:t>the approach used:</a:t>
            </a:r>
            <a:endParaRPr dirty="0"/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F516FB11-41CC-DE96-0594-BF864972F7C1}"/>
              </a:ext>
            </a:extLst>
          </p:cNvPr>
          <p:cNvSpPr/>
          <p:nvPr/>
        </p:nvSpPr>
        <p:spPr>
          <a:xfrm>
            <a:off x="2878575" y="1618906"/>
            <a:ext cx="501771" cy="5270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Google Shape;221;p28">
            <a:extLst>
              <a:ext uri="{FF2B5EF4-FFF2-40B4-BE49-F238E27FC236}">
                <a16:creationId xmlns:a16="http://schemas.microsoft.com/office/drawing/2014/main" id="{3EE6CD60-677D-6729-F2C4-3654210C7D8E}"/>
              </a:ext>
            </a:extLst>
          </p:cNvPr>
          <p:cNvSpPr txBox="1">
            <a:spLocks/>
          </p:cNvSpPr>
          <p:nvPr/>
        </p:nvSpPr>
        <p:spPr>
          <a:xfrm>
            <a:off x="710243" y="2859381"/>
            <a:ext cx="77040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ID" dirty="0"/>
              <a:t>Adding Thermal feedback term: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F4D4B-9F4B-B9CF-244C-96F45C91C15B}"/>
              </a:ext>
            </a:extLst>
          </p:cNvPr>
          <p:cNvSpPr txBox="1"/>
          <p:nvPr/>
        </p:nvSpPr>
        <p:spPr>
          <a:xfrm>
            <a:off x="4147202" y="924213"/>
            <a:ext cx="23764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delete external neutron source term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29DCD7-70D7-E571-E5CA-5A1A0F9FF030}"/>
              </a:ext>
            </a:extLst>
          </p:cNvPr>
          <p:cNvCxnSpPr>
            <a:stCxn id="23" idx="1"/>
          </p:cNvCxnSpPr>
          <p:nvPr/>
        </p:nvCxnSpPr>
        <p:spPr>
          <a:xfrm flipH="1">
            <a:off x="3270250" y="1185823"/>
            <a:ext cx="876952" cy="560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34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D7C8-D40C-D5E8-52B8-3E7260643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05093"/>
            <a:ext cx="9144000" cy="975913"/>
          </a:xfrm>
        </p:spPr>
        <p:txBody>
          <a:bodyPr/>
          <a:lstStyle/>
          <a:p>
            <a:r>
              <a:rPr lang="en-US" dirty="0"/>
              <a:t>Reactivity Model with Control Rod Position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8307B-F14F-C8EB-2723-C27039AD2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paper </a:t>
            </a:r>
            <a:endParaRPr lang="en-ID" dirty="0"/>
          </a:p>
        </p:txBody>
      </p:sp>
      <p:grpSp>
        <p:nvGrpSpPr>
          <p:cNvPr id="4" name="Google Shape;201;p27">
            <a:extLst>
              <a:ext uri="{FF2B5EF4-FFF2-40B4-BE49-F238E27FC236}">
                <a16:creationId xmlns:a16="http://schemas.microsoft.com/office/drawing/2014/main" id="{BD0428DD-E9E6-EE84-F42E-837322C48AC1}"/>
              </a:ext>
            </a:extLst>
          </p:cNvPr>
          <p:cNvGrpSpPr/>
          <p:nvPr/>
        </p:nvGrpSpPr>
        <p:grpSpPr>
          <a:xfrm rot="5400000">
            <a:off x="412424" y="3477919"/>
            <a:ext cx="615152" cy="2716009"/>
            <a:chOff x="6482900" y="1354425"/>
            <a:chExt cx="235600" cy="1829825"/>
          </a:xfrm>
          <a:solidFill>
            <a:schemeClr val="bg2"/>
          </a:solidFill>
        </p:grpSpPr>
        <p:sp>
          <p:nvSpPr>
            <p:cNvPr id="5" name="Google Shape;202;p27">
              <a:extLst>
                <a:ext uri="{FF2B5EF4-FFF2-40B4-BE49-F238E27FC236}">
                  <a16:creationId xmlns:a16="http://schemas.microsoft.com/office/drawing/2014/main" id="{3BE677DA-E408-B8A7-1322-832E3332805E}"/>
                </a:ext>
              </a:extLst>
            </p:cNvPr>
            <p:cNvSpPr/>
            <p:nvPr/>
          </p:nvSpPr>
          <p:spPr>
            <a:xfrm>
              <a:off x="6482900" y="1354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3;p27">
              <a:extLst>
                <a:ext uri="{FF2B5EF4-FFF2-40B4-BE49-F238E27FC236}">
                  <a16:creationId xmlns:a16="http://schemas.microsoft.com/office/drawing/2014/main" id="{8E02D487-097F-EEA2-D2CE-A606598462C3}"/>
                </a:ext>
              </a:extLst>
            </p:cNvPr>
            <p:cNvSpPr/>
            <p:nvPr/>
          </p:nvSpPr>
          <p:spPr>
            <a:xfrm>
              <a:off x="6482900" y="1476000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4;p27">
              <a:extLst>
                <a:ext uri="{FF2B5EF4-FFF2-40B4-BE49-F238E27FC236}">
                  <a16:creationId xmlns:a16="http://schemas.microsoft.com/office/drawing/2014/main" id="{596E6E56-C847-1CCB-FFCC-2D59E3FE487F}"/>
                </a:ext>
              </a:extLst>
            </p:cNvPr>
            <p:cNvSpPr/>
            <p:nvPr/>
          </p:nvSpPr>
          <p:spPr>
            <a:xfrm>
              <a:off x="6482900" y="159757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62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05;p27">
              <a:extLst>
                <a:ext uri="{FF2B5EF4-FFF2-40B4-BE49-F238E27FC236}">
                  <a16:creationId xmlns:a16="http://schemas.microsoft.com/office/drawing/2014/main" id="{D01632D2-E0FB-79A6-8B6E-EC2C22C509F9}"/>
                </a:ext>
              </a:extLst>
            </p:cNvPr>
            <p:cNvSpPr/>
            <p:nvPr/>
          </p:nvSpPr>
          <p:spPr>
            <a:xfrm>
              <a:off x="6482900" y="1719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36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6;p27">
              <a:extLst>
                <a:ext uri="{FF2B5EF4-FFF2-40B4-BE49-F238E27FC236}">
                  <a16:creationId xmlns:a16="http://schemas.microsoft.com/office/drawing/2014/main" id="{DABB2F9A-869A-ECF3-99CB-C6063732A9B1}"/>
                </a:ext>
              </a:extLst>
            </p:cNvPr>
            <p:cNvSpPr/>
            <p:nvPr/>
          </p:nvSpPr>
          <p:spPr>
            <a:xfrm>
              <a:off x="6482900" y="1839975"/>
              <a:ext cx="235600" cy="249275"/>
            </a:xfrm>
            <a:custGeom>
              <a:avLst/>
              <a:gdLst/>
              <a:ahLst/>
              <a:cxnLst/>
              <a:rect l="l" t="t" r="r" b="b"/>
              <a:pathLst>
                <a:path w="9424" h="9971" extrusionOk="0">
                  <a:moveTo>
                    <a:pt x="1" y="1"/>
                  </a:moveTo>
                  <a:lnTo>
                    <a:pt x="1" y="548"/>
                  </a:lnTo>
                  <a:lnTo>
                    <a:pt x="9424" y="9971"/>
                  </a:lnTo>
                  <a:lnTo>
                    <a:pt x="9424" y="9454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7;p27">
              <a:extLst>
                <a:ext uri="{FF2B5EF4-FFF2-40B4-BE49-F238E27FC236}">
                  <a16:creationId xmlns:a16="http://schemas.microsoft.com/office/drawing/2014/main" id="{1C2ED4BE-28B1-5EC7-F5E7-4F2EFF2E3273}"/>
                </a:ext>
              </a:extLst>
            </p:cNvPr>
            <p:cNvSpPr/>
            <p:nvPr/>
          </p:nvSpPr>
          <p:spPr>
            <a:xfrm>
              <a:off x="6482900" y="196232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8;p27">
              <a:extLst>
                <a:ext uri="{FF2B5EF4-FFF2-40B4-BE49-F238E27FC236}">
                  <a16:creationId xmlns:a16="http://schemas.microsoft.com/office/drawing/2014/main" id="{590903B3-E685-6566-786C-32164F125603}"/>
                </a:ext>
              </a:extLst>
            </p:cNvPr>
            <p:cNvSpPr/>
            <p:nvPr/>
          </p:nvSpPr>
          <p:spPr>
            <a:xfrm>
              <a:off x="6482900" y="208390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9;p27">
              <a:extLst>
                <a:ext uri="{FF2B5EF4-FFF2-40B4-BE49-F238E27FC236}">
                  <a16:creationId xmlns:a16="http://schemas.microsoft.com/office/drawing/2014/main" id="{DE8AD184-256C-04D6-C40A-00396B83AADD}"/>
                </a:ext>
              </a:extLst>
            </p:cNvPr>
            <p:cNvSpPr/>
            <p:nvPr/>
          </p:nvSpPr>
          <p:spPr>
            <a:xfrm>
              <a:off x="6482900" y="22055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47"/>
                  </a:lnTo>
                  <a:lnTo>
                    <a:pt x="9424" y="9939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10;p27">
              <a:extLst>
                <a:ext uri="{FF2B5EF4-FFF2-40B4-BE49-F238E27FC236}">
                  <a16:creationId xmlns:a16="http://schemas.microsoft.com/office/drawing/2014/main" id="{ADD63220-569F-A6B6-FC3C-2A75582A3058}"/>
                </a:ext>
              </a:extLst>
            </p:cNvPr>
            <p:cNvSpPr/>
            <p:nvPr/>
          </p:nvSpPr>
          <p:spPr>
            <a:xfrm>
              <a:off x="6482900" y="23278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10"/>
                  </a:lnTo>
                  <a:lnTo>
                    <a:pt x="9424" y="939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1;p27">
              <a:extLst>
                <a:ext uri="{FF2B5EF4-FFF2-40B4-BE49-F238E27FC236}">
                  <a16:creationId xmlns:a16="http://schemas.microsoft.com/office/drawing/2014/main" id="{001BE421-A76E-AFB6-FE8E-84841CAF149C}"/>
                </a:ext>
              </a:extLst>
            </p:cNvPr>
            <p:cNvSpPr/>
            <p:nvPr/>
          </p:nvSpPr>
          <p:spPr>
            <a:xfrm>
              <a:off x="6482900" y="2449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9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12;p27">
              <a:extLst>
                <a:ext uri="{FF2B5EF4-FFF2-40B4-BE49-F238E27FC236}">
                  <a16:creationId xmlns:a16="http://schemas.microsoft.com/office/drawing/2014/main" id="{579E66E4-5882-0008-0B51-F94D87BC9A98}"/>
                </a:ext>
              </a:extLst>
            </p:cNvPr>
            <p:cNvSpPr/>
            <p:nvPr/>
          </p:nvSpPr>
          <p:spPr>
            <a:xfrm>
              <a:off x="6482900" y="25710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9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13;p27">
              <a:extLst>
                <a:ext uri="{FF2B5EF4-FFF2-40B4-BE49-F238E27FC236}">
                  <a16:creationId xmlns:a16="http://schemas.microsoft.com/office/drawing/2014/main" id="{5FF0FB30-CF1C-8D00-C7B4-D85FF96B9098}"/>
                </a:ext>
              </a:extLst>
            </p:cNvPr>
            <p:cNvSpPr/>
            <p:nvPr/>
          </p:nvSpPr>
          <p:spPr>
            <a:xfrm>
              <a:off x="6482900" y="2692575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14;p27">
              <a:extLst>
                <a:ext uri="{FF2B5EF4-FFF2-40B4-BE49-F238E27FC236}">
                  <a16:creationId xmlns:a16="http://schemas.microsoft.com/office/drawing/2014/main" id="{5D46F152-2A93-8022-0E80-3661B4B5D802}"/>
                </a:ext>
              </a:extLst>
            </p:cNvPr>
            <p:cNvSpPr/>
            <p:nvPr/>
          </p:nvSpPr>
          <p:spPr>
            <a:xfrm>
              <a:off x="6482900" y="2814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4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15;p27">
              <a:extLst>
                <a:ext uri="{FF2B5EF4-FFF2-40B4-BE49-F238E27FC236}">
                  <a16:creationId xmlns:a16="http://schemas.microsoft.com/office/drawing/2014/main" id="{D162DC83-27BA-C04B-C956-4318D980AA96}"/>
                </a:ext>
              </a:extLst>
            </p:cNvPr>
            <p:cNvSpPr/>
            <p:nvPr/>
          </p:nvSpPr>
          <p:spPr>
            <a:xfrm>
              <a:off x="6482900" y="293575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C628D672-BC58-E40B-B91C-F8540088F8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51" r="9497"/>
          <a:stretch>
            <a:fillRect/>
          </a:stretch>
        </p:blipFill>
        <p:spPr>
          <a:xfrm>
            <a:off x="2164300" y="1219618"/>
            <a:ext cx="6012674" cy="105818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A38FFC1-3B69-17D3-BC6C-932ACE87C4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97" t="4700" r="4910"/>
          <a:stretch>
            <a:fillRect/>
          </a:stretch>
        </p:blipFill>
        <p:spPr>
          <a:xfrm>
            <a:off x="-88701" y="2463266"/>
            <a:ext cx="3604974" cy="2272841"/>
          </a:xfrm>
          <a:prstGeom prst="rect">
            <a:avLst/>
          </a:prstGeom>
        </p:spPr>
      </p:pic>
      <p:sp>
        <p:nvSpPr>
          <p:cNvPr id="38" name="Arrow: Right 37">
            <a:extLst>
              <a:ext uri="{FF2B5EF4-FFF2-40B4-BE49-F238E27FC236}">
                <a16:creationId xmlns:a16="http://schemas.microsoft.com/office/drawing/2014/main" id="{9C9406B8-0022-2C44-7CD5-5BE4A9D863EB}"/>
              </a:ext>
            </a:extLst>
          </p:cNvPr>
          <p:cNvSpPr/>
          <p:nvPr/>
        </p:nvSpPr>
        <p:spPr>
          <a:xfrm>
            <a:off x="3516274" y="3269786"/>
            <a:ext cx="412828" cy="3810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4D7EE71-6903-1B2F-FF73-48F09AA5C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101" y="3269786"/>
            <a:ext cx="5214899" cy="38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485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59E5-5806-E43B-5195-682D9D15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49D1-E167-A34B-09F4-830C4B3BC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890" y="109525"/>
            <a:ext cx="9199889" cy="975913"/>
          </a:xfrm>
        </p:spPr>
        <p:txBody>
          <a:bodyPr/>
          <a:lstStyle/>
          <a:p>
            <a:r>
              <a:rPr lang="en-US" dirty="0"/>
              <a:t>Reactivity Model Approach with Control Rod Position</a:t>
            </a:r>
            <a:endParaRPr lang="en-ID" dirty="0"/>
          </a:p>
        </p:txBody>
      </p:sp>
      <p:grpSp>
        <p:nvGrpSpPr>
          <p:cNvPr id="4" name="Google Shape;201;p27">
            <a:extLst>
              <a:ext uri="{FF2B5EF4-FFF2-40B4-BE49-F238E27FC236}">
                <a16:creationId xmlns:a16="http://schemas.microsoft.com/office/drawing/2014/main" id="{A546AAC2-991B-C71F-F9A2-F48986ED0F04}"/>
              </a:ext>
            </a:extLst>
          </p:cNvPr>
          <p:cNvGrpSpPr/>
          <p:nvPr/>
        </p:nvGrpSpPr>
        <p:grpSpPr>
          <a:xfrm rot="5400000">
            <a:off x="264745" y="-1370018"/>
            <a:ext cx="615152" cy="2716009"/>
            <a:chOff x="6482900" y="1354425"/>
            <a:chExt cx="235600" cy="1829825"/>
          </a:xfrm>
          <a:solidFill>
            <a:schemeClr val="bg2"/>
          </a:solidFill>
        </p:grpSpPr>
        <p:sp>
          <p:nvSpPr>
            <p:cNvPr id="5" name="Google Shape;202;p27">
              <a:extLst>
                <a:ext uri="{FF2B5EF4-FFF2-40B4-BE49-F238E27FC236}">
                  <a16:creationId xmlns:a16="http://schemas.microsoft.com/office/drawing/2014/main" id="{1AF13F3B-9328-0563-572E-57580F31C51D}"/>
                </a:ext>
              </a:extLst>
            </p:cNvPr>
            <p:cNvSpPr/>
            <p:nvPr/>
          </p:nvSpPr>
          <p:spPr>
            <a:xfrm>
              <a:off x="6482900" y="1354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3;p27">
              <a:extLst>
                <a:ext uri="{FF2B5EF4-FFF2-40B4-BE49-F238E27FC236}">
                  <a16:creationId xmlns:a16="http://schemas.microsoft.com/office/drawing/2014/main" id="{EF7884CB-87BB-9154-AF5B-EE63B8F61005}"/>
                </a:ext>
              </a:extLst>
            </p:cNvPr>
            <p:cNvSpPr/>
            <p:nvPr/>
          </p:nvSpPr>
          <p:spPr>
            <a:xfrm>
              <a:off x="6482900" y="1476000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4;p27">
              <a:extLst>
                <a:ext uri="{FF2B5EF4-FFF2-40B4-BE49-F238E27FC236}">
                  <a16:creationId xmlns:a16="http://schemas.microsoft.com/office/drawing/2014/main" id="{5B01A19E-3300-81E7-B344-BA6971207205}"/>
                </a:ext>
              </a:extLst>
            </p:cNvPr>
            <p:cNvSpPr/>
            <p:nvPr/>
          </p:nvSpPr>
          <p:spPr>
            <a:xfrm>
              <a:off x="6482900" y="159757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62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05;p27">
              <a:extLst>
                <a:ext uri="{FF2B5EF4-FFF2-40B4-BE49-F238E27FC236}">
                  <a16:creationId xmlns:a16="http://schemas.microsoft.com/office/drawing/2014/main" id="{47D65EE5-0FB0-EECC-9390-2A1138818014}"/>
                </a:ext>
              </a:extLst>
            </p:cNvPr>
            <p:cNvSpPr/>
            <p:nvPr/>
          </p:nvSpPr>
          <p:spPr>
            <a:xfrm>
              <a:off x="6482900" y="1719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36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6;p27">
              <a:extLst>
                <a:ext uri="{FF2B5EF4-FFF2-40B4-BE49-F238E27FC236}">
                  <a16:creationId xmlns:a16="http://schemas.microsoft.com/office/drawing/2014/main" id="{3219861E-91E8-88BC-CDC6-B55DFABEDC1E}"/>
                </a:ext>
              </a:extLst>
            </p:cNvPr>
            <p:cNvSpPr/>
            <p:nvPr/>
          </p:nvSpPr>
          <p:spPr>
            <a:xfrm>
              <a:off x="6482900" y="1839975"/>
              <a:ext cx="235600" cy="249275"/>
            </a:xfrm>
            <a:custGeom>
              <a:avLst/>
              <a:gdLst/>
              <a:ahLst/>
              <a:cxnLst/>
              <a:rect l="l" t="t" r="r" b="b"/>
              <a:pathLst>
                <a:path w="9424" h="9971" extrusionOk="0">
                  <a:moveTo>
                    <a:pt x="1" y="1"/>
                  </a:moveTo>
                  <a:lnTo>
                    <a:pt x="1" y="548"/>
                  </a:lnTo>
                  <a:lnTo>
                    <a:pt x="9424" y="9971"/>
                  </a:lnTo>
                  <a:lnTo>
                    <a:pt x="9424" y="9454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7;p27">
              <a:extLst>
                <a:ext uri="{FF2B5EF4-FFF2-40B4-BE49-F238E27FC236}">
                  <a16:creationId xmlns:a16="http://schemas.microsoft.com/office/drawing/2014/main" id="{B77BAA46-DC4F-8B6D-6747-CBE20C64C486}"/>
                </a:ext>
              </a:extLst>
            </p:cNvPr>
            <p:cNvSpPr/>
            <p:nvPr/>
          </p:nvSpPr>
          <p:spPr>
            <a:xfrm>
              <a:off x="6482900" y="196232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8;p27">
              <a:extLst>
                <a:ext uri="{FF2B5EF4-FFF2-40B4-BE49-F238E27FC236}">
                  <a16:creationId xmlns:a16="http://schemas.microsoft.com/office/drawing/2014/main" id="{2627CDF7-3D87-3E43-2FDC-03A91CDE9799}"/>
                </a:ext>
              </a:extLst>
            </p:cNvPr>
            <p:cNvSpPr/>
            <p:nvPr/>
          </p:nvSpPr>
          <p:spPr>
            <a:xfrm>
              <a:off x="6482900" y="208390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9;p27">
              <a:extLst>
                <a:ext uri="{FF2B5EF4-FFF2-40B4-BE49-F238E27FC236}">
                  <a16:creationId xmlns:a16="http://schemas.microsoft.com/office/drawing/2014/main" id="{B26D797B-B6FA-AF72-47DA-14C42F001D63}"/>
                </a:ext>
              </a:extLst>
            </p:cNvPr>
            <p:cNvSpPr/>
            <p:nvPr/>
          </p:nvSpPr>
          <p:spPr>
            <a:xfrm>
              <a:off x="6482900" y="22055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47"/>
                  </a:lnTo>
                  <a:lnTo>
                    <a:pt x="9424" y="9939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10;p27">
              <a:extLst>
                <a:ext uri="{FF2B5EF4-FFF2-40B4-BE49-F238E27FC236}">
                  <a16:creationId xmlns:a16="http://schemas.microsoft.com/office/drawing/2014/main" id="{DBFCD685-D49E-7D87-90CF-D4A411043CA1}"/>
                </a:ext>
              </a:extLst>
            </p:cNvPr>
            <p:cNvSpPr/>
            <p:nvPr/>
          </p:nvSpPr>
          <p:spPr>
            <a:xfrm>
              <a:off x="6482900" y="23278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10"/>
                  </a:lnTo>
                  <a:lnTo>
                    <a:pt x="9424" y="939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1;p27">
              <a:extLst>
                <a:ext uri="{FF2B5EF4-FFF2-40B4-BE49-F238E27FC236}">
                  <a16:creationId xmlns:a16="http://schemas.microsoft.com/office/drawing/2014/main" id="{D8DDC9D9-6D0F-1203-45CD-140F0E00FF4A}"/>
                </a:ext>
              </a:extLst>
            </p:cNvPr>
            <p:cNvSpPr/>
            <p:nvPr/>
          </p:nvSpPr>
          <p:spPr>
            <a:xfrm>
              <a:off x="6482900" y="2449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9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212;p27">
              <a:extLst>
                <a:ext uri="{FF2B5EF4-FFF2-40B4-BE49-F238E27FC236}">
                  <a16:creationId xmlns:a16="http://schemas.microsoft.com/office/drawing/2014/main" id="{E544F2ED-888E-87E7-52B3-02E6AF21314C}"/>
                </a:ext>
              </a:extLst>
            </p:cNvPr>
            <p:cNvSpPr/>
            <p:nvPr/>
          </p:nvSpPr>
          <p:spPr>
            <a:xfrm>
              <a:off x="6482900" y="25710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9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13;p27">
              <a:extLst>
                <a:ext uri="{FF2B5EF4-FFF2-40B4-BE49-F238E27FC236}">
                  <a16:creationId xmlns:a16="http://schemas.microsoft.com/office/drawing/2014/main" id="{0734896F-4F0F-B967-A0FF-7CA80C51D02B}"/>
                </a:ext>
              </a:extLst>
            </p:cNvPr>
            <p:cNvSpPr/>
            <p:nvPr/>
          </p:nvSpPr>
          <p:spPr>
            <a:xfrm>
              <a:off x="6482900" y="2692575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14;p27">
              <a:extLst>
                <a:ext uri="{FF2B5EF4-FFF2-40B4-BE49-F238E27FC236}">
                  <a16:creationId xmlns:a16="http://schemas.microsoft.com/office/drawing/2014/main" id="{989FA398-6355-4FCF-66B3-068107D53FBE}"/>
                </a:ext>
              </a:extLst>
            </p:cNvPr>
            <p:cNvSpPr/>
            <p:nvPr/>
          </p:nvSpPr>
          <p:spPr>
            <a:xfrm>
              <a:off x="6482900" y="2814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4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15;p27">
              <a:extLst>
                <a:ext uri="{FF2B5EF4-FFF2-40B4-BE49-F238E27FC236}">
                  <a16:creationId xmlns:a16="http://schemas.microsoft.com/office/drawing/2014/main" id="{6D94AE99-960E-1E51-B897-37DDF9019F76}"/>
                </a:ext>
              </a:extLst>
            </p:cNvPr>
            <p:cNvSpPr/>
            <p:nvPr/>
          </p:nvSpPr>
          <p:spPr>
            <a:xfrm>
              <a:off x="6482900" y="293575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464CAC51-8281-F2E1-7F33-DF816F82C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79" y="1604704"/>
            <a:ext cx="4718868" cy="26525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9FBA20D-A883-F87B-1D82-77B5DC1C4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3" y="1260636"/>
            <a:ext cx="3471727" cy="253916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ACCAA65-5AA3-109E-8209-30C68F5B50D4}"/>
              </a:ext>
            </a:extLst>
          </p:cNvPr>
          <p:cNvCxnSpPr>
            <a:cxnSpLocks/>
          </p:cNvCxnSpPr>
          <p:nvPr/>
        </p:nvCxnSpPr>
        <p:spPr>
          <a:xfrm flipH="1" flipV="1">
            <a:off x="1806696" y="1514552"/>
            <a:ext cx="1445219" cy="1350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CDAB3F-2EA0-E7C8-5474-F5A2BF58BA94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612524" y="2749639"/>
            <a:ext cx="2806752" cy="1315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6423326-DF19-DEFB-40CE-E06852DB418D}"/>
              </a:ext>
            </a:extLst>
          </p:cNvPr>
          <p:cNvSpPr txBox="1"/>
          <p:nvPr/>
        </p:nvSpPr>
        <p:spPr>
          <a:xfrm>
            <a:off x="6419276" y="1527982"/>
            <a:ext cx="27247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0" i="0" dirty="0">
                <a:solidFill>
                  <a:srgbClr val="2D3A04"/>
                </a:solidFill>
                <a:effectLst/>
              </a:rPr>
              <a:t>Solve with some numerical method:</a:t>
            </a:r>
            <a:endParaRPr lang="en-US" dirty="0">
              <a:effectLst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3A04"/>
                </a:solidFill>
                <a:effectLst/>
              </a:rPr>
              <a:t>Euler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3A04"/>
                </a:solidFill>
                <a:effectLst/>
              </a:rPr>
              <a:t>Runge-</a:t>
            </a:r>
            <a:r>
              <a:rPr lang="en-US" b="0" i="0" dirty="0" err="1">
                <a:solidFill>
                  <a:srgbClr val="2D3A04"/>
                </a:solidFill>
                <a:effectLst/>
              </a:rPr>
              <a:t>Kutta</a:t>
            </a:r>
            <a:r>
              <a:rPr lang="en-US" b="0" i="0" dirty="0">
                <a:solidFill>
                  <a:srgbClr val="2D3A04"/>
                </a:solidFill>
                <a:effectLst/>
              </a:rPr>
              <a:t> 4</a:t>
            </a:r>
            <a:r>
              <a:rPr lang="en-US" b="0" i="0" baseline="30000" dirty="0">
                <a:solidFill>
                  <a:srgbClr val="2D3A04"/>
                </a:solidFill>
                <a:effectLst/>
              </a:rPr>
              <a:t>th</a:t>
            </a:r>
            <a:r>
              <a:rPr lang="en-US" b="0" i="0" dirty="0">
                <a:solidFill>
                  <a:srgbClr val="2D3A04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2D3A04"/>
                </a:solidFill>
                <a:effectLst/>
              </a:rPr>
              <a:t>orde</a:t>
            </a:r>
            <a:endParaRPr lang="en-US" b="0" i="0" dirty="0">
              <a:solidFill>
                <a:srgbClr val="2D3A04"/>
              </a:solidFill>
              <a:effectLst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3A04"/>
                </a:solidFill>
                <a:effectLst/>
              </a:rPr>
              <a:t>Adams Method (Adams-Bashforth 2 steps and Admas-Moulton)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3A04"/>
                </a:solidFill>
                <a:effectLst/>
              </a:rPr>
              <a:t>Shooting ft RK4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3A04"/>
                </a:solidFill>
                <a:effectLst/>
              </a:rPr>
              <a:t>Exponent Time Differencing (ETD)</a:t>
            </a:r>
            <a:endParaRPr lang="en-US" dirty="0">
              <a:effectLst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DEDBCD-3091-4F67-9223-29DBE4492793}"/>
              </a:ext>
            </a:extLst>
          </p:cNvPr>
          <p:cNvSpPr txBox="1"/>
          <p:nvPr/>
        </p:nvSpPr>
        <p:spPr>
          <a:xfrm>
            <a:off x="70833" y="4742481"/>
            <a:ext cx="14516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800" dirty="0"/>
              <a:t>ode_solve01.py</a:t>
            </a:r>
          </a:p>
          <a:p>
            <a:r>
              <a:rPr lang="en-ID" sz="800" dirty="0"/>
              <a:t>reference_function.py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138B1A4-38B4-B1A1-4E95-AB666BEA3E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555452"/>
              </p:ext>
            </p:extLst>
          </p:nvPr>
        </p:nvGraphicFramePr>
        <p:xfrm>
          <a:off x="6419276" y="3714877"/>
          <a:ext cx="22891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400" imgH="431640" progId="Equation.DSMT4">
                  <p:embed/>
                </p:oleObj>
              </mc:Choice>
              <mc:Fallback>
                <p:oleObj name="Equation" r:id="rId4" imgW="1409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19276" y="3714877"/>
                        <a:ext cx="2289175" cy="700088"/>
                      </a:xfrm>
                      <a:prstGeom prst="rect">
                        <a:avLst/>
                      </a:prstGeom>
                      <a:ln w="285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2">
                <a:extLst>
                  <a:ext uri="{FF2B5EF4-FFF2-40B4-BE49-F238E27FC236}">
                    <a16:creationId xmlns:a16="http://schemas.microsoft.com/office/drawing/2014/main" id="{52F4138F-6093-F4F6-227A-12CB6C3E08F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327886" y="4370379"/>
                <a:ext cx="3816114" cy="663596"/>
              </a:xfrm>
            </p:spPr>
            <p:txBody>
              <a:bodyPr/>
              <a:lstStyle/>
              <a:p>
                <a:pPr marL="152400" indent="0"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Where x is stem position (from 0 to H);</a:t>
                </a:r>
              </a:p>
              <a:p>
                <a:pPr marL="152400" indent="0"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H is control rod length;</a:t>
                </a:r>
              </a:p>
              <a:p>
                <a:pPr marL="1524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is total worth</a:t>
                </a:r>
              </a:p>
              <a:p>
                <a:pPr marL="152400" indent="0">
                  <a:buNone/>
                </a:pPr>
                <a:endParaRPr lang="en-ID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 Placeholder 2">
                <a:extLst>
                  <a:ext uri="{FF2B5EF4-FFF2-40B4-BE49-F238E27FC236}">
                    <a16:creationId xmlns:a16="http://schemas.microsoft.com/office/drawing/2014/main" id="{52F4138F-6093-F4F6-227A-12CB6C3E0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27886" y="4370379"/>
                <a:ext cx="3816114" cy="663596"/>
              </a:xfrm>
              <a:blipFill>
                <a:blip r:embed="rId6"/>
                <a:stretch>
                  <a:fillRect b="-3761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D055B95F-5EA2-BB19-8509-0E2F537316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046686"/>
              </p:ext>
            </p:extLst>
          </p:nvPr>
        </p:nvGraphicFramePr>
        <p:xfrm>
          <a:off x="3042537" y="4526581"/>
          <a:ext cx="1104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04840" imgH="431640" progId="Equation.DSMT4">
                  <p:embed/>
                </p:oleObj>
              </mc:Choice>
              <mc:Fallback>
                <p:oleObj name="Equation" r:id="rId7" imgW="1104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42537" y="4526581"/>
                        <a:ext cx="1104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Arrow: Up 46">
            <a:extLst>
              <a:ext uri="{FF2B5EF4-FFF2-40B4-BE49-F238E27FC236}">
                <a16:creationId xmlns:a16="http://schemas.microsoft.com/office/drawing/2014/main" id="{95D7A6D9-DB3B-5B7E-30B4-970B9650EDB4}"/>
              </a:ext>
            </a:extLst>
          </p:cNvPr>
          <p:cNvSpPr/>
          <p:nvPr/>
        </p:nvSpPr>
        <p:spPr>
          <a:xfrm>
            <a:off x="7462215" y="3573265"/>
            <a:ext cx="248194" cy="22204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641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1E6E9C9-A6BB-4CAE-56A9-1F0C8EE2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890" y="109525"/>
            <a:ext cx="9199889" cy="975913"/>
          </a:xfrm>
        </p:spPr>
        <p:txBody>
          <a:bodyPr/>
          <a:lstStyle/>
          <a:p>
            <a:r>
              <a:rPr lang="en-US" dirty="0"/>
              <a:t>Solve Kinematic Reactor Differential Equations</a:t>
            </a:r>
            <a:endParaRPr lang="en-ID" dirty="0"/>
          </a:p>
        </p:txBody>
      </p:sp>
      <p:grpSp>
        <p:nvGrpSpPr>
          <p:cNvPr id="7" name="Google Shape;201;p27">
            <a:extLst>
              <a:ext uri="{FF2B5EF4-FFF2-40B4-BE49-F238E27FC236}">
                <a16:creationId xmlns:a16="http://schemas.microsoft.com/office/drawing/2014/main" id="{8FA65DC9-B173-AA4C-361B-14AA00D0E475}"/>
              </a:ext>
            </a:extLst>
          </p:cNvPr>
          <p:cNvGrpSpPr/>
          <p:nvPr/>
        </p:nvGrpSpPr>
        <p:grpSpPr>
          <a:xfrm rot="3609495">
            <a:off x="-410978" y="4506251"/>
            <a:ext cx="615152" cy="1055449"/>
            <a:chOff x="6482900" y="1354425"/>
            <a:chExt cx="235600" cy="1829825"/>
          </a:xfrm>
          <a:solidFill>
            <a:schemeClr val="bg2"/>
          </a:solidFill>
        </p:grpSpPr>
        <p:sp>
          <p:nvSpPr>
            <p:cNvPr id="8" name="Google Shape;202;p27">
              <a:extLst>
                <a:ext uri="{FF2B5EF4-FFF2-40B4-BE49-F238E27FC236}">
                  <a16:creationId xmlns:a16="http://schemas.microsoft.com/office/drawing/2014/main" id="{990645DF-C429-95BE-2AB5-2B73F17E0553}"/>
                </a:ext>
              </a:extLst>
            </p:cNvPr>
            <p:cNvSpPr/>
            <p:nvPr/>
          </p:nvSpPr>
          <p:spPr>
            <a:xfrm>
              <a:off x="6482900" y="1354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3;p27">
              <a:extLst>
                <a:ext uri="{FF2B5EF4-FFF2-40B4-BE49-F238E27FC236}">
                  <a16:creationId xmlns:a16="http://schemas.microsoft.com/office/drawing/2014/main" id="{67965A5F-28EC-488F-C5EE-6489742CB77E}"/>
                </a:ext>
              </a:extLst>
            </p:cNvPr>
            <p:cNvSpPr/>
            <p:nvPr/>
          </p:nvSpPr>
          <p:spPr>
            <a:xfrm>
              <a:off x="6482900" y="1476000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6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4;p27">
              <a:extLst>
                <a:ext uri="{FF2B5EF4-FFF2-40B4-BE49-F238E27FC236}">
                  <a16:creationId xmlns:a16="http://schemas.microsoft.com/office/drawing/2014/main" id="{7CD7CF8D-9505-1DAB-0CF4-7CF7AFD650CE}"/>
                </a:ext>
              </a:extLst>
            </p:cNvPr>
            <p:cNvSpPr/>
            <p:nvPr/>
          </p:nvSpPr>
          <p:spPr>
            <a:xfrm>
              <a:off x="6482900" y="159757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62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5;p27">
              <a:extLst>
                <a:ext uri="{FF2B5EF4-FFF2-40B4-BE49-F238E27FC236}">
                  <a16:creationId xmlns:a16="http://schemas.microsoft.com/office/drawing/2014/main" id="{5DD2929E-DBFE-C8FF-9E58-F8D1DF4518CB}"/>
                </a:ext>
              </a:extLst>
            </p:cNvPr>
            <p:cNvSpPr/>
            <p:nvPr/>
          </p:nvSpPr>
          <p:spPr>
            <a:xfrm>
              <a:off x="6482900" y="1719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36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6;p27">
              <a:extLst>
                <a:ext uri="{FF2B5EF4-FFF2-40B4-BE49-F238E27FC236}">
                  <a16:creationId xmlns:a16="http://schemas.microsoft.com/office/drawing/2014/main" id="{D3F4C479-7110-57D9-B10A-4E269D44477D}"/>
                </a:ext>
              </a:extLst>
            </p:cNvPr>
            <p:cNvSpPr/>
            <p:nvPr/>
          </p:nvSpPr>
          <p:spPr>
            <a:xfrm>
              <a:off x="6482900" y="1839975"/>
              <a:ext cx="235600" cy="249275"/>
            </a:xfrm>
            <a:custGeom>
              <a:avLst/>
              <a:gdLst/>
              <a:ahLst/>
              <a:cxnLst/>
              <a:rect l="l" t="t" r="r" b="b"/>
              <a:pathLst>
                <a:path w="9424" h="9971" extrusionOk="0">
                  <a:moveTo>
                    <a:pt x="1" y="1"/>
                  </a:moveTo>
                  <a:lnTo>
                    <a:pt x="1" y="548"/>
                  </a:lnTo>
                  <a:lnTo>
                    <a:pt x="9424" y="9971"/>
                  </a:lnTo>
                  <a:lnTo>
                    <a:pt x="9424" y="9454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7;p27">
              <a:extLst>
                <a:ext uri="{FF2B5EF4-FFF2-40B4-BE49-F238E27FC236}">
                  <a16:creationId xmlns:a16="http://schemas.microsoft.com/office/drawing/2014/main" id="{FD74145D-D4F4-8F65-DF14-61AB12CC4819}"/>
                </a:ext>
              </a:extLst>
            </p:cNvPr>
            <p:cNvSpPr/>
            <p:nvPr/>
          </p:nvSpPr>
          <p:spPr>
            <a:xfrm>
              <a:off x="6482900" y="1962325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8;p27">
              <a:extLst>
                <a:ext uri="{FF2B5EF4-FFF2-40B4-BE49-F238E27FC236}">
                  <a16:creationId xmlns:a16="http://schemas.microsoft.com/office/drawing/2014/main" id="{8A9B1779-D4A4-49ED-0088-B3C9D5354B9D}"/>
                </a:ext>
              </a:extLst>
            </p:cNvPr>
            <p:cNvSpPr/>
            <p:nvPr/>
          </p:nvSpPr>
          <p:spPr>
            <a:xfrm>
              <a:off x="6482900" y="208390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09;p27">
              <a:extLst>
                <a:ext uri="{FF2B5EF4-FFF2-40B4-BE49-F238E27FC236}">
                  <a16:creationId xmlns:a16="http://schemas.microsoft.com/office/drawing/2014/main" id="{07A23A2C-2444-41A0-E887-C0A14285C676}"/>
                </a:ext>
              </a:extLst>
            </p:cNvPr>
            <p:cNvSpPr/>
            <p:nvPr/>
          </p:nvSpPr>
          <p:spPr>
            <a:xfrm>
              <a:off x="6482900" y="22055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47"/>
                  </a:lnTo>
                  <a:lnTo>
                    <a:pt x="9424" y="9939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10;p27">
              <a:extLst>
                <a:ext uri="{FF2B5EF4-FFF2-40B4-BE49-F238E27FC236}">
                  <a16:creationId xmlns:a16="http://schemas.microsoft.com/office/drawing/2014/main" id="{405C3E23-798E-5AB7-BBFF-4B279D562CFA}"/>
                </a:ext>
              </a:extLst>
            </p:cNvPr>
            <p:cNvSpPr/>
            <p:nvPr/>
          </p:nvSpPr>
          <p:spPr>
            <a:xfrm>
              <a:off x="6482900" y="23278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10"/>
                  </a:lnTo>
                  <a:lnTo>
                    <a:pt x="9424" y="939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11;p27">
              <a:extLst>
                <a:ext uri="{FF2B5EF4-FFF2-40B4-BE49-F238E27FC236}">
                  <a16:creationId xmlns:a16="http://schemas.microsoft.com/office/drawing/2014/main" id="{8BF94DB3-9008-EF43-3CDB-4B0CD2E14BBD}"/>
                </a:ext>
              </a:extLst>
            </p:cNvPr>
            <p:cNvSpPr/>
            <p:nvPr/>
          </p:nvSpPr>
          <p:spPr>
            <a:xfrm>
              <a:off x="6482900" y="2449425"/>
              <a:ext cx="235600" cy="247750"/>
            </a:xfrm>
            <a:custGeom>
              <a:avLst/>
              <a:gdLst/>
              <a:ahLst/>
              <a:cxnLst/>
              <a:rect l="l" t="t" r="r" b="b"/>
              <a:pathLst>
                <a:path w="9424" h="991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09"/>
                  </a:lnTo>
                  <a:lnTo>
                    <a:pt x="9424" y="939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212;p27">
              <a:extLst>
                <a:ext uri="{FF2B5EF4-FFF2-40B4-BE49-F238E27FC236}">
                  <a16:creationId xmlns:a16="http://schemas.microsoft.com/office/drawing/2014/main" id="{0884DD90-9D17-8198-EDE9-D971687DC6E3}"/>
                </a:ext>
              </a:extLst>
            </p:cNvPr>
            <p:cNvSpPr/>
            <p:nvPr/>
          </p:nvSpPr>
          <p:spPr>
            <a:xfrm>
              <a:off x="6482900" y="257100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39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3;p27">
              <a:extLst>
                <a:ext uri="{FF2B5EF4-FFF2-40B4-BE49-F238E27FC236}">
                  <a16:creationId xmlns:a16="http://schemas.microsoft.com/office/drawing/2014/main" id="{821BBD0E-1A71-7951-E160-787F23D01284}"/>
                </a:ext>
              </a:extLst>
            </p:cNvPr>
            <p:cNvSpPr/>
            <p:nvPr/>
          </p:nvSpPr>
          <p:spPr>
            <a:xfrm>
              <a:off x="6482900" y="2692575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4;p27">
              <a:extLst>
                <a:ext uri="{FF2B5EF4-FFF2-40B4-BE49-F238E27FC236}">
                  <a16:creationId xmlns:a16="http://schemas.microsoft.com/office/drawing/2014/main" id="{2CA6630B-9B88-96D4-BF0B-B8D0FE60CBF4}"/>
                </a:ext>
              </a:extLst>
            </p:cNvPr>
            <p:cNvSpPr/>
            <p:nvPr/>
          </p:nvSpPr>
          <p:spPr>
            <a:xfrm>
              <a:off x="6482900" y="2814150"/>
              <a:ext cx="235600" cy="248525"/>
            </a:xfrm>
            <a:custGeom>
              <a:avLst/>
              <a:gdLst/>
              <a:ahLst/>
              <a:cxnLst/>
              <a:rect l="l" t="t" r="r" b="b"/>
              <a:pathLst>
                <a:path w="9424" h="9941" extrusionOk="0">
                  <a:moveTo>
                    <a:pt x="1" y="1"/>
                  </a:moveTo>
                  <a:lnTo>
                    <a:pt x="1" y="518"/>
                  </a:lnTo>
                  <a:lnTo>
                    <a:pt x="9424" y="9940"/>
                  </a:lnTo>
                  <a:lnTo>
                    <a:pt x="9424" y="9424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5;p27">
              <a:extLst>
                <a:ext uri="{FF2B5EF4-FFF2-40B4-BE49-F238E27FC236}">
                  <a16:creationId xmlns:a16="http://schemas.microsoft.com/office/drawing/2014/main" id="{CAEDB713-951F-C35A-43A5-BAC7A7BFCE58}"/>
                </a:ext>
              </a:extLst>
            </p:cNvPr>
            <p:cNvSpPr/>
            <p:nvPr/>
          </p:nvSpPr>
          <p:spPr>
            <a:xfrm>
              <a:off x="6482900" y="2935750"/>
              <a:ext cx="235600" cy="248500"/>
            </a:xfrm>
            <a:custGeom>
              <a:avLst/>
              <a:gdLst/>
              <a:ahLst/>
              <a:cxnLst/>
              <a:rect l="l" t="t" r="r" b="b"/>
              <a:pathLst>
                <a:path w="9424" h="9940" extrusionOk="0">
                  <a:moveTo>
                    <a:pt x="1" y="0"/>
                  </a:moveTo>
                  <a:lnTo>
                    <a:pt x="1" y="517"/>
                  </a:lnTo>
                  <a:lnTo>
                    <a:pt x="9424" y="9940"/>
                  </a:lnTo>
                  <a:lnTo>
                    <a:pt x="9424" y="942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38DFA88B-7B05-B27C-8135-24C33FF99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66" y="1402485"/>
            <a:ext cx="3324290" cy="759129"/>
          </a:xfrm>
          <a:prstGeom prst="rect">
            <a:avLst/>
          </a:prstGeom>
        </p:spPr>
      </p:pic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FDC1272D-C609-8F16-B792-C510F81C5E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541767"/>
              </p:ext>
            </p:extLst>
          </p:nvPr>
        </p:nvGraphicFramePr>
        <p:xfrm>
          <a:off x="4077892" y="1312149"/>
          <a:ext cx="2565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65360" imgH="914400" progId="Equation.DSMT4">
                  <p:embed/>
                </p:oleObj>
              </mc:Choice>
              <mc:Fallback>
                <p:oleObj name="Equation" r:id="rId3" imgW="25653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7892" y="1312149"/>
                        <a:ext cx="2565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Arrow: Right 23">
            <a:extLst>
              <a:ext uri="{FF2B5EF4-FFF2-40B4-BE49-F238E27FC236}">
                <a16:creationId xmlns:a16="http://schemas.microsoft.com/office/drawing/2014/main" id="{4EB074F1-0CB1-E104-18B6-A2E1C3B956D4}"/>
              </a:ext>
            </a:extLst>
          </p:cNvPr>
          <p:cNvSpPr/>
          <p:nvPr/>
        </p:nvSpPr>
        <p:spPr>
          <a:xfrm>
            <a:off x="3607085" y="1665225"/>
            <a:ext cx="345621" cy="1698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E56C4EA-2C5E-BABF-1224-CFCE62DACCDC}"/>
              </a:ext>
            </a:extLst>
          </p:cNvPr>
          <p:cNvSpPr/>
          <p:nvPr/>
        </p:nvSpPr>
        <p:spPr>
          <a:xfrm>
            <a:off x="6643292" y="1659113"/>
            <a:ext cx="345621" cy="1698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F62B17D4-8D64-D779-1C21-B0064A83CE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006918"/>
              </p:ext>
            </p:extLst>
          </p:nvPr>
        </p:nvGraphicFramePr>
        <p:xfrm>
          <a:off x="7095956" y="1627373"/>
          <a:ext cx="800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99920" imgH="253800" progId="Equation.DSMT4">
                  <p:embed/>
                </p:oleObj>
              </mc:Choice>
              <mc:Fallback>
                <p:oleObj name="Equation" r:id="rId5" imgW="7999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95956" y="1627373"/>
                        <a:ext cx="8001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Arrow: Right 27">
            <a:extLst>
              <a:ext uri="{FF2B5EF4-FFF2-40B4-BE49-F238E27FC236}">
                <a16:creationId xmlns:a16="http://schemas.microsoft.com/office/drawing/2014/main" id="{1409DEC8-3A27-3CC5-D891-6F9CEA531249}"/>
              </a:ext>
            </a:extLst>
          </p:cNvPr>
          <p:cNvSpPr/>
          <p:nvPr/>
        </p:nvSpPr>
        <p:spPr>
          <a:xfrm rot="5400000">
            <a:off x="7352380" y="2141640"/>
            <a:ext cx="345621" cy="1698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74E76536-B826-4067-C3DC-DF005096D3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196486"/>
              </p:ext>
            </p:extLst>
          </p:nvPr>
        </p:nvGraphicFramePr>
        <p:xfrm>
          <a:off x="6374415" y="2481678"/>
          <a:ext cx="2413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2720" imgH="863280" progId="Equation.DSMT4">
                  <p:embed/>
                </p:oleObj>
              </mc:Choice>
              <mc:Fallback>
                <p:oleObj name="Equation" r:id="rId7" imgW="241272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4415" y="2481678"/>
                        <a:ext cx="24130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Arrow: Right 29">
            <a:extLst>
              <a:ext uri="{FF2B5EF4-FFF2-40B4-BE49-F238E27FC236}">
                <a16:creationId xmlns:a16="http://schemas.microsoft.com/office/drawing/2014/main" id="{FED73875-76A0-6133-939A-9FD477BFE52B}"/>
              </a:ext>
            </a:extLst>
          </p:cNvPr>
          <p:cNvSpPr/>
          <p:nvPr/>
        </p:nvSpPr>
        <p:spPr>
          <a:xfrm rot="10800000">
            <a:off x="5843644" y="2828569"/>
            <a:ext cx="345621" cy="1698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60240C4-D7AB-4395-4EA5-E6219824C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0543" y="2571750"/>
            <a:ext cx="2820526" cy="663596"/>
          </a:xfrm>
        </p:spPr>
        <p:txBody>
          <a:bodyPr/>
          <a:lstStyle/>
          <a:p>
            <a:pPr marL="152400" indent="0">
              <a:buNone/>
            </a:pPr>
            <a:r>
              <a:rPr lang="en-US" dirty="0">
                <a:solidFill>
                  <a:srgbClr val="002060"/>
                </a:solidFill>
              </a:rPr>
              <a:t>find the control rod speed (</a:t>
            </a:r>
            <a:r>
              <a:rPr lang="en-US" i="1" dirty="0">
                <a:solidFill>
                  <a:srgbClr val="002060"/>
                </a:solidFill>
              </a:rPr>
              <a:t>v)</a:t>
            </a:r>
            <a:r>
              <a:rPr lang="en-US" dirty="0">
                <a:solidFill>
                  <a:srgbClr val="002060"/>
                </a:solidFill>
              </a:rPr>
              <a:t> from the stored Kartini reactor operating data </a:t>
            </a:r>
            <a:endParaRPr lang="en-ID" dirty="0">
              <a:solidFill>
                <a:srgbClr val="002060"/>
              </a:solidFill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4A65E6BA-057F-95F1-5085-E1CDD097CC1A}"/>
              </a:ext>
            </a:extLst>
          </p:cNvPr>
          <p:cNvSpPr/>
          <p:nvPr/>
        </p:nvSpPr>
        <p:spPr>
          <a:xfrm rot="10800000">
            <a:off x="2665157" y="2825925"/>
            <a:ext cx="345621" cy="1698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76448692-57D9-C973-51A5-F8764D1FADED}"/>
              </a:ext>
            </a:extLst>
          </p:cNvPr>
          <p:cNvSpPr txBox="1">
            <a:spLocks/>
          </p:cNvSpPr>
          <p:nvPr/>
        </p:nvSpPr>
        <p:spPr>
          <a:xfrm>
            <a:off x="142428" y="2612999"/>
            <a:ext cx="2647716" cy="663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152400" indent="0">
              <a:buFont typeface="Nunito Light"/>
              <a:buNone/>
            </a:pPr>
            <a:r>
              <a:rPr lang="en-US" dirty="0">
                <a:solidFill>
                  <a:srgbClr val="002060"/>
                </a:solidFill>
              </a:rPr>
              <a:t>Solve the kinematic differential equation using some methods of solving differential equations</a:t>
            </a:r>
            <a:endParaRPr lang="en-ID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81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1E71-42B9-946B-733D-AD414227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Speed Of The Control Rod Regulating The Kartini Reactor</a:t>
            </a:r>
            <a:endParaRPr lang="en-ID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AD71B4E-9839-A4CA-ABC4-43EC350A785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0" y="920681"/>
                <a:ext cx="4353059" cy="863043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There are 157 operational data of the Kartini reactor from January 2022 to December 2025.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D" dirty="0">
                    <a:solidFill>
                      <a:schemeClr val="tx1"/>
                    </a:solidFill>
                  </a:rPr>
                  <a:t>, use Forward difference and Central difference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AD71B4E-9839-A4CA-ABC4-43EC350A78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920681"/>
                <a:ext cx="4353059" cy="863043"/>
              </a:xfrm>
              <a:blipFill>
                <a:blip r:embed="rId2"/>
                <a:stretch>
                  <a:fillRect b="-63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C75FCE0-3195-4E63-C5F5-C8BD3E0D85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92" t="8671" r="8944" b="5986"/>
          <a:stretch>
            <a:fillRect/>
          </a:stretch>
        </p:blipFill>
        <p:spPr>
          <a:xfrm>
            <a:off x="2438195" y="1916355"/>
            <a:ext cx="4649273" cy="2683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F13F3D-06C9-92C1-0753-6FD31855E5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979" r="25685" b="923"/>
          <a:stretch>
            <a:fillRect/>
          </a:stretch>
        </p:blipFill>
        <p:spPr>
          <a:xfrm>
            <a:off x="0" y="688860"/>
            <a:ext cx="4762832" cy="23182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B7AE889-5F3B-B087-871D-8E81261E67F9}"/>
              </a:ext>
            </a:extLst>
          </p:cNvPr>
          <p:cNvGrpSpPr/>
          <p:nvPr/>
        </p:nvGrpSpPr>
        <p:grpSpPr>
          <a:xfrm>
            <a:off x="4885387" y="1073082"/>
            <a:ext cx="2042464" cy="710920"/>
            <a:chOff x="4885387" y="1073082"/>
            <a:chExt cx="2042464" cy="710920"/>
          </a:xfrm>
        </p:grpSpPr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058417D2-4AE4-D66C-1E02-145385C09467}"/>
                </a:ext>
              </a:extLst>
            </p:cNvPr>
            <p:cNvSpPr txBox="1">
              <a:spLocks/>
            </p:cNvSpPr>
            <p:nvPr/>
          </p:nvSpPr>
          <p:spPr>
            <a:xfrm>
              <a:off x="4885387" y="1073082"/>
              <a:ext cx="2042464" cy="401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</a:rPr>
                <a:t>Forward Difference:</a:t>
              </a:r>
              <a:endParaRPr lang="en-ID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ACC72A8F-04B0-449B-BD8E-C4FFB2546E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1176420"/>
                </p:ext>
              </p:extLst>
            </p:nvPr>
          </p:nvGraphicFramePr>
          <p:xfrm>
            <a:off x="5422900" y="1352202"/>
            <a:ext cx="774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74360" imgH="431640" progId="Equation.DSMT4">
                    <p:embed/>
                  </p:oleObj>
                </mc:Choice>
                <mc:Fallback>
                  <p:oleObj name="Equation" r:id="rId5" imgW="77436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422900" y="1352202"/>
                          <a:ext cx="7747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03FD0E-B4AB-7E07-FD12-2037603D2991}"/>
              </a:ext>
            </a:extLst>
          </p:cNvPr>
          <p:cNvGrpSpPr/>
          <p:nvPr/>
        </p:nvGrpSpPr>
        <p:grpSpPr>
          <a:xfrm>
            <a:off x="6735113" y="1073082"/>
            <a:ext cx="1978965" cy="721266"/>
            <a:chOff x="4732985" y="1813972"/>
            <a:chExt cx="1978965" cy="721266"/>
          </a:xfrm>
        </p:grpSpPr>
        <p:sp>
          <p:nvSpPr>
            <p:cNvPr id="12" name="Text Placeholder 2">
              <a:extLst>
                <a:ext uri="{FF2B5EF4-FFF2-40B4-BE49-F238E27FC236}">
                  <a16:creationId xmlns:a16="http://schemas.microsoft.com/office/drawing/2014/main" id="{29D38037-D921-3F0F-30A1-C08AA96F49A2}"/>
                </a:ext>
              </a:extLst>
            </p:cNvPr>
            <p:cNvSpPr txBox="1">
              <a:spLocks/>
            </p:cNvSpPr>
            <p:nvPr/>
          </p:nvSpPr>
          <p:spPr>
            <a:xfrm>
              <a:off x="4732985" y="1813972"/>
              <a:ext cx="1978965" cy="401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</a:rPr>
                <a:t>Central Difference:</a:t>
              </a:r>
              <a:endParaRPr lang="en-ID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3" name="Object 12">
              <a:extLst>
                <a:ext uri="{FF2B5EF4-FFF2-40B4-BE49-F238E27FC236}">
                  <a16:creationId xmlns:a16="http://schemas.microsoft.com/office/drawing/2014/main" id="{94EEFEEC-8983-E761-8857-65C46C63E9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480557"/>
                </p:ext>
              </p:extLst>
            </p:nvPr>
          </p:nvGraphicFramePr>
          <p:xfrm>
            <a:off x="5270500" y="2103438"/>
            <a:ext cx="863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863280" imgH="431640" progId="Equation.DSMT4">
                    <p:embed/>
                  </p:oleObj>
                </mc:Choice>
                <mc:Fallback>
                  <p:oleObj name="Equation" r:id="rId7" imgW="863280" imgH="431640" progId="Equation.DSMT4">
                    <p:embed/>
                    <p:pic>
                      <p:nvPicPr>
                        <p:cNvPr id="9" name="Object 8">
                          <a:extLst>
                            <a:ext uri="{FF2B5EF4-FFF2-40B4-BE49-F238E27FC236}">
                              <a16:creationId xmlns:a16="http://schemas.microsoft.com/office/drawing/2014/main" id="{ACC72A8F-04B0-449B-BD8E-C4FFB2546E5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70500" y="2103438"/>
                          <a:ext cx="8636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0384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E6821-5F11-0C17-57C8-5337B643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2E0E-F0A7-F73A-AD66-2616007F4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Speed Of The Control Rod Regulating The Kartini Reactor</a:t>
            </a:r>
            <a:endParaRPr lang="en-ID" sz="24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1BA07-6730-A920-6805-A306D79A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20681"/>
            <a:ext cx="4353059" cy="86304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From January 2022 to December 2025, the regulating rod mean speed using Forward diff is 0,738 when the regulating move from bottom to up, and -0,813 otherwise</a:t>
            </a:r>
            <a:endParaRPr lang="en-ID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3AEE51-7A5B-9919-5AF9-F14A7D93C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35" y="1804653"/>
            <a:ext cx="8367130" cy="311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05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F93926-E54C-7C63-AA79-E485B0B2D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000" dirty="0"/>
              <a:t>Solve Kinematic Reactor Differential Equations using Explicit Euler Method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F77764-7E69-FCB4-988A-58B775FA1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20681"/>
            <a:ext cx="4353059" cy="35566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Variable Inputs:</a:t>
            </a:r>
            <a:endParaRPr lang="en-ID" dirty="0">
              <a:solidFill>
                <a:schemeClr val="tx1"/>
              </a:solidFill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92E637F-0CD7-AB80-B663-83F0983C37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590765"/>
              </p:ext>
            </p:extLst>
          </p:nvPr>
        </p:nvGraphicFramePr>
        <p:xfrm>
          <a:off x="177800" y="1276350"/>
          <a:ext cx="7239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1130040" progId="Equation.DSMT4">
                  <p:embed/>
                </p:oleObj>
              </mc:Choice>
              <mc:Fallback>
                <p:oleObj name="Equation" r:id="rId2" imgW="72360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800" y="1276350"/>
                        <a:ext cx="723900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69D50C0-6D39-9DF8-4CC6-A2DDF4E751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75"/>
          <a:stretch>
            <a:fillRect/>
          </a:stretch>
        </p:blipFill>
        <p:spPr>
          <a:xfrm>
            <a:off x="1456291" y="1276350"/>
            <a:ext cx="3545969" cy="1241112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76FE4E9-9A30-4169-875C-5B3FA5EDE6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832743"/>
              </p:ext>
            </p:extLst>
          </p:nvPr>
        </p:nvGraphicFramePr>
        <p:xfrm>
          <a:off x="646113" y="3198813"/>
          <a:ext cx="1409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09400" imgH="431640" progId="Equation.DSMT4">
                  <p:embed/>
                </p:oleObj>
              </mc:Choice>
              <mc:Fallback>
                <p:oleObj name="Equation" r:id="rId5" imgW="1409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6113" y="3198813"/>
                        <a:ext cx="14097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23E29E3-E80F-B0F6-5A9B-9E92E65E8C18}"/>
              </a:ext>
            </a:extLst>
          </p:cNvPr>
          <p:cNvSpPr txBox="1">
            <a:spLocks/>
          </p:cNvSpPr>
          <p:nvPr/>
        </p:nvSpPr>
        <p:spPr>
          <a:xfrm>
            <a:off x="-20112" y="2591617"/>
            <a:ext cx="4353059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The equation approach used:</a:t>
            </a:r>
            <a:endParaRPr lang="en-ID" dirty="0">
              <a:solidFill>
                <a:schemeClr val="tx1"/>
              </a:solidFill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FB2281A5-90CC-71BF-65FA-1D15B08196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582107"/>
              </p:ext>
            </p:extLst>
          </p:nvPr>
        </p:nvGraphicFramePr>
        <p:xfrm>
          <a:off x="6038850" y="1134906"/>
          <a:ext cx="1498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98320" imgH="1523880" progId="Equation.DSMT4">
                  <p:embed/>
                </p:oleObj>
              </mc:Choice>
              <mc:Fallback>
                <p:oleObj name="Equation" r:id="rId7" imgW="1498320" imgH="1523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38850" y="1134906"/>
                        <a:ext cx="1498600" cy="15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B9A93C3-4237-430C-CA43-41A1AACCAA6A}"/>
              </a:ext>
            </a:extLst>
          </p:cNvPr>
          <p:cNvSpPr txBox="1">
            <a:spLocks/>
          </p:cNvSpPr>
          <p:nvPr/>
        </p:nvSpPr>
        <p:spPr>
          <a:xfrm>
            <a:off x="5467351" y="801385"/>
            <a:ext cx="3149600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All differential equations:</a:t>
            </a:r>
            <a:endParaRPr lang="en-ID" dirty="0">
              <a:solidFill>
                <a:schemeClr val="tx1"/>
              </a:solidFill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ECCD5CA5-C871-BE68-859F-6BE6316121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485587"/>
              </p:ext>
            </p:extLst>
          </p:nvPr>
        </p:nvGraphicFramePr>
        <p:xfrm>
          <a:off x="5721351" y="3021391"/>
          <a:ext cx="1320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20480" imgH="711000" progId="Equation.DSMT4">
                  <p:embed/>
                </p:oleObj>
              </mc:Choice>
              <mc:Fallback>
                <p:oleObj name="Equation" r:id="rId9" imgW="13204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21351" y="3021391"/>
                        <a:ext cx="1320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AE07962-A6B9-2FD1-33A9-42315E656C63}"/>
              </a:ext>
            </a:extLst>
          </p:cNvPr>
          <p:cNvSpPr txBox="1">
            <a:spLocks/>
          </p:cNvSpPr>
          <p:nvPr/>
        </p:nvSpPr>
        <p:spPr>
          <a:xfrm>
            <a:off x="5131008" y="2660773"/>
            <a:ext cx="4353059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The equation Explicit Euler:</a:t>
            </a:r>
            <a:endParaRPr lang="en-ID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3E7796-F836-06E4-CCA3-A1D05C264D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7835" y="3804995"/>
            <a:ext cx="2829516" cy="56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88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87144-3386-E094-84A4-D5D9A5151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D0548FB-0829-8C1D-56C7-DCAE3435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000" dirty="0"/>
              <a:t>Solve Kinematic Reactor Differential Equations using Explicit Euler Method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100FCF-A82A-97B7-C083-0F8D90FD4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24" y="1223492"/>
            <a:ext cx="3844229" cy="30685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FD2853-36B6-7CFF-FE87-B180608B1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004" y="1223492"/>
            <a:ext cx="3844228" cy="3068598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1D46B42-6925-AC8D-1F8E-22239CDD9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13" y="851409"/>
            <a:ext cx="4353059" cy="35566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Position = 80 %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52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64F405-3FE0-9B7B-A6CA-1C2E1532B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000" dirty="0"/>
              <a:t>Solve Kinematic Reactor Differential Equations using Explicit Euler Method with Temperature Feedback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6312EAE-FFDC-DCF5-9D67-D68F04312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20681"/>
            <a:ext cx="4353059" cy="35566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Variable Inputs:</a:t>
            </a:r>
            <a:endParaRPr lang="en-ID" dirty="0">
              <a:solidFill>
                <a:schemeClr val="tx1"/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4B7CECA-B070-EE6F-85CF-2220A3C4FC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132804"/>
              </p:ext>
            </p:extLst>
          </p:nvPr>
        </p:nvGraphicFramePr>
        <p:xfrm>
          <a:off x="177800" y="1276350"/>
          <a:ext cx="7239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3600" imgH="1130040" progId="Equation.DSMT4">
                  <p:embed/>
                </p:oleObj>
              </mc:Choice>
              <mc:Fallback>
                <p:oleObj name="Equation" r:id="rId3" imgW="723600" imgH="11300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92E637F-0CD7-AB80-B663-83F0983C37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7800" y="1276350"/>
                        <a:ext cx="723900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D1EAC07-D570-24D9-0800-D3CE96C52B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75"/>
          <a:stretch>
            <a:fillRect/>
          </a:stretch>
        </p:blipFill>
        <p:spPr>
          <a:xfrm>
            <a:off x="1456291" y="1276350"/>
            <a:ext cx="3545969" cy="1241112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D8D6A1C-2751-1EC7-7D57-B4857141E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673142"/>
              </p:ext>
            </p:extLst>
          </p:nvPr>
        </p:nvGraphicFramePr>
        <p:xfrm>
          <a:off x="646113" y="3198813"/>
          <a:ext cx="1409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431640" progId="Equation.DSMT4">
                  <p:embed/>
                </p:oleObj>
              </mc:Choice>
              <mc:Fallback>
                <p:oleObj name="Equation" r:id="rId6" imgW="1409400" imgH="4316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276FE4E9-9A30-4169-875C-5B3FA5EDE6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6113" y="3198813"/>
                        <a:ext cx="14097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9DFD5BF-9069-2C7D-DB37-DC8A8F19545F}"/>
              </a:ext>
            </a:extLst>
          </p:cNvPr>
          <p:cNvSpPr txBox="1">
            <a:spLocks/>
          </p:cNvSpPr>
          <p:nvPr/>
        </p:nvSpPr>
        <p:spPr>
          <a:xfrm>
            <a:off x="-20112" y="2591617"/>
            <a:ext cx="4353059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The equation approach used:</a:t>
            </a:r>
            <a:endParaRPr lang="en-ID" dirty="0">
              <a:solidFill>
                <a:schemeClr val="tx1"/>
              </a:solidFill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7D250A5-B6F5-3F88-7579-7535CFB27C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256460"/>
              </p:ext>
            </p:extLst>
          </p:nvPr>
        </p:nvGraphicFramePr>
        <p:xfrm>
          <a:off x="6038850" y="1134906"/>
          <a:ext cx="1498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98320" imgH="1523880" progId="Equation.DSMT4">
                  <p:embed/>
                </p:oleObj>
              </mc:Choice>
              <mc:Fallback>
                <p:oleObj name="Equation" r:id="rId8" imgW="1498320" imgH="152388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FB2281A5-90CC-71BF-65FA-1D15B08196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38850" y="1134906"/>
                        <a:ext cx="1498600" cy="15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A13E7D4-4BD0-71FC-6734-1A50B552B752}"/>
              </a:ext>
            </a:extLst>
          </p:cNvPr>
          <p:cNvSpPr txBox="1">
            <a:spLocks/>
          </p:cNvSpPr>
          <p:nvPr/>
        </p:nvSpPr>
        <p:spPr>
          <a:xfrm>
            <a:off x="5467351" y="801385"/>
            <a:ext cx="3149600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All differential equations:</a:t>
            </a:r>
            <a:endParaRPr lang="en-ID" dirty="0">
              <a:solidFill>
                <a:schemeClr val="tx1"/>
              </a:solidFill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07897DC7-BF68-B593-145E-33775018E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976769"/>
              </p:ext>
            </p:extLst>
          </p:nvPr>
        </p:nvGraphicFramePr>
        <p:xfrm>
          <a:off x="4087860" y="3198813"/>
          <a:ext cx="1828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28800" imgH="228600" progId="Equation.DSMT4">
                  <p:embed/>
                </p:oleObj>
              </mc:Choice>
              <mc:Fallback>
                <p:oleObj name="Equation" r:id="rId10" imgW="1828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87860" y="3198813"/>
                        <a:ext cx="1828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892A3D-C4F2-45D1-C0CC-674EBFA73506}"/>
              </a:ext>
            </a:extLst>
          </p:cNvPr>
          <p:cNvSpPr txBox="1">
            <a:spLocks/>
          </p:cNvSpPr>
          <p:nvPr/>
        </p:nvSpPr>
        <p:spPr>
          <a:xfrm>
            <a:off x="3594816" y="2873131"/>
            <a:ext cx="4353059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Reactivity total: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54DF225-0D46-9617-83E9-6E89E8DED5BD}"/>
              </a:ext>
            </a:extLst>
          </p:cNvPr>
          <p:cNvSpPr txBox="1">
            <a:spLocks/>
          </p:cNvSpPr>
          <p:nvPr/>
        </p:nvSpPr>
        <p:spPr>
          <a:xfrm>
            <a:off x="3594815" y="3467833"/>
            <a:ext cx="4353059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Temperature Ordinary Differential Equation :</a:t>
            </a:r>
            <a:endParaRPr lang="en-ID" dirty="0">
              <a:solidFill>
                <a:schemeClr val="tx1"/>
              </a:solidFill>
            </a:endParaRP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6AC96D8-5EC8-3CCF-27BD-934BB635C9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387193"/>
              </p:ext>
            </p:extLst>
          </p:nvPr>
        </p:nvGraphicFramePr>
        <p:xfrm>
          <a:off x="4087860" y="3808132"/>
          <a:ext cx="140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09400" imgH="393480" progId="Equation.DSMT4">
                  <p:embed/>
                </p:oleObj>
              </mc:Choice>
              <mc:Fallback>
                <p:oleObj name="Equation" r:id="rId12" imgW="14094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87860" y="3808132"/>
                        <a:ext cx="14097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AE84A144-4569-6D1C-A7DD-0BB64EC946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320712"/>
              </p:ext>
            </p:extLst>
          </p:nvPr>
        </p:nvGraphicFramePr>
        <p:xfrm>
          <a:off x="6515100" y="3224213"/>
          <a:ext cx="546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45760" imgH="203040" progId="Equation.DSMT4">
                  <p:embed/>
                </p:oleObj>
              </mc:Choice>
              <mc:Fallback>
                <p:oleObj name="Equation" r:id="rId14" imgW="5457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515100" y="3224213"/>
                        <a:ext cx="546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35FCEBA0-F421-31BA-99CF-7FFFF980CD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265225"/>
              </p:ext>
            </p:extLst>
          </p:nvPr>
        </p:nvGraphicFramePr>
        <p:xfrm>
          <a:off x="5759450" y="3797300"/>
          <a:ext cx="558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58720" imgH="431640" progId="Equation.DSMT4">
                  <p:embed/>
                </p:oleObj>
              </mc:Choice>
              <mc:Fallback>
                <p:oleObj name="Equation" r:id="rId16" imgW="558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59450" y="3797300"/>
                        <a:ext cx="558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873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649B8D7-A963-0325-3912-069C402E90CA}"/>
              </a:ext>
            </a:extLst>
          </p:cNvPr>
          <p:cNvSpPr txBox="1">
            <a:spLocks/>
          </p:cNvSpPr>
          <p:nvPr/>
        </p:nvSpPr>
        <p:spPr>
          <a:xfrm>
            <a:off x="83713" y="58659"/>
            <a:ext cx="89830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9pPr>
          </a:lstStyle>
          <a:p>
            <a:r>
              <a:rPr lang="en-US" sz="2000"/>
              <a:t>Solve Kinematic Reactor Differential Equations using Explicit Euler Method with Temperature Feedback</a:t>
            </a:r>
            <a:r>
              <a:rPr lang="en-US" sz="200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46EADB-FBF1-2FE5-4A12-5046C3802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83" y="2945007"/>
            <a:ext cx="2568158" cy="20344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036D6C-18FB-2700-3A94-3972FEF33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415" y="743501"/>
            <a:ext cx="2689495" cy="2081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076CD6-77C4-5032-DAB9-66F286F7A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31" y="2897501"/>
            <a:ext cx="2628127" cy="20819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07A32C-F7F5-DE14-301D-A4E5C6EAD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431" y="735540"/>
            <a:ext cx="2628127" cy="209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99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C6984CB-3117-D6C2-93F2-8D63B42E1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000" dirty="0"/>
              <a:t>Solve Kinematic Reactor Differential Equations using Implicit Euler Method with Temperature Feedback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17F0191-58BC-28E8-9166-144EA10DB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609229"/>
              </p:ext>
            </p:extLst>
          </p:nvPr>
        </p:nvGraphicFramePr>
        <p:xfrm>
          <a:off x="2658774" y="832520"/>
          <a:ext cx="2196563" cy="9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720" imgH="660240" progId="Equation.DSMT4">
                  <p:embed/>
                </p:oleObj>
              </mc:Choice>
              <mc:Fallback>
                <p:oleObj name="Equation" r:id="rId2" imgW="1485720" imgH="6602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ECCD5CA5-C871-BE68-859F-6BE6316121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58774" y="832520"/>
                        <a:ext cx="2196563" cy="9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231F96-A33B-23B8-62A5-ECAF378C920C}"/>
              </a:ext>
            </a:extLst>
          </p:cNvPr>
          <p:cNvSpPr txBox="1">
            <a:spLocks/>
          </p:cNvSpPr>
          <p:nvPr/>
        </p:nvSpPr>
        <p:spPr>
          <a:xfrm>
            <a:off x="0" y="993506"/>
            <a:ext cx="4353059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The equation Implicit Euler: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816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AD634-0282-31E8-8511-8BC89937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4CD95D-1B59-2B10-F9CA-73349F778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000" dirty="0"/>
              <a:t>Solve Kinematic Reactor Differential Equations using Implicit Euler Method with Temperature Feedback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D52E21-D1B0-959B-4CE6-C55C46288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723061"/>
            <a:ext cx="2788773" cy="2158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0B4386-774C-2DA4-9B45-F1D36E94C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52" y="2982158"/>
            <a:ext cx="2654308" cy="21026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73224B-C9B8-6F97-5933-0F72C25C5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92" y="779172"/>
            <a:ext cx="2634165" cy="2102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85759A-730D-E4D4-E9D9-E0B3398B4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926047"/>
            <a:ext cx="2788773" cy="220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5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15438C-B6A4-9109-3EA8-5A1D64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000" dirty="0"/>
              <a:t>Solve Kinematic Reactor Differential Equations using Runge-</a:t>
            </a:r>
            <a:r>
              <a:rPr lang="en-US" sz="2000" dirty="0" err="1"/>
              <a:t>Kutta</a:t>
            </a:r>
            <a:r>
              <a:rPr lang="en-US" sz="2000" dirty="0"/>
              <a:t> 4th Method with Temperature Feedback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95488A2-34BE-CE9F-938B-B40A43B211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330742"/>
              </p:ext>
            </p:extLst>
          </p:nvPr>
        </p:nvGraphicFramePr>
        <p:xfrm>
          <a:off x="3070225" y="1349175"/>
          <a:ext cx="3003550" cy="322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840" imgH="2184120" progId="Equation.DSMT4">
                  <p:embed/>
                </p:oleObj>
              </mc:Choice>
              <mc:Fallback>
                <p:oleObj name="Equation" r:id="rId2" imgW="2031840" imgH="21841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17F0191-58BC-28E8-9166-144EA10DB1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70225" y="1349175"/>
                        <a:ext cx="3003550" cy="322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72FD3A-6720-47CE-8A26-CAD4F595D370}"/>
              </a:ext>
            </a:extLst>
          </p:cNvPr>
          <p:cNvSpPr txBox="1">
            <a:spLocks/>
          </p:cNvSpPr>
          <p:nvPr/>
        </p:nvSpPr>
        <p:spPr>
          <a:xfrm>
            <a:off x="0" y="993506"/>
            <a:ext cx="4353059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The equation Runge-</a:t>
            </a:r>
            <a:r>
              <a:rPr lang="en-US" dirty="0" err="1">
                <a:solidFill>
                  <a:schemeClr val="tx1"/>
                </a:solidFill>
              </a:rPr>
              <a:t>Kutta</a:t>
            </a:r>
            <a:r>
              <a:rPr lang="en-US" dirty="0">
                <a:solidFill>
                  <a:schemeClr val="tx1"/>
                </a:solidFill>
              </a:rPr>
              <a:t> 4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(RK4):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212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DC991E-312C-B655-353B-41E2B705B009}"/>
              </a:ext>
            </a:extLst>
          </p:cNvPr>
          <p:cNvSpPr txBox="1">
            <a:spLocks/>
          </p:cNvSpPr>
          <p:nvPr/>
        </p:nvSpPr>
        <p:spPr>
          <a:xfrm>
            <a:off x="83713" y="58659"/>
            <a:ext cx="89830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logica"/>
              <a:buNone/>
              <a:defRPr sz="3000" b="1" i="0" u="none" strike="noStrike" cap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9pPr>
          </a:lstStyle>
          <a:p>
            <a:r>
              <a:rPr lang="en-US" sz="2000"/>
              <a:t>Solve Kinematic Reactor Differential Equations using Runge-Kutta 4th Method with Temperature Feedback</a:t>
            </a:r>
            <a:r>
              <a:rPr lang="en-US" sz="200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CFFDBE-8F09-EB39-B50E-2D95295EA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561" y="3055954"/>
            <a:ext cx="2635200" cy="2087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93A0AA-5585-355D-52F6-2A5801638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561" y="840715"/>
            <a:ext cx="2635200" cy="21035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3E2BB3-C1BA-F567-6B53-1F7AFB1BF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705" y="2997295"/>
            <a:ext cx="2635200" cy="20875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A118F4-8A18-305A-F0CC-17627D07B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705" y="767835"/>
            <a:ext cx="2635200" cy="203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5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45D460-57AD-DBE2-B9FB-4370688D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000" dirty="0"/>
              <a:t>Solve Kinematic Reactor Differential Equations using Exponential Time Differencing (ETD) 1</a:t>
            </a:r>
            <a:r>
              <a:rPr lang="en-US" sz="2000" baseline="30000" dirty="0"/>
              <a:t>st</a:t>
            </a:r>
            <a:r>
              <a:rPr lang="en-US" sz="2000" dirty="0"/>
              <a:t> Method with Temperature Feedback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2FB49F8-34EF-318A-1676-8754B4B6F6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188723"/>
              </p:ext>
            </p:extLst>
          </p:nvPr>
        </p:nvGraphicFramePr>
        <p:xfrm>
          <a:off x="3327736" y="1623789"/>
          <a:ext cx="230822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863280" progId="Equation.DSMT4">
                  <p:embed/>
                </p:oleObj>
              </mc:Choice>
              <mc:Fallback>
                <p:oleObj name="Equation" r:id="rId2" imgW="1562040" imgH="86328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95488A2-34BE-CE9F-938B-B40A43B21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27736" y="1623789"/>
                        <a:ext cx="2308225" cy="1276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0A44784-F388-C267-DBD3-622A71A7AA3A}"/>
              </a:ext>
            </a:extLst>
          </p:cNvPr>
          <p:cNvSpPr txBox="1">
            <a:spLocks/>
          </p:cNvSpPr>
          <p:nvPr/>
        </p:nvSpPr>
        <p:spPr>
          <a:xfrm>
            <a:off x="0" y="993506"/>
            <a:ext cx="4353059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The equation Runge-</a:t>
            </a:r>
            <a:r>
              <a:rPr lang="en-US" dirty="0" err="1">
                <a:solidFill>
                  <a:schemeClr val="tx1"/>
                </a:solidFill>
              </a:rPr>
              <a:t>Kutta</a:t>
            </a:r>
            <a:r>
              <a:rPr lang="en-US" dirty="0">
                <a:solidFill>
                  <a:schemeClr val="tx1"/>
                </a:solidFill>
              </a:rPr>
              <a:t> 4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(RK4):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607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76320EB-444C-D16A-0A0C-DAA960C3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000" dirty="0"/>
              <a:t>Solve Kinematic Reactor Differential Equations using Exponential Time Differencing (ETD) 1</a:t>
            </a:r>
            <a:r>
              <a:rPr lang="en-US" sz="2000" baseline="30000" dirty="0"/>
              <a:t>st</a:t>
            </a:r>
            <a:r>
              <a:rPr lang="en-US" sz="2000" dirty="0"/>
              <a:t> Method with Temperature Feedback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0F63C6-8A46-4C49-FCC0-26324C080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40" y="3027292"/>
            <a:ext cx="2635200" cy="2087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0FB8F9-2523-5E7E-FB51-C2EAAA0CD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940" y="806332"/>
            <a:ext cx="2635200" cy="21035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3122AF-1800-5EB0-DAFD-2A99D5B19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081" y="2997295"/>
            <a:ext cx="2635200" cy="20875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AC0419-5E8C-47E6-AA81-C219DA4E2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9081" y="806332"/>
            <a:ext cx="2635200" cy="203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83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073AE7-3DB4-CFAF-9754-56A5D6F5A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382" y="844968"/>
            <a:ext cx="5221235" cy="413614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E469777-9D1D-460F-B03E-1D7315F89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000" dirty="0"/>
              <a:t>Compare all method in neutron density</a:t>
            </a:r>
            <a:endParaRPr lang="en-ID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713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082C15-82F2-FAF6-EDA3-5CE0ACB2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3" y="58659"/>
            <a:ext cx="8983014" cy="572700"/>
          </a:xfrm>
        </p:spPr>
        <p:txBody>
          <a:bodyPr/>
          <a:lstStyle/>
          <a:p>
            <a:r>
              <a:rPr lang="en-US" sz="2000" dirty="0"/>
              <a:t>h=0.05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609852-0CA3-398D-BE96-AC40700FA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3" y="469411"/>
            <a:ext cx="2880000" cy="2264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7143FB-9EFC-766A-C146-702F3D7F1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959" y="2733698"/>
            <a:ext cx="2880000" cy="22814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DF68A4-2A26-BA46-96ED-4DDC7070A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043" y="2844583"/>
            <a:ext cx="2880000" cy="22989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20655F-06C9-2A3C-F412-5B4F3D2DC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3959" y="338830"/>
            <a:ext cx="2880000" cy="2281471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6CF9474-509E-449E-B6DE-A3A7D3E002E0}"/>
              </a:ext>
            </a:extLst>
          </p:cNvPr>
          <p:cNvSpPr txBox="1">
            <a:spLocks/>
          </p:cNvSpPr>
          <p:nvPr/>
        </p:nvSpPr>
        <p:spPr>
          <a:xfrm>
            <a:off x="2844085" y="1301730"/>
            <a:ext cx="1320085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152400" indent="0">
              <a:buNone/>
            </a:pPr>
            <a:r>
              <a:rPr lang="en-US" dirty="0">
                <a:solidFill>
                  <a:schemeClr val="tx1"/>
                </a:solidFill>
              </a:rPr>
              <a:t>Explicit </a:t>
            </a:r>
            <a:r>
              <a:rPr lang="en-US" dirty="0" err="1">
                <a:solidFill>
                  <a:schemeClr val="tx1"/>
                </a:solidFill>
              </a:rPr>
              <a:t>euler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1DA1620-2E73-0CBF-A892-492C980D4ACF}"/>
              </a:ext>
            </a:extLst>
          </p:cNvPr>
          <p:cNvSpPr txBox="1">
            <a:spLocks/>
          </p:cNvSpPr>
          <p:nvPr/>
        </p:nvSpPr>
        <p:spPr>
          <a:xfrm>
            <a:off x="2844085" y="3948692"/>
            <a:ext cx="1320085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152400" indent="0">
              <a:buNone/>
            </a:pPr>
            <a:r>
              <a:rPr lang="en-US" dirty="0">
                <a:solidFill>
                  <a:schemeClr val="tx1"/>
                </a:solidFill>
              </a:rPr>
              <a:t>RK4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6AA6716-E07C-CB7F-5356-0B23D848ECD9}"/>
              </a:ext>
            </a:extLst>
          </p:cNvPr>
          <p:cNvSpPr txBox="1">
            <a:spLocks/>
          </p:cNvSpPr>
          <p:nvPr/>
        </p:nvSpPr>
        <p:spPr>
          <a:xfrm>
            <a:off x="7323705" y="1029127"/>
            <a:ext cx="1320085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152400" indent="0">
              <a:buNone/>
            </a:pPr>
            <a:r>
              <a:rPr lang="en-US" dirty="0">
                <a:solidFill>
                  <a:schemeClr val="tx1"/>
                </a:solidFill>
              </a:rPr>
              <a:t>Implicit </a:t>
            </a:r>
            <a:r>
              <a:rPr lang="en-US" dirty="0" err="1">
                <a:solidFill>
                  <a:schemeClr val="tx1"/>
                </a:solidFill>
              </a:rPr>
              <a:t>euler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DB00A2D-5920-ED0E-3F90-D92B89837E6E}"/>
              </a:ext>
            </a:extLst>
          </p:cNvPr>
          <p:cNvSpPr txBox="1">
            <a:spLocks/>
          </p:cNvSpPr>
          <p:nvPr/>
        </p:nvSpPr>
        <p:spPr>
          <a:xfrm>
            <a:off x="7323705" y="3580870"/>
            <a:ext cx="1320085" cy="35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152400" indent="0">
              <a:buNone/>
            </a:pPr>
            <a:r>
              <a:rPr lang="en-US" dirty="0">
                <a:solidFill>
                  <a:schemeClr val="tx1"/>
                </a:solidFill>
              </a:rPr>
              <a:t>ETD1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59044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Pastel Company Profile by Slidesgo">
  <a:themeElements>
    <a:clrScheme name="Simple Light">
      <a:dk1>
        <a:srgbClr val="36502A"/>
      </a:dk1>
      <a:lt1>
        <a:srgbClr val="F9FDF8"/>
      </a:lt1>
      <a:dk2>
        <a:srgbClr val="E0F0DA"/>
      </a:dk2>
      <a:lt2>
        <a:srgbClr val="B6D7A8"/>
      </a:lt2>
      <a:accent1>
        <a:srgbClr val="38761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6502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491</Words>
  <Application>Microsoft Office PowerPoint</Application>
  <PresentationFormat>On-screen Show (16:9)</PresentationFormat>
  <Paragraphs>65</Paragraphs>
  <Slides>20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Nunito Light</vt:lpstr>
      <vt:lpstr>Arial</vt:lpstr>
      <vt:lpstr>Cambria Math</vt:lpstr>
      <vt:lpstr>Geologica</vt:lpstr>
      <vt:lpstr>Actor</vt:lpstr>
      <vt:lpstr>Figtree</vt:lpstr>
      <vt:lpstr>Open Sans</vt:lpstr>
      <vt:lpstr>Simple Pastel Company Profile by Slidesgo</vt:lpstr>
      <vt:lpstr>Equation</vt:lpstr>
      <vt:lpstr>Numerical Modeling of Control Rod Reactivity in the Kartini Research Reactor Using Differential Rod Worth Functions</vt:lpstr>
      <vt:lpstr>Kinematic Equations of the Kartini Reactor</vt:lpstr>
      <vt:lpstr>Kinematic Equations of the Kartini Reactor</vt:lpstr>
      <vt:lpstr>Reactivity Model with Control Rod Position</vt:lpstr>
      <vt:lpstr>Reactivity Model Approach with Control Rod Position</vt:lpstr>
      <vt:lpstr>Solve Kinematic Reactor Differential Equations</vt:lpstr>
      <vt:lpstr>Speed Of The Control Rod Regulating The Kartini Reactor</vt:lpstr>
      <vt:lpstr>Speed Of The Control Rod Regulating The Kartini Reactor</vt:lpstr>
      <vt:lpstr>Solve Kinematic Reactor Differential Equations using Explicit Euler Method </vt:lpstr>
      <vt:lpstr>Solve Kinematic Reactor Differential Equations using Explicit Euler Method </vt:lpstr>
      <vt:lpstr>Solve Kinematic Reactor Differential Equations using Explicit Euler Method with Temperature Feedback </vt:lpstr>
      <vt:lpstr>PowerPoint Presentation</vt:lpstr>
      <vt:lpstr>Solve Kinematic Reactor Differential Equations using Implicit Euler Method with Temperature Feedback </vt:lpstr>
      <vt:lpstr>Solve Kinematic Reactor Differential Equations using Implicit Euler Method with Temperature Feedback </vt:lpstr>
      <vt:lpstr>Solve Kinematic Reactor Differential Equations using Runge-Kutta 4th Method with Temperature Feedback </vt:lpstr>
      <vt:lpstr>PowerPoint Presentation</vt:lpstr>
      <vt:lpstr>Solve Kinematic Reactor Differential Equations using Exponential Time Differencing (ETD) 1st Method with Temperature Feedback </vt:lpstr>
      <vt:lpstr>Solve Kinematic Reactor Differential Equations using Exponential Time Differencing (ETD) 1st Method with Temperature Feedback </vt:lpstr>
      <vt:lpstr>Compare all method in neutron density</vt:lpstr>
      <vt:lpstr>h=0.05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asus ROG</cp:lastModifiedBy>
  <cp:revision>19</cp:revision>
  <dcterms:modified xsi:type="dcterms:W3CDTF">2026-02-26T07:55:03Z</dcterms:modified>
</cp:coreProperties>
</file>