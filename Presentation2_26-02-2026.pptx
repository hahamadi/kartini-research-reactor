
<file path=[Content_Types].xml><?xml version="1.0" encoding="utf-8"?>
<Types xmlns="http://schemas.openxmlformats.org/package/2006/content-types">
  <Default Extension="bin" ContentType="application/vnd.openxmlformats-officedocument.oleObject"/>
  <Default Extension="fntdata" ContentType="application/x-fontdata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2" r:id="rId1"/>
  </p:sldMasterIdLst>
  <p:notesMasterIdLst>
    <p:notesMasterId r:id="rId22"/>
  </p:notesMasterIdLst>
  <p:sldIdLst>
    <p:sldId id="256" r:id="rId2"/>
    <p:sldId id="296" r:id="rId3"/>
    <p:sldId id="297" r:id="rId4"/>
    <p:sldId id="298" r:id="rId5"/>
    <p:sldId id="299" r:id="rId6"/>
    <p:sldId id="301" r:id="rId7"/>
    <p:sldId id="302" r:id="rId8"/>
    <p:sldId id="303" r:id="rId9"/>
    <p:sldId id="304" r:id="rId10"/>
    <p:sldId id="305" r:id="rId11"/>
    <p:sldId id="306" r:id="rId12"/>
    <p:sldId id="307" r:id="rId13"/>
    <p:sldId id="308" r:id="rId14"/>
    <p:sldId id="309" r:id="rId15"/>
    <p:sldId id="310" r:id="rId16"/>
    <p:sldId id="311" r:id="rId17"/>
    <p:sldId id="312" r:id="rId18"/>
    <p:sldId id="313" r:id="rId19"/>
    <p:sldId id="314" r:id="rId20"/>
    <p:sldId id="315" r:id="rId21"/>
  </p:sldIdLst>
  <p:sldSz cx="9144000" cy="5143500" type="screen16x9"/>
  <p:notesSz cx="6858000" cy="9144000"/>
  <p:embeddedFontLst>
    <p:embeddedFont>
      <p:font typeface="Actor" panose="020B0604020202020204" charset="0"/>
      <p:regular r:id="rId23"/>
    </p:embeddedFont>
    <p:embeddedFont>
      <p:font typeface="Cambria Math" panose="02040503050406030204" pitchFamily="18" charset="0"/>
      <p:regular r:id="rId24"/>
    </p:embeddedFont>
    <p:embeddedFont>
      <p:font typeface="Figtree" pitchFamily="2" charset="0"/>
      <p:regular r:id="rId25"/>
      <p:bold r:id="rId26"/>
      <p:italic r:id="rId27"/>
      <p:boldItalic r:id="rId28"/>
    </p:embeddedFont>
    <p:embeddedFont>
      <p:font typeface="Geologica" panose="020B0604020202020204" charset="0"/>
      <p:regular r:id="rId29"/>
      <p:bold r:id="rId30"/>
    </p:embeddedFont>
    <p:embeddedFont>
      <p:font typeface="Nunito Light" pitchFamily="2" charset="0"/>
      <p:regular r:id="rId31"/>
      <p:italic r:id="rId32"/>
    </p:embeddedFont>
    <p:embeddedFont>
      <p:font typeface="Open Sans" panose="020B0606030504020204" pitchFamily="34" charset="0"/>
      <p:regular r:id="rId33"/>
      <p:bold r:id="rId34"/>
      <p:italic r:id="rId35"/>
      <p:boldItalic r:id="rId3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952BC47-DEB5-42AE-B508-9AF749495DB4}">
  <a:tblStyle styleId="{F952BC47-DEB5-42AE-B508-9AF749495DB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8D8F93B5-1F1F-4D79-8392-977954BB6DA0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9" d="100"/>
          <a:sy n="119" d="100"/>
        </p:scale>
        <p:origin x="418" y="9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4.fntdata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font" Target="fonts/font12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3.fntdata"/><Relationship Id="rId33" Type="http://schemas.openxmlformats.org/officeDocument/2006/relationships/font" Target="fonts/font11.fntdata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7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2.fntdata"/><Relationship Id="rId32" Type="http://schemas.openxmlformats.org/officeDocument/2006/relationships/font" Target="fonts/font10.fntdata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1.fntdata"/><Relationship Id="rId28" Type="http://schemas.openxmlformats.org/officeDocument/2006/relationships/font" Target="fonts/font6.fntdata"/><Relationship Id="rId36" Type="http://schemas.openxmlformats.org/officeDocument/2006/relationships/font" Target="fonts/font14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9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openxmlformats.org/officeDocument/2006/relationships/font" Target="fonts/font5.fntdata"/><Relationship Id="rId30" Type="http://schemas.openxmlformats.org/officeDocument/2006/relationships/font" Target="fonts/font8.fntdata"/><Relationship Id="rId35" Type="http://schemas.openxmlformats.org/officeDocument/2006/relationships/font" Target="fonts/font13.fntdata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g4dfce81f19_0_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7" name="Google Shape;197;g4dfce81f19_0_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l-GR" dirty="0"/>
                  <a:t>ρ</a:t>
                </a:r>
                <a:r>
                  <a:rPr lang="en-ID" dirty="0"/>
                  <a:t>rod​(t): </a:t>
                </a:r>
                <a:r>
                  <a:rPr lang="en-ID" dirty="0" err="1"/>
                  <a:t>reaktivitas</a:t>
                </a:r>
                <a:r>
                  <a:rPr lang="en-ID" dirty="0"/>
                  <a:t> </a:t>
                </a:r>
                <a:r>
                  <a:rPr lang="en-ID" dirty="0" err="1"/>
                  <a:t>dari</a:t>
                </a:r>
                <a:r>
                  <a:rPr lang="en-ID" dirty="0"/>
                  <a:t> </a:t>
                </a:r>
                <a:r>
                  <a:rPr lang="en-ID" dirty="0" err="1"/>
                  <a:t>batang</a:t>
                </a:r>
                <a:r>
                  <a:rPr lang="en-ID" dirty="0"/>
                  <a:t> (</a:t>
                </a:r>
                <a:r>
                  <a:rPr lang="en-ID" dirty="0" err="1"/>
                  <a:t>hasil</a:t>
                </a:r>
                <a:r>
                  <a:rPr lang="en-ID" dirty="0"/>
                  <a:t> model worth </a:t>
                </a:r>
                <a:r>
                  <a:rPr lang="en-ID" dirty="0" err="1"/>
                  <a:t>kamu</a:t>
                </a:r>
                <a:r>
                  <a:rPr lang="en-ID" dirty="0"/>
                  <a:t>, </a:t>
                </a:r>
                <a:r>
                  <a:rPr lang="en-ID" dirty="0" err="1"/>
                  <a:t>dalam</a:t>
                </a:r>
                <a:r>
                  <a:rPr lang="en-ID" dirty="0"/>
                  <a:t> </a:t>
                </a:r>
                <a:r>
                  <a:rPr lang="en-ID" b="1" dirty="0" err="1"/>
                  <a:t>absolut</a:t>
                </a:r>
                <a:r>
                  <a:rPr lang="en-ID" dirty="0"/>
                  <a:t>)</a:t>
                </a:r>
              </a:p>
              <a:p>
                <a:r>
                  <a:rPr lang="sv-SE" dirty="0"/>
                  <a:t>T(t): temperatur bahan bakar (atau temperatur efektif teras)</a:t>
                </a:r>
              </a:p>
              <a:p>
                <a:r>
                  <a:rPr lang="en-ID" dirty="0"/>
                  <a:t>T0​: </a:t>
                </a:r>
                <a:r>
                  <a:rPr lang="en-ID" dirty="0" err="1"/>
                  <a:t>temperatur</a:t>
                </a:r>
                <a:r>
                  <a:rPr lang="en-ID" dirty="0"/>
                  <a:t> </a:t>
                </a:r>
                <a:r>
                  <a:rPr lang="en-ID" dirty="0" err="1"/>
                  <a:t>awal</a:t>
                </a:r>
                <a:endParaRPr lang="en-ID" dirty="0"/>
              </a:p>
              <a:p>
                <a:r>
                  <a:rPr lang="en-ID" dirty="0"/>
                  <a:t>a: </a:t>
                </a:r>
                <a:r>
                  <a:rPr lang="en-ID" dirty="0" err="1"/>
                  <a:t>konversi</a:t>
                </a:r>
                <a:r>
                  <a:rPr lang="en-ID" dirty="0"/>
                  <a:t> </a:t>
                </a:r>
                <a:r>
                  <a:rPr lang="en-ID" dirty="0" err="1"/>
                  <a:t>daya</a:t>
                </a:r>
                <a:r>
                  <a:rPr lang="en-ID" dirty="0"/>
                  <a:t> </a:t>
                </a:r>
                <a:r>
                  <a:rPr lang="en-ID" dirty="0" err="1"/>
                  <a:t>relatif</a:t>
                </a:r>
                <a:r>
                  <a:rPr lang="en-ID" dirty="0"/>
                  <a:t> → </a:t>
                </a:r>
                <a:r>
                  <a:rPr lang="en-ID" dirty="0" err="1"/>
                  <a:t>kenaikan</a:t>
                </a:r>
                <a:r>
                  <a:rPr lang="en-ID" dirty="0"/>
                  <a:t> </a:t>
                </a:r>
                <a:r>
                  <a:rPr lang="en-ID" dirty="0" err="1"/>
                  <a:t>suhu</a:t>
                </a:r>
                <a:r>
                  <a:rPr lang="en-ID" dirty="0"/>
                  <a:t> (K/s per unit n)</a:t>
                </a:r>
              </a:p>
              <a:p>
                <a14:m>
                  <m:oMath xmlns:m="http://schemas.openxmlformats.org/officeDocument/2006/math">
                    <m:r>
                      <a:rPr lang="en-ID" sz="1100" b="0" i="1" u="none" strike="noStrike" cap="none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𝑏</m:t>
                    </m:r>
                  </m:oMath>
                </a14:m>
                <a:r>
                  <a:rPr lang="en-ID" dirty="0"/>
                  <a:t>: </a:t>
                </a:r>
                <a:r>
                  <a:rPr lang="en-ID" dirty="0" err="1"/>
                  <a:t>pendinginan</a:t>
                </a:r>
                <a:r>
                  <a:rPr lang="en-ID" dirty="0"/>
                  <a:t> </a:t>
                </a:r>
                <a:r>
                  <a:rPr lang="en-ID" dirty="0" err="1"/>
                  <a:t>ke</a:t>
                </a:r>
                <a:r>
                  <a:rPr lang="en-ID" dirty="0"/>
                  <a:t> </a:t>
                </a:r>
                <a:r>
                  <a:rPr lang="en-ID" dirty="0" err="1"/>
                  <a:t>lingkungan</a:t>
                </a:r>
                <a:r>
                  <a:rPr lang="en-ID" dirty="0"/>
                  <a:t> (1/s)</a:t>
                </a:r>
              </a:p>
              <a:p>
                <a:endParaRPr lang="en-ID" dirty="0"/>
              </a:p>
            </p:txBody>
          </p:sp>
        </mc:Choice>
        <mc:Fallback xmlns="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l-GR" dirty="0"/>
                  <a:t>ρ</a:t>
                </a:r>
                <a:r>
                  <a:rPr lang="en-ID" dirty="0"/>
                  <a:t>rod​(t): </a:t>
                </a:r>
                <a:r>
                  <a:rPr lang="en-ID" dirty="0" err="1"/>
                  <a:t>reaktivitas</a:t>
                </a:r>
                <a:r>
                  <a:rPr lang="en-ID" dirty="0"/>
                  <a:t> </a:t>
                </a:r>
                <a:r>
                  <a:rPr lang="en-ID" dirty="0" err="1"/>
                  <a:t>dari</a:t>
                </a:r>
                <a:r>
                  <a:rPr lang="en-ID" dirty="0"/>
                  <a:t> </a:t>
                </a:r>
                <a:r>
                  <a:rPr lang="en-ID" dirty="0" err="1"/>
                  <a:t>batang</a:t>
                </a:r>
                <a:r>
                  <a:rPr lang="en-ID" dirty="0"/>
                  <a:t> (</a:t>
                </a:r>
                <a:r>
                  <a:rPr lang="en-ID" dirty="0" err="1"/>
                  <a:t>hasil</a:t>
                </a:r>
                <a:r>
                  <a:rPr lang="en-ID" dirty="0"/>
                  <a:t> model worth </a:t>
                </a:r>
                <a:r>
                  <a:rPr lang="en-ID" dirty="0" err="1"/>
                  <a:t>kamu</a:t>
                </a:r>
                <a:r>
                  <a:rPr lang="en-ID" dirty="0"/>
                  <a:t>, </a:t>
                </a:r>
                <a:r>
                  <a:rPr lang="en-ID" dirty="0" err="1"/>
                  <a:t>dalam</a:t>
                </a:r>
                <a:r>
                  <a:rPr lang="en-ID" dirty="0"/>
                  <a:t> </a:t>
                </a:r>
                <a:r>
                  <a:rPr lang="en-ID" b="1" dirty="0" err="1"/>
                  <a:t>absolut</a:t>
                </a:r>
                <a:r>
                  <a:rPr lang="en-ID" dirty="0"/>
                  <a:t>)</a:t>
                </a:r>
              </a:p>
              <a:p>
                <a:r>
                  <a:rPr lang="sv-SE" dirty="0"/>
                  <a:t>T(t): temperatur bahan bakar (atau temperatur efektif teras)</a:t>
                </a:r>
              </a:p>
              <a:p>
                <a:r>
                  <a:rPr lang="en-ID" dirty="0"/>
                  <a:t>T0​: </a:t>
                </a:r>
                <a:r>
                  <a:rPr lang="en-ID" dirty="0" err="1"/>
                  <a:t>temperatur</a:t>
                </a:r>
                <a:r>
                  <a:rPr lang="en-ID" dirty="0"/>
                  <a:t> </a:t>
                </a:r>
                <a:r>
                  <a:rPr lang="en-ID" dirty="0" err="1"/>
                  <a:t>awal</a:t>
                </a:r>
                <a:endParaRPr lang="en-ID" dirty="0"/>
              </a:p>
              <a:p>
                <a:r>
                  <a:rPr lang="en-ID" dirty="0"/>
                  <a:t>a: </a:t>
                </a:r>
                <a:r>
                  <a:rPr lang="en-ID" dirty="0" err="1"/>
                  <a:t>konversi</a:t>
                </a:r>
                <a:r>
                  <a:rPr lang="en-ID" dirty="0"/>
                  <a:t> </a:t>
                </a:r>
                <a:r>
                  <a:rPr lang="en-ID" dirty="0" err="1"/>
                  <a:t>daya</a:t>
                </a:r>
                <a:r>
                  <a:rPr lang="en-ID" dirty="0"/>
                  <a:t> </a:t>
                </a:r>
                <a:r>
                  <a:rPr lang="en-ID" dirty="0" err="1"/>
                  <a:t>relatif</a:t>
                </a:r>
                <a:r>
                  <a:rPr lang="en-ID" dirty="0"/>
                  <a:t> → </a:t>
                </a:r>
                <a:r>
                  <a:rPr lang="en-ID" dirty="0" err="1"/>
                  <a:t>kenaikan</a:t>
                </a:r>
                <a:r>
                  <a:rPr lang="en-ID" dirty="0"/>
                  <a:t> </a:t>
                </a:r>
                <a:r>
                  <a:rPr lang="en-ID" dirty="0" err="1"/>
                  <a:t>suhu</a:t>
                </a:r>
                <a:r>
                  <a:rPr lang="en-ID" dirty="0"/>
                  <a:t> (K/s per unit n)</a:t>
                </a:r>
              </a:p>
              <a:p>
                <a:r>
                  <a:rPr lang="en-ID" sz="11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rPr>
                  <a:t>𝑏</a:t>
                </a:r>
                <a:r>
                  <a:rPr lang="en-ID" dirty="0"/>
                  <a:t>: </a:t>
                </a:r>
                <a:r>
                  <a:rPr lang="en-ID" dirty="0" err="1"/>
                  <a:t>pendinginan</a:t>
                </a:r>
                <a:r>
                  <a:rPr lang="en-ID" dirty="0"/>
                  <a:t> </a:t>
                </a:r>
                <a:r>
                  <a:rPr lang="en-ID" dirty="0" err="1"/>
                  <a:t>ke</a:t>
                </a:r>
                <a:r>
                  <a:rPr lang="en-ID" dirty="0"/>
                  <a:t> </a:t>
                </a:r>
                <a:r>
                  <a:rPr lang="en-ID" dirty="0" err="1"/>
                  <a:t>lingkungan</a:t>
                </a:r>
                <a:r>
                  <a:rPr lang="en-ID" dirty="0"/>
                  <a:t> (1/s)</a:t>
                </a:r>
              </a:p>
              <a:p>
                <a:endParaRPr lang="en-ID" dirty="0"/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4022240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303857424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-63200" y="-34100"/>
            <a:ext cx="9251100" cy="37749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713225" y="1301875"/>
            <a:ext cx="5331900" cy="1410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45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713225" y="2753250"/>
            <a:ext cx="4528800" cy="414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"/>
          <p:cNvSpPr/>
          <p:nvPr/>
        </p:nvSpPr>
        <p:spPr>
          <a:xfrm>
            <a:off x="-63200" y="-34100"/>
            <a:ext cx="9251100" cy="4638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720000" y="1190414"/>
            <a:ext cx="7704000" cy="35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/>
            </a:lvl1pPr>
            <a:lvl2pPr marL="914400" lvl="1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○"/>
              <a:defRPr/>
            </a:lvl2pPr>
            <a:lvl3pPr marL="1371600" lvl="2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■"/>
              <a:defRPr/>
            </a:lvl3pPr>
            <a:lvl4pPr marL="1828800" lvl="3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/>
            </a:lvl4pPr>
            <a:lvl5pPr marL="2286000" lvl="4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○"/>
              <a:defRPr/>
            </a:lvl5pPr>
            <a:lvl6pPr marL="2743200" lvl="5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■"/>
              <a:defRPr/>
            </a:lvl6pPr>
            <a:lvl7pPr marL="3200400" lvl="6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/>
            </a:lvl7pPr>
            <a:lvl8pPr marL="3657600" lvl="7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○"/>
              <a:defRPr/>
            </a:lvl8pPr>
            <a:lvl9pPr marL="4114800" lvl="8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solidFill>
          <a:schemeClr val="dk2"/>
        </a:solidFill>
        <a:effectLst/>
      </p:bgPr>
    </p:bg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8"/>
          <p:cNvSpPr/>
          <p:nvPr/>
        </p:nvSpPr>
        <p:spPr>
          <a:xfrm>
            <a:off x="5476950" y="3234750"/>
            <a:ext cx="1233000" cy="1233000"/>
          </a:xfrm>
          <a:prstGeom prst="donut">
            <a:avLst>
              <a:gd name="adj" fmla="val 25000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Actor"/>
              <a:ea typeface="Actor"/>
              <a:cs typeface="Actor"/>
              <a:sym typeface="Actor"/>
            </a:endParaRPr>
          </a:p>
        </p:txBody>
      </p:sp>
      <p:sp>
        <p:nvSpPr>
          <p:cNvPr id="36" name="Google Shape;36;p8"/>
          <p:cNvSpPr/>
          <p:nvPr/>
        </p:nvSpPr>
        <p:spPr>
          <a:xfrm>
            <a:off x="0" y="1270625"/>
            <a:ext cx="7203600" cy="2563500"/>
          </a:xfrm>
          <a:prstGeom prst="rect">
            <a:avLst/>
          </a:prstGeom>
          <a:solidFill>
            <a:srgbClr val="F9FDF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grpSp>
        <p:nvGrpSpPr>
          <p:cNvPr id="37" name="Google Shape;37;p8"/>
          <p:cNvGrpSpPr/>
          <p:nvPr/>
        </p:nvGrpSpPr>
        <p:grpSpPr>
          <a:xfrm rot="5400000">
            <a:off x="5087575" y="-168435"/>
            <a:ext cx="615152" cy="2716009"/>
            <a:chOff x="6482900" y="1354425"/>
            <a:chExt cx="235600" cy="1829825"/>
          </a:xfrm>
        </p:grpSpPr>
        <p:sp>
          <p:nvSpPr>
            <p:cNvPr id="38" name="Google Shape;38;p8"/>
            <p:cNvSpPr/>
            <p:nvPr/>
          </p:nvSpPr>
          <p:spPr>
            <a:xfrm>
              <a:off x="6482900" y="1354425"/>
              <a:ext cx="235600" cy="247750"/>
            </a:xfrm>
            <a:custGeom>
              <a:avLst/>
              <a:gdLst/>
              <a:ahLst/>
              <a:cxnLst/>
              <a:rect l="l" t="t" r="r" b="b"/>
              <a:pathLst>
                <a:path w="9424" h="9910" extrusionOk="0">
                  <a:moveTo>
                    <a:pt x="1" y="0"/>
                  </a:moveTo>
                  <a:lnTo>
                    <a:pt x="1" y="517"/>
                  </a:lnTo>
                  <a:lnTo>
                    <a:pt x="9424" y="9909"/>
                  </a:lnTo>
                  <a:lnTo>
                    <a:pt x="9424" y="9362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dk1"/>
            </a:solidFill>
            <a:ln w="1905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" name="Google Shape;39;p8"/>
            <p:cNvSpPr/>
            <p:nvPr/>
          </p:nvSpPr>
          <p:spPr>
            <a:xfrm>
              <a:off x="6482900" y="1476000"/>
              <a:ext cx="235600" cy="247750"/>
            </a:xfrm>
            <a:custGeom>
              <a:avLst/>
              <a:gdLst/>
              <a:ahLst/>
              <a:cxnLst/>
              <a:rect l="l" t="t" r="r" b="b"/>
              <a:pathLst>
                <a:path w="9424" h="9910" extrusionOk="0">
                  <a:moveTo>
                    <a:pt x="1" y="0"/>
                  </a:moveTo>
                  <a:lnTo>
                    <a:pt x="1" y="517"/>
                  </a:lnTo>
                  <a:lnTo>
                    <a:pt x="9424" y="9909"/>
                  </a:lnTo>
                  <a:lnTo>
                    <a:pt x="9424" y="9362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dk1"/>
            </a:solidFill>
            <a:ln w="1905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" name="Google Shape;40;p8"/>
            <p:cNvSpPr/>
            <p:nvPr/>
          </p:nvSpPr>
          <p:spPr>
            <a:xfrm>
              <a:off x="6482900" y="1597575"/>
              <a:ext cx="235600" cy="248500"/>
            </a:xfrm>
            <a:custGeom>
              <a:avLst/>
              <a:gdLst/>
              <a:ahLst/>
              <a:cxnLst/>
              <a:rect l="l" t="t" r="r" b="b"/>
              <a:pathLst>
                <a:path w="9424" h="9940" extrusionOk="0">
                  <a:moveTo>
                    <a:pt x="1" y="1"/>
                  </a:moveTo>
                  <a:lnTo>
                    <a:pt x="1" y="517"/>
                  </a:lnTo>
                  <a:lnTo>
                    <a:pt x="9424" y="9940"/>
                  </a:lnTo>
                  <a:lnTo>
                    <a:pt x="9424" y="9362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 w="1905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" name="Google Shape;41;p8"/>
            <p:cNvSpPr/>
            <p:nvPr/>
          </p:nvSpPr>
          <p:spPr>
            <a:xfrm>
              <a:off x="6482900" y="1719150"/>
              <a:ext cx="235600" cy="248525"/>
            </a:xfrm>
            <a:custGeom>
              <a:avLst/>
              <a:gdLst/>
              <a:ahLst/>
              <a:cxnLst/>
              <a:rect l="l" t="t" r="r" b="b"/>
              <a:pathLst>
                <a:path w="9424" h="9941" extrusionOk="0">
                  <a:moveTo>
                    <a:pt x="1" y="1"/>
                  </a:moveTo>
                  <a:lnTo>
                    <a:pt x="1" y="518"/>
                  </a:lnTo>
                  <a:lnTo>
                    <a:pt x="9424" y="9940"/>
                  </a:lnTo>
                  <a:lnTo>
                    <a:pt x="9424" y="9363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 w="1905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" name="Google Shape;42;p8"/>
            <p:cNvSpPr/>
            <p:nvPr/>
          </p:nvSpPr>
          <p:spPr>
            <a:xfrm>
              <a:off x="6482900" y="1839975"/>
              <a:ext cx="235600" cy="249275"/>
            </a:xfrm>
            <a:custGeom>
              <a:avLst/>
              <a:gdLst/>
              <a:ahLst/>
              <a:cxnLst/>
              <a:rect l="l" t="t" r="r" b="b"/>
              <a:pathLst>
                <a:path w="9424" h="9971" extrusionOk="0">
                  <a:moveTo>
                    <a:pt x="1" y="1"/>
                  </a:moveTo>
                  <a:lnTo>
                    <a:pt x="1" y="548"/>
                  </a:lnTo>
                  <a:lnTo>
                    <a:pt x="9424" y="9971"/>
                  </a:lnTo>
                  <a:lnTo>
                    <a:pt x="9424" y="9454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 w="1905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" name="Google Shape;43;p8"/>
            <p:cNvSpPr/>
            <p:nvPr/>
          </p:nvSpPr>
          <p:spPr>
            <a:xfrm>
              <a:off x="6482900" y="1962325"/>
              <a:ext cx="235600" cy="248500"/>
            </a:xfrm>
            <a:custGeom>
              <a:avLst/>
              <a:gdLst/>
              <a:ahLst/>
              <a:cxnLst/>
              <a:rect l="l" t="t" r="r" b="b"/>
              <a:pathLst>
                <a:path w="9424" h="9940" extrusionOk="0">
                  <a:moveTo>
                    <a:pt x="1" y="1"/>
                  </a:moveTo>
                  <a:lnTo>
                    <a:pt x="1" y="517"/>
                  </a:lnTo>
                  <a:lnTo>
                    <a:pt x="9424" y="9940"/>
                  </a:lnTo>
                  <a:lnTo>
                    <a:pt x="9424" y="9423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 w="1905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Google Shape;44;p8"/>
            <p:cNvSpPr/>
            <p:nvPr/>
          </p:nvSpPr>
          <p:spPr>
            <a:xfrm>
              <a:off x="6482900" y="2083900"/>
              <a:ext cx="235600" cy="248525"/>
            </a:xfrm>
            <a:custGeom>
              <a:avLst/>
              <a:gdLst/>
              <a:ahLst/>
              <a:cxnLst/>
              <a:rect l="l" t="t" r="r" b="b"/>
              <a:pathLst>
                <a:path w="9424" h="9941" extrusionOk="0">
                  <a:moveTo>
                    <a:pt x="1" y="1"/>
                  </a:moveTo>
                  <a:lnTo>
                    <a:pt x="1" y="518"/>
                  </a:lnTo>
                  <a:lnTo>
                    <a:pt x="9424" y="9940"/>
                  </a:lnTo>
                  <a:lnTo>
                    <a:pt x="9424" y="9423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 w="1905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" name="Google Shape;45;p8"/>
            <p:cNvSpPr/>
            <p:nvPr/>
          </p:nvSpPr>
          <p:spPr>
            <a:xfrm>
              <a:off x="6482900" y="2205500"/>
              <a:ext cx="235600" cy="248500"/>
            </a:xfrm>
            <a:custGeom>
              <a:avLst/>
              <a:gdLst/>
              <a:ahLst/>
              <a:cxnLst/>
              <a:rect l="l" t="t" r="r" b="b"/>
              <a:pathLst>
                <a:path w="9424" h="9940" extrusionOk="0">
                  <a:moveTo>
                    <a:pt x="1" y="0"/>
                  </a:moveTo>
                  <a:lnTo>
                    <a:pt x="1" y="547"/>
                  </a:lnTo>
                  <a:lnTo>
                    <a:pt x="9424" y="9939"/>
                  </a:lnTo>
                  <a:lnTo>
                    <a:pt x="9424" y="9423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dk1"/>
            </a:solidFill>
            <a:ln w="1905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" name="Google Shape;46;p8"/>
            <p:cNvSpPr/>
            <p:nvPr/>
          </p:nvSpPr>
          <p:spPr>
            <a:xfrm>
              <a:off x="6482900" y="2327825"/>
              <a:ext cx="235600" cy="247750"/>
            </a:xfrm>
            <a:custGeom>
              <a:avLst/>
              <a:gdLst/>
              <a:ahLst/>
              <a:cxnLst/>
              <a:rect l="l" t="t" r="r" b="b"/>
              <a:pathLst>
                <a:path w="9424" h="9910" extrusionOk="0">
                  <a:moveTo>
                    <a:pt x="1" y="1"/>
                  </a:moveTo>
                  <a:lnTo>
                    <a:pt x="1" y="518"/>
                  </a:lnTo>
                  <a:lnTo>
                    <a:pt x="9424" y="9910"/>
                  </a:lnTo>
                  <a:lnTo>
                    <a:pt x="9424" y="9393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 w="1905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" name="Google Shape;47;p8"/>
            <p:cNvSpPr/>
            <p:nvPr/>
          </p:nvSpPr>
          <p:spPr>
            <a:xfrm>
              <a:off x="6482900" y="2449425"/>
              <a:ext cx="235600" cy="247750"/>
            </a:xfrm>
            <a:custGeom>
              <a:avLst/>
              <a:gdLst/>
              <a:ahLst/>
              <a:cxnLst/>
              <a:rect l="l" t="t" r="r" b="b"/>
              <a:pathLst>
                <a:path w="9424" h="9910" extrusionOk="0">
                  <a:moveTo>
                    <a:pt x="1" y="0"/>
                  </a:moveTo>
                  <a:lnTo>
                    <a:pt x="1" y="517"/>
                  </a:lnTo>
                  <a:lnTo>
                    <a:pt x="9424" y="9909"/>
                  </a:lnTo>
                  <a:lnTo>
                    <a:pt x="9424" y="9392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dk1"/>
            </a:solidFill>
            <a:ln w="1905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" name="Google Shape;48;p8"/>
            <p:cNvSpPr/>
            <p:nvPr/>
          </p:nvSpPr>
          <p:spPr>
            <a:xfrm>
              <a:off x="6482900" y="2571000"/>
              <a:ext cx="235600" cy="248500"/>
            </a:xfrm>
            <a:custGeom>
              <a:avLst/>
              <a:gdLst/>
              <a:ahLst/>
              <a:cxnLst/>
              <a:rect l="l" t="t" r="r" b="b"/>
              <a:pathLst>
                <a:path w="9424" h="9940" extrusionOk="0">
                  <a:moveTo>
                    <a:pt x="1" y="0"/>
                  </a:moveTo>
                  <a:lnTo>
                    <a:pt x="1" y="517"/>
                  </a:lnTo>
                  <a:lnTo>
                    <a:pt x="9424" y="9940"/>
                  </a:lnTo>
                  <a:lnTo>
                    <a:pt x="9424" y="9393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dk1"/>
            </a:solidFill>
            <a:ln w="1905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" name="Google Shape;49;p8"/>
            <p:cNvSpPr/>
            <p:nvPr/>
          </p:nvSpPr>
          <p:spPr>
            <a:xfrm>
              <a:off x="6482900" y="2692575"/>
              <a:ext cx="235600" cy="248525"/>
            </a:xfrm>
            <a:custGeom>
              <a:avLst/>
              <a:gdLst/>
              <a:ahLst/>
              <a:cxnLst/>
              <a:rect l="l" t="t" r="r" b="b"/>
              <a:pathLst>
                <a:path w="9424" h="9941" extrusionOk="0">
                  <a:moveTo>
                    <a:pt x="1" y="1"/>
                  </a:moveTo>
                  <a:lnTo>
                    <a:pt x="1" y="517"/>
                  </a:lnTo>
                  <a:lnTo>
                    <a:pt x="9424" y="9940"/>
                  </a:lnTo>
                  <a:lnTo>
                    <a:pt x="9424" y="9423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 w="1905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" name="Google Shape;50;p8"/>
            <p:cNvSpPr/>
            <p:nvPr/>
          </p:nvSpPr>
          <p:spPr>
            <a:xfrm>
              <a:off x="6482900" y="2814150"/>
              <a:ext cx="235600" cy="248525"/>
            </a:xfrm>
            <a:custGeom>
              <a:avLst/>
              <a:gdLst/>
              <a:ahLst/>
              <a:cxnLst/>
              <a:rect l="l" t="t" r="r" b="b"/>
              <a:pathLst>
                <a:path w="9424" h="9941" extrusionOk="0">
                  <a:moveTo>
                    <a:pt x="1" y="1"/>
                  </a:moveTo>
                  <a:lnTo>
                    <a:pt x="1" y="518"/>
                  </a:lnTo>
                  <a:lnTo>
                    <a:pt x="9424" y="9940"/>
                  </a:lnTo>
                  <a:lnTo>
                    <a:pt x="9424" y="9424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 w="1905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" name="Google Shape;51;p8"/>
            <p:cNvSpPr/>
            <p:nvPr/>
          </p:nvSpPr>
          <p:spPr>
            <a:xfrm>
              <a:off x="6482900" y="2935750"/>
              <a:ext cx="235600" cy="248500"/>
            </a:xfrm>
            <a:custGeom>
              <a:avLst/>
              <a:gdLst/>
              <a:ahLst/>
              <a:cxnLst/>
              <a:rect l="l" t="t" r="r" b="b"/>
              <a:pathLst>
                <a:path w="9424" h="9940" extrusionOk="0">
                  <a:moveTo>
                    <a:pt x="1" y="0"/>
                  </a:moveTo>
                  <a:lnTo>
                    <a:pt x="1" y="517"/>
                  </a:lnTo>
                  <a:lnTo>
                    <a:pt x="9424" y="9940"/>
                  </a:lnTo>
                  <a:lnTo>
                    <a:pt x="9424" y="9423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dk1"/>
            </a:solidFill>
            <a:ln w="1905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2" name="Google Shape;52;p8"/>
          <p:cNvSpPr txBox="1">
            <a:spLocks noGrp="1"/>
          </p:cNvSpPr>
          <p:nvPr>
            <p:ph type="title"/>
          </p:nvPr>
        </p:nvSpPr>
        <p:spPr>
          <a:xfrm>
            <a:off x="713225" y="1307100"/>
            <a:ext cx="4508100" cy="2529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bg>
      <p:bgPr>
        <a:solidFill>
          <a:schemeClr val="dk2"/>
        </a:solidFill>
        <a:effectLst/>
      </p:bgPr>
    </p:bg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9"/>
          <p:cNvSpPr/>
          <p:nvPr/>
        </p:nvSpPr>
        <p:spPr>
          <a:xfrm>
            <a:off x="513300" y="637825"/>
            <a:ext cx="1233000" cy="1233000"/>
          </a:xfrm>
          <a:prstGeom prst="donut">
            <a:avLst>
              <a:gd name="adj" fmla="val 25000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Actor"/>
              <a:ea typeface="Actor"/>
              <a:cs typeface="Actor"/>
              <a:sym typeface="Actor"/>
            </a:endParaRPr>
          </a:p>
        </p:txBody>
      </p:sp>
      <p:sp>
        <p:nvSpPr>
          <p:cNvPr id="55" name="Google Shape;55;p9"/>
          <p:cNvSpPr/>
          <p:nvPr/>
        </p:nvSpPr>
        <p:spPr>
          <a:xfrm>
            <a:off x="0" y="1270625"/>
            <a:ext cx="7203600" cy="2563500"/>
          </a:xfrm>
          <a:prstGeom prst="rect">
            <a:avLst/>
          </a:prstGeom>
          <a:solidFill>
            <a:srgbClr val="F9FDF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56" name="Google Shape;56;p9"/>
          <p:cNvSpPr txBox="1">
            <a:spLocks noGrp="1"/>
          </p:cNvSpPr>
          <p:nvPr>
            <p:ph type="title"/>
          </p:nvPr>
        </p:nvSpPr>
        <p:spPr>
          <a:xfrm>
            <a:off x="713225" y="1254000"/>
            <a:ext cx="4872900" cy="1964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subTitle" idx="1"/>
          </p:nvPr>
        </p:nvSpPr>
        <p:spPr>
          <a:xfrm>
            <a:off x="713225" y="3218400"/>
            <a:ext cx="4872900" cy="67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grpSp>
        <p:nvGrpSpPr>
          <p:cNvPr id="58" name="Google Shape;58;p9"/>
          <p:cNvGrpSpPr/>
          <p:nvPr/>
        </p:nvGrpSpPr>
        <p:grpSpPr>
          <a:xfrm rot="5400000">
            <a:off x="6598275" y="2486040"/>
            <a:ext cx="615152" cy="2716009"/>
            <a:chOff x="6482900" y="1354425"/>
            <a:chExt cx="235600" cy="1829825"/>
          </a:xfrm>
        </p:grpSpPr>
        <p:sp>
          <p:nvSpPr>
            <p:cNvPr id="59" name="Google Shape;59;p9"/>
            <p:cNvSpPr/>
            <p:nvPr/>
          </p:nvSpPr>
          <p:spPr>
            <a:xfrm>
              <a:off x="6482900" y="1354425"/>
              <a:ext cx="235600" cy="247750"/>
            </a:xfrm>
            <a:custGeom>
              <a:avLst/>
              <a:gdLst/>
              <a:ahLst/>
              <a:cxnLst/>
              <a:rect l="l" t="t" r="r" b="b"/>
              <a:pathLst>
                <a:path w="9424" h="9910" extrusionOk="0">
                  <a:moveTo>
                    <a:pt x="1" y="0"/>
                  </a:moveTo>
                  <a:lnTo>
                    <a:pt x="1" y="517"/>
                  </a:lnTo>
                  <a:lnTo>
                    <a:pt x="9424" y="9909"/>
                  </a:lnTo>
                  <a:lnTo>
                    <a:pt x="9424" y="9362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dk1"/>
            </a:solidFill>
            <a:ln w="1905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" name="Google Shape;60;p9"/>
            <p:cNvSpPr/>
            <p:nvPr/>
          </p:nvSpPr>
          <p:spPr>
            <a:xfrm>
              <a:off x="6482900" y="1476000"/>
              <a:ext cx="235600" cy="247750"/>
            </a:xfrm>
            <a:custGeom>
              <a:avLst/>
              <a:gdLst/>
              <a:ahLst/>
              <a:cxnLst/>
              <a:rect l="l" t="t" r="r" b="b"/>
              <a:pathLst>
                <a:path w="9424" h="9910" extrusionOk="0">
                  <a:moveTo>
                    <a:pt x="1" y="0"/>
                  </a:moveTo>
                  <a:lnTo>
                    <a:pt x="1" y="517"/>
                  </a:lnTo>
                  <a:lnTo>
                    <a:pt x="9424" y="9909"/>
                  </a:lnTo>
                  <a:lnTo>
                    <a:pt x="9424" y="9362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dk1"/>
            </a:solidFill>
            <a:ln w="1905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9"/>
            <p:cNvSpPr/>
            <p:nvPr/>
          </p:nvSpPr>
          <p:spPr>
            <a:xfrm>
              <a:off x="6482900" y="1597575"/>
              <a:ext cx="235600" cy="248500"/>
            </a:xfrm>
            <a:custGeom>
              <a:avLst/>
              <a:gdLst/>
              <a:ahLst/>
              <a:cxnLst/>
              <a:rect l="l" t="t" r="r" b="b"/>
              <a:pathLst>
                <a:path w="9424" h="9940" extrusionOk="0">
                  <a:moveTo>
                    <a:pt x="1" y="1"/>
                  </a:moveTo>
                  <a:lnTo>
                    <a:pt x="1" y="517"/>
                  </a:lnTo>
                  <a:lnTo>
                    <a:pt x="9424" y="9940"/>
                  </a:lnTo>
                  <a:lnTo>
                    <a:pt x="9424" y="9362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 w="1905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" name="Google Shape;62;p9"/>
            <p:cNvSpPr/>
            <p:nvPr/>
          </p:nvSpPr>
          <p:spPr>
            <a:xfrm>
              <a:off x="6482900" y="1719150"/>
              <a:ext cx="235600" cy="248525"/>
            </a:xfrm>
            <a:custGeom>
              <a:avLst/>
              <a:gdLst/>
              <a:ahLst/>
              <a:cxnLst/>
              <a:rect l="l" t="t" r="r" b="b"/>
              <a:pathLst>
                <a:path w="9424" h="9941" extrusionOk="0">
                  <a:moveTo>
                    <a:pt x="1" y="1"/>
                  </a:moveTo>
                  <a:lnTo>
                    <a:pt x="1" y="518"/>
                  </a:lnTo>
                  <a:lnTo>
                    <a:pt x="9424" y="9940"/>
                  </a:lnTo>
                  <a:lnTo>
                    <a:pt x="9424" y="9363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 w="1905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" name="Google Shape;63;p9"/>
            <p:cNvSpPr/>
            <p:nvPr/>
          </p:nvSpPr>
          <p:spPr>
            <a:xfrm>
              <a:off x="6482900" y="1839975"/>
              <a:ext cx="235600" cy="249275"/>
            </a:xfrm>
            <a:custGeom>
              <a:avLst/>
              <a:gdLst/>
              <a:ahLst/>
              <a:cxnLst/>
              <a:rect l="l" t="t" r="r" b="b"/>
              <a:pathLst>
                <a:path w="9424" h="9971" extrusionOk="0">
                  <a:moveTo>
                    <a:pt x="1" y="1"/>
                  </a:moveTo>
                  <a:lnTo>
                    <a:pt x="1" y="548"/>
                  </a:lnTo>
                  <a:lnTo>
                    <a:pt x="9424" y="9971"/>
                  </a:lnTo>
                  <a:lnTo>
                    <a:pt x="9424" y="9454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 w="1905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" name="Google Shape;64;p9"/>
            <p:cNvSpPr/>
            <p:nvPr/>
          </p:nvSpPr>
          <p:spPr>
            <a:xfrm>
              <a:off x="6482900" y="1962325"/>
              <a:ext cx="235600" cy="248500"/>
            </a:xfrm>
            <a:custGeom>
              <a:avLst/>
              <a:gdLst/>
              <a:ahLst/>
              <a:cxnLst/>
              <a:rect l="l" t="t" r="r" b="b"/>
              <a:pathLst>
                <a:path w="9424" h="9940" extrusionOk="0">
                  <a:moveTo>
                    <a:pt x="1" y="1"/>
                  </a:moveTo>
                  <a:lnTo>
                    <a:pt x="1" y="517"/>
                  </a:lnTo>
                  <a:lnTo>
                    <a:pt x="9424" y="9940"/>
                  </a:lnTo>
                  <a:lnTo>
                    <a:pt x="9424" y="9423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 w="1905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" name="Google Shape;65;p9"/>
            <p:cNvSpPr/>
            <p:nvPr/>
          </p:nvSpPr>
          <p:spPr>
            <a:xfrm>
              <a:off x="6482900" y="2083900"/>
              <a:ext cx="235600" cy="248525"/>
            </a:xfrm>
            <a:custGeom>
              <a:avLst/>
              <a:gdLst/>
              <a:ahLst/>
              <a:cxnLst/>
              <a:rect l="l" t="t" r="r" b="b"/>
              <a:pathLst>
                <a:path w="9424" h="9941" extrusionOk="0">
                  <a:moveTo>
                    <a:pt x="1" y="1"/>
                  </a:moveTo>
                  <a:lnTo>
                    <a:pt x="1" y="518"/>
                  </a:lnTo>
                  <a:lnTo>
                    <a:pt x="9424" y="9940"/>
                  </a:lnTo>
                  <a:lnTo>
                    <a:pt x="9424" y="9423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 w="1905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" name="Google Shape;66;p9"/>
            <p:cNvSpPr/>
            <p:nvPr/>
          </p:nvSpPr>
          <p:spPr>
            <a:xfrm>
              <a:off x="6482900" y="2205500"/>
              <a:ext cx="235600" cy="248500"/>
            </a:xfrm>
            <a:custGeom>
              <a:avLst/>
              <a:gdLst/>
              <a:ahLst/>
              <a:cxnLst/>
              <a:rect l="l" t="t" r="r" b="b"/>
              <a:pathLst>
                <a:path w="9424" h="9940" extrusionOk="0">
                  <a:moveTo>
                    <a:pt x="1" y="0"/>
                  </a:moveTo>
                  <a:lnTo>
                    <a:pt x="1" y="547"/>
                  </a:lnTo>
                  <a:lnTo>
                    <a:pt x="9424" y="9939"/>
                  </a:lnTo>
                  <a:lnTo>
                    <a:pt x="9424" y="9423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dk1"/>
            </a:solidFill>
            <a:ln w="1905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" name="Google Shape;67;p9"/>
            <p:cNvSpPr/>
            <p:nvPr/>
          </p:nvSpPr>
          <p:spPr>
            <a:xfrm>
              <a:off x="6482900" y="2327825"/>
              <a:ext cx="235600" cy="247750"/>
            </a:xfrm>
            <a:custGeom>
              <a:avLst/>
              <a:gdLst/>
              <a:ahLst/>
              <a:cxnLst/>
              <a:rect l="l" t="t" r="r" b="b"/>
              <a:pathLst>
                <a:path w="9424" h="9910" extrusionOk="0">
                  <a:moveTo>
                    <a:pt x="1" y="1"/>
                  </a:moveTo>
                  <a:lnTo>
                    <a:pt x="1" y="518"/>
                  </a:lnTo>
                  <a:lnTo>
                    <a:pt x="9424" y="9910"/>
                  </a:lnTo>
                  <a:lnTo>
                    <a:pt x="9424" y="9393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 w="1905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" name="Google Shape;68;p9"/>
            <p:cNvSpPr/>
            <p:nvPr/>
          </p:nvSpPr>
          <p:spPr>
            <a:xfrm>
              <a:off x="6482900" y="2449425"/>
              <a:ext cx="235600" cy="247750"/>
            </a:xfrm>
            <a:custGeom>
              <a:avLst/>
              <a:gdLst/>
              <a:ahLst/>
              <a:cxnLst/>
              <a:rect l="l" t="t" r="r" b="b"/>
              <a:pathLst>
                <a:path w="9424" h="9910" extrusionOk="0">
                  <a:moveTo>
                    <a:pt x="1" y="0"/>
                  </a:moveTo>
                  <a:lnTo>
                    <a:pt x="1" y="517"/>
                  </a:lnTo>
                  <a:lnTo>
                    <a:pt x="9424" y="9909"/>
                  </a:lnTo>
                  <a:lnTo>
                    <a:pt x="9424" y="9392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dk1"/>
            </a:solidFill>
            <a:ln w="1905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" name="Google Shape;69;p9"/>
            <p:cNvSpPr/>
            <p:nvPr/>
          </p:nvSpPr>
          <p:spPr>
            <a:xfrm>
              <a:off x="6482900" y="2571000"/>
              <a:ext cx="235600" cy="248500"/>
            </a:xfrm>
            <a:custGeom>
              <a:avLst/>
              <a:gdLst/>
              <a:ahLst/>
              <a:cxnLst/>
              <a:rect l="l" t="t" r="r" b="b"/>
              <a:pathLst>
                <a:path w="9424" h="9940" extrusionOk="0">
                  <a:moveTo>
                    <a:pt x="1" y="0"/>
                  </a:moveTo>
                  <a:lnTo>
                    <a:pt x="1" y="517"/>
                  </a:lnTo>
                  <a:lnTo>
                    <a:pt x="9424" y="9940"/>
                  </a:lnTo>
                  <a:lnTo>
                    <a:pt x="9424" y="9393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dk1"/>
            </a:solidFill>
            <a:ln w="1905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" name="Google Shape;70;p9"/>
            <p:cNvSpPr/>
            <p:nvPr/>
          </p:nvSpPr>
          <p:spPr>
            <a:xfrm>
              <a:off x="6482900" y="2692575"/>
              <a:ext cx="235600" cy="248525"/>
            </a:xfrm>
            <a:custGeom>
              <a:avLst/>
              <a:gdLst/>
              <a:ahLst/>
              <a:cxnLst/>
              <a:rect l="l" t="t" r="r" b="b"/>
              <a:pathLst>
                <a:path w="9424" h="9941" extrusionOk="0">
                  <a:moveTo>
                    <a:pt x="1" y="1"/>
                  </a:moveTo>
                  <a:lnTo>
                    <a:pt x="1" y="517"/>
                  </a:lnTo>
                  <a:lnTo>
                    <a:pt x="9424" y="9940"/>
                  </a:lnTo>
                  <a:lnTo>
                    <a:pt x="9424" y="9423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 w="1905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" name="Google Shape;71;p9"/>
            <p:cNvSpPr/>
            <p:nvPr/>
          </p:nvSpPr>
          <p:spPr>
            <a:xfrm>
              <a:off x="6482900" y="2814150"/>
              <a:ext cx="235600" cy="248525"/>
            </a:xfrm>
            <a:custGeom>
              <a:avLst/>
              <a:gdLst/>
              <a:ahLst/>
              <a:cxnLst/>
              <a:rect l="l" t="t" r="r" b="b"/>
              <a:pathLst>
                <a:path w="9424" h="9941" extrusionOk="0">
                  <a:moveTo>
                    <a:pt x="1" y="1"/>
                  </a:moveTo>
                  <a:lnTo>
                    <a:pt x="1" y="518"/>
                  </a:lnTo>
                  <a:lnTo>
                    <a:pt x="9424" y="9940"/>
                  </a:lnTo>
                  <a:lnTo>
                    <a:pt x="9424" y="9424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 w="1905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" name="Google Shape;72;p9"/>
            <p:cNvSpPr/>
            <p:nvPr/>
          </p:nvSpPr>
          <p:spPr>
            <a:xfrm>
              <a:off x="6482900" y="2935750"/>
              <a:ext cx="235600" cy="248500"/>
            </a:xfrm>
            <a:custGeom>
              <a:avLst/>
              <a:gdLst/>
              <a:ahLst/>
              <a:cxnLst/>
              <a:rect l="l" t="t" r="r" b="b"/>
              <a:pathLst>
                <a:path w="9424" h="9940" extrusionOk="0">
                  <a:moveTo>
                    <a:pt x="1" y="0"/>
                  </a:moveTo>
                  <a:lnTo>
                    <a:pt x="1" y="517"/>
                  </a:lnTo>
                  <a:lnTo>
                    <a:pt x="9424" y="9940"/>
                  </a:lnTo>
                  <a:lnTo>
                    <a:pt x="9424" y="9423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dk1"/>
            </a:solidFill>
            <a:ln w="1905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rgbClr val="FFFFFF"/>
        </a:solidFill>
        <a:effectLst/>
      </p:bgPr>
    </p:bg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9"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2"/>
          <p:cNvSpPr/>
          <p:nvPr/>
        </p:nvSpPr>
        <p:spPr>
          <a:xfrm>
            <a:off x="-550" y="-5725"/>
            <a:ext cx="8431200" cy="51435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Actor"/>
              <a:ea typeface="Actor"/>
              <a:cs typeface="Actor"/>
              <a:sym typeface="Actor"/>
            </a:endParaRPr>
          </a:p>
        </p:txBody>
      </p:sp>
      <p:grpSp>
        <p:nvGrpSpPr>
          <p:cNvPr id="157" name="Google Shape;157;p22"/>
          <p:cNvGrpSpPr/>
          <p:nvPr/>
        </p:nvGrpSpPr>
        <p:grpSpPr>
          <a:xfrm rot="10800000">
            <a:off x="8123200" y="1438915"/>
            <a:ext cx="615152" cy="2716009"/>
            <a:chOff x="6482900" y="1354425"/>
            <a:chExt cx="235600" cy="1829825"/>
          </a:xfrm>
        </p:grpSpPr>
        <p:sp>
          <p:nvSpPr>
            <p:cNvPr id="158" name="Google Shape;158;p22"/>
            <p:cNvSpPr/>
            <p:nvPr/>
          </p:nvSpPr>
          <p:spPr>
            <a:xfrm>
              <a:off x="6482900" y="1354425"/>
              <a:ext cx="235600" cy="247750"/>
            </a:xfrm>
            <a:custGeom>
              <a:avLst/>
              <a:gdLst/>
              <a:ahLst/>
              <a:cxnLst/>
              <a:rect l="l" t="t" r="r" b="b"/>
              <a:pathLst>
                <a:path w="9424" h="9910" extrusionOk="0">
                  <a:moveTo>
                    <a:pt x="1" y="0"/>
                  </a:moveTo>
                  <a:lnTo>
                    <a:pt x="1" y="517"/>
                  </a:lnTo>
                  <a:lnTo>
                    <a:pt x="9424" y="9909"/>
                  </a:lnTo>
                  <a:lnTo>
                    <a:pt x="9424" y="9362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dk1"/>
            </a:solidFill>
            <a:ln w="1905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" name="Google Shape;159;p22"/>
            <p:cNvSpPr/>
            <p:nvPr/>
          </p:nvSpPr>
          <p:spPr>
            <a:xfrm>
              <a:off x="6482900" y="1476000"/>
              <a:ext cx="235600" cy="247750"/>
            </a:xfrm>
            <a:custGeom>
              <a:avLst/>
              <a:gdLst/>
              <a:ahLst/>
              <a:cxnLst/>
              <a:rect l="l" t="t" r="r" b="b"/>
              <a:pathLst>
                <a:path w="9424" h="9910" extrusionOk="0">
                  <a:moveTo>
                    <a:pt x="1" y="0"/>
                  </a:moveTo>
                  <a:lnTo>
                    <a:pt x="1" y="517"/>
                  </a:lnTo>
                  <a:lnTo>
                    <a:pt x="9424" y="9909"/>
                  </a:lnTo>
                  <a:lnTo>
                    <a:pt x="9424" y="9362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dk1"/>
            </a:solidFill>
            <a:ln w="1905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" name="Google Shape;160;p22"/>
            <p:cNvSpPr/>
            <p:nvPr/>
          </p:nvSpPr>
          <p:spPr>
            <a:xfrm>
              <a:off x="6482900" y="1597575"/>
              <a:ext cx="235600" cy="248500"/>
            </a:xfrm>
            <a:custGeom>
              <a:avLst/>
              <a:gdLst/>
              <a:ahLst/>
              <a:cxnLst/>
              <a:rect l="l" t="t" r="r" b="b"/>
              <a:pathLst>
                <a:path w="9424" h="9940" extrusionOk="0">
                  <a:moveTo>
                    <a:pt x="1" y="1"/>
                  </a:moveTo>
                  <a:lnTo>
                    <a:pt x="1" y="517"/>
                  </a:lnTo>
                  <a:lnTo>
                    <a:pt x="9424" y="9940"/>
                  </a:lnTo>
                  <a:lnTo>
                    <a:pt x="9424" y="9362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 w="1905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" name="Google Shape;161;p22"/>
            <p:cNvSpPr/>
            <p:nvPr/>
          </p:nvSpPr>
          <p:spPr>
            <a:xfrm>
              <a:off x="6482900" y="1719150"/>
              <a:ext cx="235600" cy="248525"/>
            </a:xfrm>
            <a:custGeom>
              <a:avLst/>
              <a:gdLst/>
              <a:ahLst/>
              <a:cxnLst/>
              <a:rect l="l" t="t" r="r" b="b"/>
              <a:pathLst>
                <a:path w="9424" h="9941" extrusionOk="0">
                  <a:moveTo>
                    <a:pt x="1" y="1"/>
                  </a:moveTo>
                  <a:lnTo>
                    <a:pt x="1" y="518"/>
                  </a:lnTo>
                  <a:lnTo>
                    <a:pt x="9424" y="9940"/>
                  </a:lnTo>
                  <a:lnTo>
                    <a:pt x="9424" y="9363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 w="1905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" name="Google Shape;162;p22"/>
            <p:cNvSpPr/>
            <p:nvPr/>
          </p:nvSpPr>
          <p:spPr>
            <a:xfrm>
              <a:off x="6482900" y="1839975"/>
              <a:ext cx="235600" cy="249275"/>
            </a:xfrm>
            <a:custGeom>
              <a:avLst/>
              <a:gdLst/>
              <a:ahLst/>
              <a:cxnLst/>
              <a:rect l="l" t="t" r="r" b="b"/>
              <a:pathLst>
                <a:path w="9424" h="9971" extrusionOk="0">
                  <a:moveTo>
                    <a:pt x="1" y="1"/>
                  </a:moveTo>
                  <a:lnTo>
                    <a:pt x="1" y="548"/>
                  </a:lnTo>
                  <a:lnTo>
                    <a:pt x="9424" y="9971"/>
                  </a:lnTo>
                  <a:lnTo>
                    <a:pt x="9424" y="9454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 w="1905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" name="Google Shape;163;p22"/>
            <p:cNvSpPr/>
            <p:nvPr/>
          </p:nvSpPr>
          <p:spPr>
            <a:xfrm>
              <a:off x="6482900" y="1962325"/>
              <a:ext cx="235600" cy="248500"/>
            </a:xfrm>
            <a:custGeom>
              <a:avLst/>
              <a:gdLst/>
              <a:ahLst/>
              <a:cxnLst/>
              <a:rect l="l" t="t" r="r" b="b"/>
              <a:pathLst>
                <a:path w="9424" h="9940" extrusionOk="0">
                  <a:moveTo>
                    <a:pt x="1" y="1"/>
                  </a:moveTo>
                  <a:lnTo>
                    <a:pt x="1" y="517"/>
                  </a:lnTo>
                  <a:lnTo>
                    <a:pt x="9424" y="9940"/>
                  </a:lnTo>
                  <a:lnTo>
                    <a:pt x="9424" y="9423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 w="1905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" name="Google Shape;164;p22"/>
            <p:cNvSpPr/>
            <p:nvPr/>
          </p:nvSpPr>
          <p:spPr>
            <a:xfrm>
              <a:off x="6482900" y="2083900"/>
              <a:ext cx="235600" cy="248525"/>
            </a:xfrm>
            <a:custGeom>
              <a:avLst/>
              <a:gdLst/>
              <a:ahLst/>
              <a:cxnLst/>
              <a:rect l="l" t="t" r="r" b="b"/>
              <a:pathLst>
                <a:path w="9424" h="9941" extrusionOk="0">
                  <a:moveTo>
                    <a:pt x="1" y="1"/>
                  </a:moveTo>
                  <a:lnTo>
                    <a:pt x="1" y="518"/>
                  </a:lnTo>
                  <a:lnTo>
                    <a:pt x="9424" y="9940"/>
                  </a:lnTo>
                  <a:lnTo>
                    <a:pt x="9424" y="9423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 w="1905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" name="Google Shape;165;p22"/>
            <p:cNvSpPr/>
            <p:nvPr/>
          </p:nvSpPr>
          <p:spPr>
            <a:xfrm>
              <a:off x="6482900" y="2205500"/>
              <a:ext cx="235600" cy="248500"/>
            </a:xfrm>
            <a:custGeom>
              <a:avLst/>
              <a:gdLst/>
              <a:ahLst/>
              <a:cxnLst/>
              <a:rect l="l" t="t" r="r" b="b"/>
              <a:pathLst>
                <a:path w="9424" h="9940" extrusionOk="0">
                  <a:moveTo>
                    <a:pt x="1" y="0"/>
                  </a:moveTo>
                  <a:lnTo>
                    <a:pt x="1" y="547"/>
                  </a:lnTo>
                  <a:lnTo>
                    <a:pt x="9424" y="9939"/>
                  </a:lnTo>
                  <a:lnTo>
                    <a:pt x="9424" y="9423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dk1"/>
            </a:solidFill>
            <a:ln w="1905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" name="Google Shape;166;p22"/>
            <p:cNvSpPr/>
            <p:nvPr/>
          </p:nvSpPr>
          <p:spPr>
            <a:xfrm>
              <a:off x="6482900" y="2327825"/>
              <a:ext cx="235600" cy="247750"/>
            </a:xfrm>
            <a:custGeom>
              <a:avLst/>
              <a:gdLst/>
              <a:ahLst/>
              <a:cxnLst/>
              <a:rect l="l" t="t" r="r" b="b"/>
              <a:pathLst>
                <a:path w="9424" h="9910" extrusionOk="0">
                  <a:moveTo>
                    <a:pt x="1" y="1"/>
                  </a:moveTo>
                  <a:lnTo>
                    <a:pt x="1" y="518"/>
                  </a:lnTo>
                  <a:lnTo>
                    <a:pt x="9424" y="9910"/>
                  </a:lnTo>
                  <a:lnTo>
                    <a:pt x="9424" y="9393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 w="1905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" name="Google Shape;167;p22"/>
            <p:cNvSpPr/>
            <p:nvPr/>
          </p:nvSpPr>
          <p:spPr>
            <a:xfrm>
              <a:off x="6482900" y="2449425"/>
              <a:ext cx="235600" cy="247750"/>
            </a:xfrm>
            <a:custGeom>
              <a:avLst/>
              <a:gdLst/>
              <a:ahLst/>
              <a:cxnLst/>
              <a:rect l="l" t="t" r="r" b="b"/>
              <a:pathLst>
                <a:path w="9424" h="9910" extrusionOk="0">
                  <a:moveTo>
                    <a:pt x="1" y="0"/>
                  </a:moveTo>
                  <a:lnTo>
                    <a:pt x="1" y="517"/>
                  </a:lnTo>
                  <a:lnTo>
                    <a:pt x="9424" y="9909"/>
                  </a:lnTo>
                  <a:lnTo>
                    <a:pt x="9424" y="9392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dk1"/>
            </a:solidFill>
            <a:ln w="1905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" name="Google Shape;168;p22"/>
            <p:cNvSpPr/>
            <p:nvPr/>
          </p:nvSpPr>
          <p:spPr>
            <a:xfrm>
              <a:off x="6482900" y="2571000"/>
              <a:ext cx="235600" cy="248500"/>
            </a:xfrm>
            <a:custGeom>
              <a:avLst/>
              <a:gdLst/>
              <a:ahLst/>
              <a:cxnLst/>
              <a:rect l="l" t="t" r="r" b="b"/>
              <a:pathLst>
                <a:path w="9424" h="9940" extrusionOk="0">
                  <a:moveTo>
                    <a:pt x="1" y="0"/>
                  </a:moveTo>
                  <a:lnTo>
                    <a:pt x="1" y="517"/>
                  </a:lnTo>
                  <a:lnTo>
                    <a:pt x="9424" y="9940"/>
                  </a:lnTo>
                  <a:lnTo>
                    <a:pt x="9424" y="9393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dk1"/>
            </a:solidFill>
            <a:ln w="1905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" name="Google Shape;169;p22"/>
            <p:cNvSpPr/>
            <p:nvPr/>
          </p:nvSpPr>
          <p:spPr>
            <a:xfrm>
              <a:off x="6482900" y="2692575"/>
              <a:ext cx="235600" cy="248525"/>
            </a:xfrm>
            <a:custGeom>
              <a:avLst/>
              <a:gdLst/>
              <a:ahLst/>
              <a:cxnLst/>
              <a:rect l="l" t="t" r="r" b="b"/>
              <a:pathLst>
                <a:path w="9424" h="9941" extrusionOk="0">
                  <a:moveTo>
                    <a:pt x="1" y="1"/>
                  </a:moveTo>
                  <a:lnTo>
                    <a:pt x="1" y="517"/>
                  </a:lnTo>
                  <a:lnTo>
                    <a:pt x="9424" y="9940"/>
                  </a:lnTo>
                  <a:lnTo>
                    <a:pt x="9424" y="9423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 w="1905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" name="Google Shape;170;p22"/>
            <p:cNvSpPr/>
            <p:nvPr/>
          </p:nvSpPr>
          <p:spPr>
            <a:xfrm>
              <a:off x="6482900" y="2814150"/>
              <a:ext cx="235600" cy="248525"/>
            </a:xfrm>
            <a:custGeom>
              <a:avLst/>
              <a:gdLst/>
              <a:ahLst/>
              <a:cxnLst/>
              <a:rect l="l" t="t" r="r" b="b"/>
              <a:pathLst>
                <a:path w="9424" h="9941" extrusionOk="0">
                  <a:moveTo>
                    <a:pt x="1" y="1"/>
                  </a:moveTo>
                  <a:lnTo>
                    <a:pt x="1" y="518"/>
                  </a:lnTo>
                  <a:lnTo>
                    <a:pt x="9424" y="9940"/>
                  </a:lnTo>
                  <a:lnTo>
                    <a:pt x="9424" y="9424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 w="1905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" name="Google Shape;171;p22"/>
            <p:cNvSpPr/>
            <p:nvPr/>
          </p:nvSpPr>
          <p:spPr>
            <a:xfrm>
              <a:off x="6482900" y="2935750"/>
              <a:ext cx="235600" cy="248500"/>
            </a:xfrm>
            <a:custGeom>
              <a:avLst/>
              <a:gdLst/>
              <a:ahLst/>
              <a:cxnLst/>
              <a:rect l="l" t="t" r="r" b="b"/>
              <a:pathLst>
                <a:path w="9424" h="9940" extrusionOk="0">
                  <a:moveTo>
                    <a:pt x="1" y="0"/>
                  </a:moveTo>
                  <a:lnTo>
                    <a:pt x="1" y="517"/>
                  </a:lnTo>
                  <a:lnTo>
                    <a:pt x="9424" y="9940"/>
                  </a:lnTo>
                  <a:lnTo>
                    <a:pt x="9424" y="9423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dk1"/>
            </a:solidFill>
            <a:ln w="1905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3"/>
          <p:cNvSpPr/>
          <p:nvPr/>
        </p:nvSpPr>
        <p:spPr>
          <a:xfrm>
            <a:off x="-63200" y="-34100"/>
            <a:ext cx="9251100" cy="4638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grpSp>
        <p:nvGrpSpPr>
          <p:cNvPr id="174" name="Google Shape;174;p23"/>
          <p:cNvGrpSpPr/>
          <p:nvPr/>
        </p:nvGrpSpPr>
        <p:grpSpPr>
          <a:xfrm rot="5400000">
            <a:off x="6993950" y="3245990"/>
            <a:ext cx="615152" cy="2716009"/>
            <a:chOff x="6482900" y="1354425"/>
            <a:chExt cx="235600" cy="1829825"/>
          </a:xfrm>
        </p:grpSpPr>
        <p:sp>
          <p:nvSpPr>
            <p:cNvPr id="175" name="Google Shape;175;p23"/>
            <p:cNvSpPr/>
            <p:nvPr/>
          </p:nvSpPr>
          <p:spPr>
            <a:xfrm>
              <a:off x="6482900" y="1354425"/>
              <a:ext cx="235600" cy="247750"/>
            </a:xfrm>
            <a:custGeom>
              <a:avLst/>
              <a:gdLst/>
              <a:ahLst/>
              <a:cxnLst/>
              <a:rect l="l" t="t" r="r" b="b"/>
              <a:pathLst>
                <a:path w="9424" h="9910" extrusionOk="0">
                  <a:moveTo>
                    <a:pt x="1" y="0"/>
                  </a:moveTo>
                  <a:lnTo>
                    <a:pt x="1" y="517"/>
                  </a:lnTo>
                  <a:lnTo>
                    <a:pt x="9424" y="9909"/>
                  </a:lnTo>
                  <a:lnTo>
                    <a:pt x="9424" y="9362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dk1"/>
            </a:solidFill>
            <a:ln w="1905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" name="Google Shape;176;p23"/>
            <p:cNvSpPr/>
            <p:nvPr/>
          </p:nvSpPr>
          <p:spPr>
            <a:xfrm>
              <a:off x="6482900" y="1476000"/>
              <a:ext cx="235600" cy="247750"/>
            </a:xfrm>
            <a:custGeom>
              <a:avLst/>
              <a:gdLst/>
              <a:ahLst/>
              <a:cxnLst/>
              <a:rect l="l" t="t" r="r" b="b"/>
              <a:pathLst>
                <a:path w="9424" h="9910" extrusionOk="0">
                  <a:moveTo>
                    <a:pt x="1" y="0"/>
                  </a:moveTo>
                  <a:lnTo>
                    <a:pt x="1" y="517"/>
                  </a:lnTo>
                  <a:lnTo>
                    <a:pt x="9424" y="9909"/>
                  </a:lnTo>
                  <a:lnTo>
                    <a:pt x="9424" y="9362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dk1"/>
            </a:solidFill>
            <a:ln w="1905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" name="Google Shape;177;p23"/>
            <p:cNvSpPr/>
            <p:nvPr/>
          </p:nvSpPr>
          <p:spPr>
            <a:xfrm>
              <a:off x="6482900" y="1597575"/>
              <a:ext cx="235600" cy="248500"/>
            </a:xfrm>
            <a:custGeom>
              <a:avLst/>
              <a:gdLst/>
              <a:ahLst/>
              <a:cxnLst/>
              <a:rect l="l" t="t" r="r" b="b"/>
              <a:pathLst>
                <a:path w="9424" h="9940" extrusionOk="0">
                  <a:moveTo>
                    <a:pt x="1" y="1"/>
                  </a:moveTo>
                  <a:lnTo>
                    <a:pt x="1" y="517"/>
                  </a:lnTo>
                  <a:lnTo>
                    <a:pt x="9424" y="9940"/>
                  </a:lnTo>
                  <a:lnTo>
                    <a:pt x="9424" y="9362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 w="1905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" name="Google Shape;178;p23"/>
            <p:cNvSpPr/>
            <p:nvPr/>
          </p:nvSpPr>
          <p:spPr>
            <a:xfrm>
              <a:off x="6482900" y="1719150"/>
              <a:ext cx="235600" cy="248525"/>
            </a:xfrm>
            <a:custGeom>
              <a:avLst/>
              <a:gdLst/>
              <a:ahLst/>
              <a:cxnLst/>
              <a:rect l="l" t="t" r="r" b="b"/>
              <a:pathLst>
                <a:path w="9424" h="9941" extrusionOk="0">
                  <a:moveTo>
                    <a:pt x="1" y="1"/>
                  </a:moveTo>
                  <a:lnTo>
                    <a:pt x="1" y="518"/>
                  </a:lnTo>
                  <a:lnTo>
                    <a:pt x="9424" y="9940"/>
                  </a:lnTo>
                  <a:lnTo>
                    <a:pt x="9424" y="9363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 w="1905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" name="Google Shape;179;p23"/>
            <p:cNvSpPr/>
            <p:nvPr/>
          </p:nvSpPr>
          <p:spPr>
            <a:xfrm>
              <a:off x="6482900" y="1839975"/>
              <a:ext cx="235600" cy="249275"/>
            </a:xfrm>
            <a:custGeom>
              <a:avLst/>
              <a:gdLst/>
              <a:ahLst/>
              <a:cxnLst/>
              <a:rect l="l" t="t" r="r" b="b"/>
              <a:pathLst>
                <a:path w="9424" h="9971" extrusionOk="0">
                  <a:moveTo>
                    <a:pt x="1" y="1"/>
                  </a:moveTo>
                  <a:lnTo>
                    <a:pt x="1" y="548"/>
                  </a:lnTo>
                  <a:lnTo>
                    <a:pt x="9424" y="9971"/>
                  </a:lnTo>
                  <a:lnTo>
                    <a:pt x="9424" y="9454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 w="1905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" name="Google Shape;180;p23"/>
            <p:cNvSpPr/>
            <p:nvPr/>
          </p:nvSpPr>
          <p:spPr>
            <a:xfrm>
              <a:off x="6482900" y="1962325"/>
              <a:ext cx="235600" cy="248500"/>
            </a:xfrm>
            <a:custGeom>
              <a:avLst/>
              <a:gdLst/>
              <a:ahLst/>
              <a:cxnLst/>
              <a:rect l="l" t="t" r="r" b="b"/>
              <a:pathLst>
                <a:path w="9424" h="9940" extrusionOk="0">
                  <a:moveTo>
                    <a:pt x="1" y="1"/>
                  </a:moveTo>
                  <a:lnTo>
                    <a:pt x="1" y="517"/>
                  </a:lnTo>
                  <a:lnTo>
                    <a:pt x="9424" y="9940"/>
                  </a:lnTo>
                  <a:lnTo>
                    <a:pt x="9424" y="9423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 w="1905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" name="Google Shape;181;p23"/>
            <p:cNvSpPr/>
            <p:nvPr/>
          </p:nvSpPr>
          <p:spPr>
            <a:xfrm>
              <a:off x="6482900" y="2083900"/>
              <a:ext cx="235600" cy="248525"/>
            </a:xfrm>
            <a:custGeom>
              <a:avLst/>
              <a:gdLst/>
              <a:ahLst/>
              <a:cxnLst/>
              <a:rect l="l" t="t" r="r" b="b"/>
              <a:pathLst>
                <a:path w="9424" h="9941" extrusionOk="0">
                  <a:moveTo>
                    <a:pt x="1" y="1"/>
                  </a:moveTo>
                  <a:lnTo>
                    <a:pt x="1" y="518"/>
                  </a:lnTo>
                  <a:lnTo>
                    <a:pt x="9424" y="9940"/>
                  </a:lnTo>
                  <a:lnTo>
                    <a:pt x="9424" y="9423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 w="1905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" name="Google Shape;182;p23"/>
            <p:cNvSpPr/>
            <p:nvPr/>
          </p:nvSpPr>
          <p:spPr>
            <a:xfrm>
              <a:off x="6482900" y="2205500"/>
              <a:ext cx="235600" cy="248500"/>
            </a:xfrm>
            <a:custGeom>
              <a:avLst/>
              <a:gdLst/>
              <a:ahLst/>
              <a:cxnLst/>
              <a:rect l="l" t="t" r="r" b="b"/>
              <a:pathLst>
                <a:path w="9424" h="9940" extrusionOk="0">
                  <a:moveTo>
                    <a:pt x="1" y="0"/>
                  </a:moveTo>
                  <a:lnTo>
                    <a:pt x="1" y="547"/>
                  </a:lnTo>
                  <a:lnTo>
                    <a:pt x="9424" y="9939"/>
                  </a:lnTo>
                  <a:lnTo>
                    <a:pt x="9424" y="9423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dk1"/>
            </a:solidFill>
            <a:ln w="1905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" name="Google Shape;183;p23"/>
            <p:cNvSpPr/>
            <p:nvPr/>
          </p:nvSpPr>
          <p:spPr>
            <a:xfrm>
              <a:off x="6482900" y="2327825"/>
              <a:ext cx="235600" cy="247750"/>
            </a:xfrm>
            <a:custGeom>
              <a:avLst/>
              <a:gdLst/>
              <a:ahLst/>
              <a:cxnLst/>
              <a:rect l="l" t="t" r="r" b="b"/>
              <a:pathLst>
                <a:path w="9424" h="9910" extrusionOk="0">
                  <a:moveTo>
                    <a:pt x="1" y="1"/>
                  </a:moveTo>
                  <a:lnTo>
                    <a:pt x="1" y="518"/>
                  </a:lnTo>
                  <a:lnTo>
                    <a:pt x="9424" y="9910"/>
                  </a:lnTo>
                  <a:lnTo>
                    <a:pt x="9424" y="9393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 w="1905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" name="Google Shape;184;p23"/>
            <p:cNvSpPr/>
            <p:nvPr/>
          </p:nvSpPr>
          <p:spPr>
            <a:xfrm>
              <a:off x="6482900" y="2449425"/>
              <a:ext cx="235600" cy="247750"/>
            </a:xfrm>
            <a:custGeom>
              <a:avLst/>
              <a:gdLst/>
              <a:ahLst/>
              <a:cxnLst/>
              <a:rect l="l" t="t" r="r" b="b"/>
              <a:pathLst>
                <a:path w="9424" h="9910" extrusionOk="0">
                  <a:moveTo>
                    <a:pt x="1" y="0"/>
                  </a:moveTo>
                  <a:lnTo>
                    <a:pt x="1" y="517"/>
                  </a:lnTo>
                  <a:lnTo>
                    <a:pt x="9424" y="9909"/>
                  </a:lnTo>
                  <a:lnTo>
                    <a:pt x="9424" y="9392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dk1"/>
            </a:solidFill>
            <a:ln w="1905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" name="Google Shape;185;p23"/>
            <p:cNvSpPr/>
            <p:nvPr/>
          </p:nvSpPr>
          <p:spPr>
            <a:xfrm>
              <a:off x="6482900" y="2571000"/>
              <a:ext cx="235600" cy="248500"/>
            </a:xfrm>
            <a:custGeom>
              <a:avLst/>
              <a:gdLst/>
              <a:ahLst/>
              <a:cxnLst/>
              <a:rect l="l" t="t" r="r" b="b"/>
              <a:pathLst>
                <a:path w="9424" h="9940" extrusionOk="0">
                  <a:moveTo>
                    <a:pt x="1" y="0"/>
                  </a:moveTo>
                  <a:lnTo>
                    <a:pt x="1" y="517"/>
                  </a:lnTo>
                  <a:lnTo>
                    <a:pt x="9424" y="9940"/>
                  </a:lnTo>
                  <a:lnTo>
                    <a:pt x="9424" y="9393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dk1"/>
            </a:solidFill>
            <a:ln w="1905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" name="Google Shape;186;p23"/>
            <p:cNvSpPr/>
            <p:nvPr/>
          </p:nvSpPr>
          <p:spPr>
            <a:xfrm>
              <a:off x="6482900" y="2692575"/>
              <a:ext cx="235600" cy="248525"/>
            </a:xfrm>
            <a:custGeom>
              <a:avLst/>
              <a:gdLst/>
              <a:ahLst/>
              <a:cxnLst/>
              <a:rect l="l" t="t" r="r" b="b"/>
              <a:pathLst>
                <a:path w="9424" h="9941" extrusionOk="0">
                  <a:moveTo>
                    <a:pt x="1" y="1"/>
                  </a:moveTo>
                  <a:lnTo>
                    <a:pt x="1" y="517"/>
                  </a:lnTo>
                  <a:lnTo>
                    <a:pt x="9424" y="9940"/>
                  </a:lnTo>
                  <a:lnTo>
                    <a:pt x="9424" y="9423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 w="1905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" name="Google Shape;187;p23"/>
            <p:cNvSpPr/>
            <p:nvPr/>
          </p:nvSpPr>
          <p:spPr>
            <a:xfrm>
              <a:off x="6482900" y="2814150"/>
              <a:ext cx="235600" cy="248525"/>
            </a:xfrm>
            <a:custGeom>
              <a:avLst/>
              <a:gdLst/>
              <a:ahLst/>
              <a:cxnLst/>
              <a:rect l="l" t="t" r="r" b="b"/>
              <a:pathLst>
                <a:path w="9424" h="9941" extrusionOk="0">
                  <a:moveTo>
                    <a:pt x="1" y="1"/>
                  </a:moveTo>
                  <a:lnTo>
                    <a:pt x="1" y="518"/>
                  </a:lnTo>
                  <a:lnTo>
                    <a:pt x="9424" y="9940"/>
                  </a:lnTo>
                  <a:lnTo>
                    <a:pt x="9424" y="9424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 w="1905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" name="Google Shape;188;p23"/>
            <p:cNvSpPr/>
            <p:nvPr/>
          </p:nvSpPr>
          <p:spPr>
            <a:xfrm>
              <a:off x="6482900" y="2935750"/>
              <a:ext cx="235600" cy="248500"/>
            </a:xfrm>
            <a:custGeom>
              <a:avLst/>
              <a:gdLst/>
              <a:ahLst/>
              <a:cxnLst/>
              <a:rect l="l" t="t" r="r" b="b"/>
              <a:pathLst>
                <a:path w="9424" h="9940" extrusionOk="0">
                  <a:moveTo>
                    <a:pt x="1" y="0"/>
                  </a:moveTo>
                  <a:lnTo>
                    <a:pt x="1" y="517"/>
                  </a:lnTo>
                  <a:lnTo>
                    <a:pt x="9424" y="9940"/>
                  </a:lnTo>
                  <a:lnTo>
                    <a:pt x="9424" y="9423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dk1"/>
            </a:solidFill>
            <a:ln w="1905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Geologica"/>
              <a:buNone/>
              <a:defRPr sz="3000" b="1">
                <a:solidFill>
                  <a:schemeClr val="dk1"/>
                </a:solidFill>
                <a:latin typeface="Geologica"/>
                <a:ea typeface="Geologica"/>
                <a:cs typeface="Geologica"/>
                <a:sym typeface="Geologic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Geologica"/>
              <a:buNone/>
              <a:defRPr sz="3000" b="1">
                <a:solidFill>
                  <a:schemeClr val="dk1"/>
                </a:solidFill>
                <a:latin typeface="Geologica"/>
                <a:ea typeface="Geologica"/>
                <a:cs typeface="Geologica"/>
                <a:sym typeface="Geologica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Geologica"/>
              <a:buNone/>
              <a:defRPr sz="3000" b="1">
                <a:solidFill>
                  <a:schemeClr val="dk1"/>
                </a:solidFill>
                <a:latin typeface="Geologica"/>
                <a:ea typeface="Geologica"/>
                <a:cs typeface="Geologica"/>
                <a:sym typeface="Geologica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Geologica"/>
              <a:buNone/>
              <a:defRPr sz="3000" b="1">
                <a:solidFill>
                  <a:schemeClr val="dk1"/>
                </a:solidFill>
                <a:latin typeface="Geologica"/>
                <a:ea typeface="Geologica"/>
                <a:cs typeface="Geologica"/>
                <a:sym typeface="Geologica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Geologica"/>
              <a:buNone/>
              <a:defRPr sz="3000" b="1">
                <a:solidFill>
                  <a:schemeClr val="dk1"/>
                </a:solidFill>
                <a:latin typeface="Geologica"/>
                <a:ea typeface="Geologica"/>
                <a:cs typeface="Geologica"/>
                <a:sym typeface="Geologica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Geologica"/>
              <a:buNone/>
              <a:defRPr sz="3000" b="1">
                <a:solidFill>
                  <a:schemeClr val="dk1"/>
                </a:solidFill>
                <a:latin typeface="Geologica"/>
                <a:ea typeface="Geologica"/>
                <a:cs typeface="Geologica"/>
                <a:sym typeface="Geologica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Geologica"/>
              <a:buNone/>
              <a:defRPr sz="3000" b="1">
                <a:solidFill>
                  <a:schemeClr val="dk1"/>
                </a:solidFill>
                <a:latin typeface="Geologica"/>
                <a:ea typeface="Geologica"/>
                <a:cs typeface="Geologica"/>
                <a:sym typeface="Geologica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Geologica"/>
              <a:buNone/>
              <a:defRPr sz="3000" b="1">
                <a:solidFill>
                  <a:schemeClr val="dk1"/>
                </a:solidFill>
                <a:latin typeface="Geologica"/>
                <a:ea typeface="Geologica"/>
                <a:cs typeface="Geologica"/>
                <a:sym typeface="Geologica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Geologica"/>
              <a:buNone/>
              <a:defRPr sz="3000" b="1">
                <a:solidFill>
                  <a:schemeClr val="dk1"/>
                </a:solidFill>
                <a:latin typeface="Geologica"/>
                <a:ea typeface="Geologica"/>
                <a:cs typeface="Geologica"/>
                <a:sym typeface="Geologica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Char char="●"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1pPr>
            <a:lvl2pPr marL="914400" lvl="1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Char char="○"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2pPr>
            <a:lvl3pPr marL="1371600" lvl="2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Char char="■"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3pPr>
            <a:lvl4pPr marL="1828800" lvl="3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Char char="●"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4pPr>
            <a:lvl5pPr marL="2286000" lvl="4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Char char="○"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5pPr>
            <a:lvl6pPr marL="2743200" lvl="5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Char char="■"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6pPr>
            <a:lvl7pPr marL="3200400" lvl="6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Char char="●"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7pPr>
            <a:lvl8pPr marL="3657600" lvl="7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Char char="○"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8pPr>
            <a:lvl9pPr marL="4114800" lvl="8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igtree"/>
              <a:buChar char="■"/>
              <a:defRPr sz="12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4" r:id="rId3"/>
    <p:sldLayoutId id="2147483655" r:id="rId4"/>
    <p:sldLayoutId id="2147483658" r:id="rId5"/>
    <p:sldLayoutId id="2147483668" r:id="rId6"/>
    <p:sldLayoutId id="2147483669" r:id="rId7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wmf"/><Relationship Id="rId3" Type="http://schemas.openxmlformats.org/officeDocument/2006/relationships/image" Target="../media/image5.png"/><Relationship Id="rId7" Type="http://schemas.openxmlformats.org/officeDocument/2006/relationships/oleObject" Target="../embeddings/oleObject2.bin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wmf"/><Relationship Id="rId4" Type="http://schemas.openxmlformats.org/officeDocument/2006/relationships/oleObject" Target="../embeddings/oleObject1.bin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wmf"/><Relationship Id="rId3" Type="http://schemas.openxmlformats.org/officeDocument/2006/relationships/oleObject" Target="../embeddings/oleObject3.bin"/><Relationship Id="rId7" Type="http://schemas.openxmlformats.org/officeDocument/2006/relationships/oleObject" Target="../embeddings/oleObject5.bin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wmf"/><Relationship Id="rId5" Type="http://schemas.openxmlformats.org/officeDocument/2006/relationships/oleObject" Target="../embeddings/oleObject4.bin"/><Relationship Id="rId4" Type="http://schemas.openxmlformats.org/officeDocument/2006/relationships/image" Target="../media/image9.wmf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wmf"/><Relationship Id="rId3" Type="http://schemas.openxmlformats.org/officeDocument/2006/relationships/image" Target="../media/image12.png"/><Relationship Id="rId7" Type="http://schemas.openxmlformats.org/officeDocument/2006/relationships/oleObject" Target="../embeddings/oleObject7.bin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wmf"/><Relationship Id="rId5" Type="http://schemas.openxmlformats.org/officeDocument/2006/relationships/oleObject" Target="../embeddings/oleObject6.bin"/><Relationship Id="rId4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wmf"/><Relationship Id="rId3" Type="http://schemas.openxmlformats.org/officeDocument/2006/relationships/image" Target="../media/image18.wmf"/><Relationship Id="rId7" Type="http://schemas.openxmlformats.org/officeDocument/2006/relationships/oleObject" Target="../embeddings/oleObject10.bin"/><Relationship Id="rId2" Type="http://schemas.openxmlformats.org/officeDocument/2006/relationships/oleObject" Target="../embeddings/oleObject8.bin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wmf"/><Relationship Id="rId11" Type="http://schemas.openxmlformats.org/officeDocument/2006/relationships/image" Target="../media/image23.png"/><Relationship Id="rId5" Type="http://schemas.openxmlformats.org/officeDocument/2006/relationships/oleObject" Target="../embeddings/oleObject9.bin"/><Relationship Id="rId10" Type="http://schemas.openxmlformats.org/officeDocument/2006/relationships/image" Target="../media/image22.wmf"/><Relationship Id="rId4" Type="http://schemas.openxmlformats.org/officeDocument/2006/relationships/image" Target="../media/image19.png"/><Relationship Id="rId9" Type="http://schemas.openxmlformats.org/officeDocument/2006/relationships/oleObject" Target="../embeddings/oleObject11.bin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0.bin"/><Relationship Id="rId13" Type="http://schemas.openxmlformats.org/officeDocument/2006/relationships/image" Target="../media/image27.wmf"/><Relationship Id="rId3" Type="http://schemas.openxmlformats.org/officeDocument/2006/relationships/oleObject" Target="../embeddings/oleObject8.bin"/><Relationship Id="rId7" Type="http://schemas.openxmlformats.org/officeDocument/2006/relationships/image" Target="../media/image20.wmf"/><Relationship Id="rId12" Type="http://schemas.openxmlformats.org/officeDocument/2006/relationships/oleObject" Target="../embeddings/oleObject13.bin"/><Relationship Id="rId17" Type="http://schemas.openxmlformats.org/officeDocument/2006/relationships/image" Target="../media/image29.wmf"/><Relationship Id="rId2" Type="http://schemas.openxmlformats.org/officeDocument/2006/relationships/notesSlide" Target="../notesSlides/notesSlide2.xml"/><Relationship Id="rId16" Type="http://schemas.openxmlformats.org/officeDocument/2006/relationships/oleObject" Target="../embeddings/oleObject15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9.bin"/><Relationship Id="rId11" Type="http://schemas.openxmlformats.org/officeDocument/2006/relationships/image" Target="../media/image26.wmf"/><Relationship Id="rId5" Type="http://schemas.openxmlformats.org/officeDocument/2006/relationships/image" Target="../media/image19.png"/><Relationship Id="rId15" Type="http://schemas.openxmlformats.org/officeDocument/2006/relationships/image" Target="../media/image28.wmf"/><Relationship Id="rId10" Type="http://schemas.openxmlformats.org/officeDocument/2006/relationships/oleObject" Target="../embeddings/oleObject12.bin"/><Relationship Id="rId4" Type="http://schemas.openxmlformats.org/officeDocument/2006/relationships/image" Target="../media/image18.wmf"/><Relationship Id="rId9" Type="http://schemas.openxmlformats.org/officeDocument/2006/relationships/image" Target="../media/image21.wmf"/><Relationship Id="rId14" Type="http://schemas.openxmlformats.org/officeDocument/2006/relationships/oleObject" Target="../embeddings/oleObject14.bin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wmf"/><Relationship Id="rId2" Type="http://schemas.openxmlformats.org/officeDocument/2006/relationships/oleObject" Target="../embeddings/oleObject16.bin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wmf"/><Relationship Id="rId2" Type="http://schemas.openxmlformats.org/officeDocument/2006/relationships/oleObject" Target="../embeddings/oleObject17.bin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wmf"/><Relationship Id="rId2" Type="http://schemas.openxmlformats.org/officeDocument/2006/relationships/oleObject" Target="../embeddings/oleObject18.bin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2.png"/><Relationship Id="rId5" Type="http://schemas.openxmlformats.org/officeDocument/2006/relationships/image" Target="../media/image51.png"/><Relationship Id="rId4" Type="http://schemas.openxmlformats.org/officeDocument/2006/relationships/image" Target="../media/image5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27"/>
          <p:cNvSpPr txBox="1">
            <a:spLocks noGrp="1"/>
          </p:cNvSpPr>
          <p:nvPr>
            <p:ph type="ctrTitle"/>
          </p:nvPr>
        </p:nvSpPr>
        <p:spPr>
          <a:xfrm>
            <a:off x="713225" y="1087129"/>
            <a:ext cx="5932274" cy="1625346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bg1">
                    <a:lumMod val="10000"/>
                  </a:schemeClr>
                </a:solidFill>
              </a:rPr>
              <a:t>Numerical Modeling of Control Rod Reactivity in the Kartini Research Reactor Using Differential Rod Worth Functions</a:t>
            </a:r>
            <a:endParaRPr sz="2400" dirty="0">
              <a:solidFill>
                <a:schemeClr val="bg1">
                  <a:lumMod val="10000"/>
                </a:schemeClr>
              </a:solidFill>
            </a:endParaRPr>
          </a:p>
        </p:txBody>
      </p:sp>
      <p:sp>
        <p:nvSpPr>
          <p:cNvPr id="200" name="Google Shape;200;p27"/>
          <p:cNvSpPr txBox="1">
            <a:spLocks noGrp="1"/>
          </p:cNvSpPr>
          <p:nvPr>
            <p:ph type="subTitle" idx="1"/>
          </p:nvPr>
        </p:nvSpPr>
        <p:spPr>
          <a:xfrm>
            <a:off x="713225" y="2753250"/>
            <a:ext cx="4528800" cy="414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Halim Hamadi</a:t>
            </a:r>
            <a:endParaRPr dirty="0"/>
          </a:p>
        </p:txBody>
      </p:sp>
      <p:grpSp>
        <p:nvGrpSpPr>
          <p:cNvPr id="201" name="Google Shape;201;p27"/>
          <p:cNvGrpSpPr/>
          <p:nvPr/>
        </p:nvGrpSpPr>
        <p:grpSpPr>
          <a:xfrm rot="5400000">
            <a:off x="6557950" y="2390790"/>
            <a:ext cx="615152" cy="2716009"/>
            <a:chOff x="6482900" y="1354425"/>
            <a:chExt cx="235600" cy="1829825"/>
          </a:xfrm>
        </p:grpSpPr>
        <p:sp>
          <p:nvSpPr>
            <p:cNvPr id="202" name="Google Shape;202;p27"/>
            <p:cNvSpPr/>
            <p:nvPr/>
          </p:nvSpPr>
          <p:spPr>
            <a:xfrm>
              <a:off x="6482900" y="1354425"/>
              <a:ext cx="235600" cy="247750"/>
            </a:xfrm>
            <a:custGeom>
              <a:avLst/>
              <a:gdLst/>
              <a:ahLst/>
              <a:cxnLst/>
              <a:rect l="l" t="t" r="r" b="b"/>
              <a:pathLst>
                <a:path w="9424" h="9910" extrusionOk="0">
                  <a:moveTo>
                    <a:pt x="1" y="0"/>
                  </a:moveTo>
                  <a:lnTo>
                    <a:pt x="1" y="517"/>
                  </a:lnTo>
                  <a:lnTo>
                    <a:pt x="9424" y="9909"/>
                  </a:lnTo>
                  <a:lnTo>
                    <a:pt x="9424" y="9362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dk1"/>
            </a:solidFill>
            <a:ln w="1905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" name="Google Shape;203;p27"/>
            <p:cNvSpPr/>
            <p:nvPr/>
          </p:nvSpPr>
          <p:spPr>
            <a:xfrm>
              <a:off x="6482900" y="1476000"/>
              <a:ext cx="235600" cy="247750"/>
            </a:xfrm>
            <a:custGeom>
              <a:avLst/>
              <a:gdLst/>
              <a:ahLst/>
              <a:cxnLst/>
              <a:rect l="l" t="t" r="r" b="b"/>
              <a:pathLst>
                <a:path w="9424" h="9910" extrusionOk="0">
                  <a:moveTo>
                    <a:pt x="1" y="0"/>
                  </a:moveTo>
                  <a:lnTo>
                    <a:pt x="1" y="517"/>
                  </a:lnTo>
                  <a:lnTo>
                    <a:pt x="9424" y="9909"/>
                  </a:lnTo>
                  <a:lnTo>
                    <a:pt x="9424" y="9362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dk1"/>
            </a:solidFill>
            <a:ln w="1905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" name="Google Shape;204;p27"/>
            <p:cNvSpPr/>
            <p:nvPr/>
          </p:nvSpPr>
          <p:spPr>
            <a:xfrm>
              <a:off x="6482900" y="1597575"/>
              <a:ext cx="235600" cy="248500"/>
            </a:xfrm>
            <a:custGeom>
              <a:avLst/>
              <a:gdLst/>
              <a:ahLst/>
              <a:cxnLst/>
              <a:rect l="l" t="t" r="r" b="b"/>
              <a:pathLst>
                <a:path w="9424" h="9940" extrusionOk="0">
                  <a:moveTo>
                    <a:pt x="1" y="1"/>
                  </a:moveTo>
                  <a:lnTo>
                    <a:pt x="1" y="517"/>
                  </a:lnTo>
                  <a:lnTo>
                    <a:pt x="9424" y="9940"/>
                  </a:lnTo>
                  <a:lnTo>
                    <a:pt x="9424" y="9362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 w="1905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" name="Google Shape;205;p27"/>
            <p:cNvSpPr/>
            <p:nvPr/>
          </p:nvSpPr>
          <p:spPr>
            <a:xfrm>
              <a:off x="6482900" y="1719150"/>
              <a:ext cx="235600" cy="248525"/>
            </a:xfrm>
            <a:custGeom>
              <a:avLst/>
              <a:gdLst/>
              <a:ahLst/>
              <a:cxnLst/>
              <a:rect l="l" t="t" r="r" b="b"/>
              <a:pathLst>
                <a:path w="9424" h="9941" extrusionOk="0">
                  <a:moveTo>
                    <a:pt x="1" y="1"/>
                  </a:moveTo>
                  <a:lnTo>
                    <a:pt x="1" y="518"/>
                  </a:lnTo>
                  <a:lnTo>
                    <a:pt x="9424" y="9940"/>
                  </a:lnTo>
                  <a:lnTo>
                    <a:pt x="9424" y="9363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 w="1905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" name="Google Shape;206;p27"/>
            <p:cNvSpPr/>
            <p:nvPr/>
          </p:nvSpPr>
          <p:spPr>
            <a:xfrm>
              <a:off x="6482900" y="1839975"/>
              <a:ext cx="235600" cy="249275"/>
            </a:xfrm>
            <a:custGeom>
              <a:avLst/>
              <a:gdLst/>
              <a:ahLst/>
              <a:cxnLst/>
              <a:rect l="l" t="t" r="r" b="b"/>
              <a:pathLst>
                <a:path w="9424" h="9971" extrusionOk="0">
                  <a:moveTo>
                    <a:pt x="1" y="1"/>
                  </a:moveTo>
                  <a:lnTo>
                    <a:pt x="1" y="548"/>
                  </a:lnTo>
                  <a:lnTo>
                    <a:pt x="9424" y="9971"/>
                  </a:lnTo>
                  <a:lnTo>
                    <a:pt x="9424" y="9454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 w="1905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" name="Google Shape;207;p27"/>
            <p:cNvSpPr/>
            <p:nvPr/>
          </p:nvSpPr>
          <p:spPr>
            <a:xfrm>
              <a:off x="6482900" y="1962325"/>
              <a:ext cx="235600" cy="248500"/>
            </a:xfrm>
            <a:custGeom>
              <a:avLst/>
              <a:gdLst/>
              <a:ahLst/>
              <a:cxnLst/>
              <a:rect l="l" t="t" r="r" b="b"/>
              <a:pathLst>
                <a:path w="9424" h="9940" extrusionOk="0">
                  <a:moveTo>
                    <a:pt x="1" y="1"/>
                  </a:moveTo>
                  <a:lnTo>
                    <a:pt x="1" y="517"/>
                  </a:lnTo>
                  <a:lnTo>
                    <a:pt x="9424" y="9940"/>
                  </a:lnTo>
                  <a:lnTo>
                    <a:pt x="9424" y="9423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 w="1905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" name="Google Shape;208;p27"/>
            <p:cNvSpPr/>
            <p:nvPr/>
          </p:nvSpPr>
          <p:spPr>
            <a:xfrm>
              <a:off x="6482900" y="2083900"/>
              <a:ext cx="235600" cy="248525"/>
            </a:xfrm>
            <a:custGeom>
              <a:avLst/>
              <a:gdLst/>
              <a:ahLst/>
              <a:cxnLst/>
              <a:rect l="l" t="t" r="r" b="b"/>
              <a:pathLst>
                <a:path w="9424" h="9941" extrusionOk="0">
                  <a:moveTo>
                    <a:pt x="1" y="1"/>
                  </a:moveTo>
                  <a:lnTo>
                    <a:pt x="1" y="518"/>
                  </a:lnTo>
                  <a:lnTo>
                    <a:pt x="9424" y="9940"/>
                  </a:lnTo>
                  <a:lnTo>
                    <a:pt x="9424" y="9423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 w="1905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" name="Google Shape;209;p27"/>
            <p:cNvSpPr/>
            <p:nvPr/>
          </p:nvSpPr>
          <p:spPr>
            <a:xfrm>
              <a:off x="6482900" y="2205500"/>
              <a:ext cx="235600" cy="248500"/>
            </a:xfrm>
            <a:custGeom>
              <a:avLst/>
              <a:gdLst/>
              <a:ahLst/>
              <a:cxnLst/>
              <a:rect l="l" t="t" r="r" b="b"/>
              <a:pathLst>
                <a:path w="9424" h="9940" extrusionOk="0">
                  <a:moveTo>
                    <a:pt x="1" y="0"/>
                  </a:moveTo>
                  <a:lnTo>
                    <a:pt x="1" y="547"/>
                  </a:lnTo>
                  <a:lnTo>
                    <a:pt x="9424" y="9939"/>
                  </a:lnTo>
                  <a:lnTo>
                    <a:pt x="9424" y="9423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dk1"/>
            </a:solidFill>
            <a:ln w="1905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" name="Google Shape;210;p27"/>
            <p:cNvSpPr/>
            <p:nvPr/>
          </p:nvSpPr>
          <p:spPr>
            <a:xfrm>
              <a:off x="6482900" y="2327825"/>
              <a:ext cx="235600" cy="247750"/>
            </a:xfrm>
            <a:custGeom>
              <a:avLst/>
              <a:gdLst/>
              <a:ahLst/>
              <a:cxnLst/>
              <a:rect l="l" t="t" r="r" b="b"/>
              <a:pathLst>
                <a:path w="9424" h="9910" extrusionOk="0">
                  <a:moveTo>
                    <a:pt x="1" y="1"/>
                  </a:moveTo>
                  <a:lnTo>
                    <a:pt x="1" y="518"/>
                  </a:lnTo>
                  <a:lnTo>
                    <a:pt x="9424" y="9910"/>
                  </a:lnTo>
                  <a:lnTo>
                    <a:pt x="9424" y="9393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 w="1905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" name="Google Shape;211;p27"/>
            <p:cNvSpPr/>
            <p:nvPr/>
          </p:nvSpPr>
          <p:spPr>
            <a:xfrm>
              <a:off x="6482900" y="2449425"/>
              <a:ext cx="235600" cy="247750"/>
            </a:xfrm>
            <a:custGeom>
              <a:avLst/>
              <a:gdLst/>
              <a:ahLst/>
              <a:cxnLst/>
              <a:rect l="l" t="t" r="r" b="b"/>
              <a:pathLst>
                <a:path w="9424" h="9910" extrusionOk="0">
                  <a:moveTo>
                    <a:pt x="1" y="0"/>
                  </a:moveTo>
                  <a:lnTo>
                    <a:pt x="1" y="517"/>
                  </a:lnTo>
                  <a:lnTo>
                    <a:pt x="9424" y="9909"/>
                  </a:lnTo>
                  <a:lnTo>
                    <a:pt x="9424" y="9392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dk1"/>
            </a:solidFill>
            <a:ln w="1905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" name="Google Shape;212;p27"/>
            <p:cNvSpPr/>
            <p:nvPr/>
          </p:nvSpPr>
          <p:spPr>
            <a:xfrm>
              <a:off x="6482900" y="2571000"/>
              <a:ext cx="235600" cy="248500"/>
            </a:xfrm>
            <a:custGeom>
              <a:avLst/>
              <a:gdLst/>
              <a:ahLst/>
              <a:cxnLst/>
              <a:rect l="l" t="t" r="r" b="b"/>
              <a:pathLst>
                <a:path w="9424" h="9940" extrusionOk="0">
                  <a:moveTo>
                    <a:pt x="1" y="0"/>
                  </a:moveTo>
                  <a:lnTo>
                    <a:pt x="1" y="517"/>
                  </a:lnTo>
                  <a:lnTo>
                    <a:pt x="9424" y="9940"/>
                  </a:lnTo>
                  <a:lnTo>
                    <a:pt x="9424" y="9393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dk1"/>
            </a:solidFill>
            <a:ln w="1905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" name="Google Shape;213;p27"/>
            <p:cNvSpPr/>
            <p:nvPr/>
          </p:nvSpPr>
          <p:spPr>
            <a:xfrm>
              <a:off x="6482900" y="2692575"/>
              <a:ext cx="235600" cy="248525"/>
            </a:xfrm>
            <a:custGeom>
              <a:avLst/>
              <a:gdLst/>
              <a:ahLst/>
              <a:cxnLst/>
              <a:rect l="l" t="t" r="r" b="b"/>
              <a:pathLst>
                <a:path w="9424" h="9941" extrusionOk="0">
                  <a:moveTo>
                    <a:pt x="1" y="1"/>
                  </a:moveTo>
                  <a:lnTo>
                    <a:pt x="1" y="517"/>
                  </a:lnTo>
                  <a:lnTo>
                    <a:pt x="9424" y="9940"/>
                  </a:lnTo>
                  <a:lnTo>
                    <a:pt x="9424" y="9423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 w="1905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" name="Google Shape;214;p27"/>
            <p:cNvSpPr/>
            <p:nvPr/>
          </p:nvSpPr>
          <p:spPr>
            <a:xfrm>
              <a:off x="6482900" y="2814150"/>
              <a:ext cx="235600" cy="248525"/>
            </a:xfrm>
            <a:custGeom>
              <a:avLst/>
              <a:gdLst/>
              <a:ahLst/>
              <a:cxnLst/>
              <a:rect l="l" t="t" r="r" b="b"/>
              <a:pathLst>
                <a:path w="9424" h="9941" extrusionOk="0">
                  <a:moveTo>
                    <a:pt x="1" y="1"/>
                  </a:moveTo>
                  <a:lnTo>
                    <a:pt x="1" y="518"/>
                  </a:lnTo>
                  <a:lnTo>
                    <a:pt x="9424" y="9940"/>
                  </a:lnTo>
                  <a:lnTo>
                    <a:pt x="9424" y="9424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 w="1905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" name="Google Shape;215;p27"/>
            <p:cNvSpPr/>
            <p:nvPr/>
          </p:nvSpPr>
          <p:spPr>
            <a:xfrm>
              <a:off x="6482900" y="2935750"/>
              <a:ext cx="235600" cy="248500"/>
            </a:xfrm>
            <a:custGeom>
              <a:avLst/>
              <a:gdLst/>
              <a:ahLst/>
              <a:cxnLst/>
              <a:rect l="l" t="t" r="r" b="b"/>
              <a:pathLst>
                <a:path w="9424" h="9940" extrusionOk="0">
                  <a:moveTo>
                    <a:pt x="1" y="0"/>
                  </a:moveTo>
                  <a:lnTo>
                    <a:pt x="1" y="517"/>
                  </a:lnTo>
                  <a:lnTo>
                    <a:pt x="9424" y="9940"/>
                  </a:lnTo>
                  <a:lnTo>
                    <a:pt x="9424" y="9423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dk1"/>
            </a:solidFill>
            <a:ln w="1905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BFFEFDD-BD78-8BBA-7831-BA402C0DCF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2483" y="0"/>
            <a:ext cx="7439034" cy="977736"/>
          </a:xfrm>
        </p:spPr>
        <p:txBody>
          <a:bodyPr/>
          <a:lstStyle/>
          <a:p>
            <a:r>
              <a:rPr lang="en-US" sz="2800" dirty="0">
                <a:solidFill>
                  <a:schemeClr val="bg1">
                    <a:lumMod val="10000"/>
                  </a:schemeClr>
                </a:solidFill>
              </a:rPr>
              <a:t>Kinematic Equations of the Kartini Reactor</a:t>
            </a:r>
            <a:endParaRPr lang="en-ID" sz="2800" dirty="0">
              <a:solidFill>
                <a:schemeClr val="bg1">
                  <a:lumMod val="10000"/>
                </a:schemeClr>
              </a:solidFill>
            </a:endParaRPr>
          </a:p>
        </p:txBody>
      </p:sp>
      <p:grpSp>
        <p:nvGrpSpPr>
          <p:cNvPr id="6" name="Google Shape;201;p27">
            <a:extLst>
              <a:ext uri="{FF2B5EF4-FFF2-40B4-BE49-F238E27FC236}">
                <a16:creationId xmlns:a16="http://schemas.microsoft.com/office/drawing/2014/main" id="{990C1640-417E-7588-5938-0223A90B3629}"/>
              </a:ext>
            </a:extLst>
          </p:cNvPr>
          <p:cNvGrpSpPr/>
          <p:nvPr/>
        </p:nvGrpSpPr>
        <p:grpSpPr>
          <a:xfrm rot="5400000">
            <a:off x="8534858" y="-1050428"/>
            <a:ext cx="615152" cy="2716009"/>
            <a:chOff x="6482900" y="1354425"/>
            <a:chExt cx="235600" cy="1829825"/>
          </a:xfrm>
          <a:solidFill>
            <a:schemeClr val="bg2"/>
          </a:solidFill>
        </p:grpSpPr>
        <p:sp>
          <p:nvSpPr>
            <p:cNvPr id="7" name="Google Shape;202;p27">
              <a:extLst>
                <a:ext uri="{FF2B5EF4-FFF2-40B4-BE49-F238E27FC236}">
                  <a16:creationId xmlns:a16="http://schemas.microsoft.com/office/drawing/2014/main" id="{17451E58-CAEF-3C04-BD21-6586CF9EF2DE}"/>
                </a:ext>
              </a:extLst>
            </p:cNvPr>
            <p:cNvSpPr/>
            <p:nvPr/>
          </p:nvSpPr>
          <p:spPr>
            <a:xfrm>
              <a:off x="6482900" y="1354425"/>
              <a:ext cx="235600" cy="247750"/>
            </a:xfrm>
            <a:custGeom>
              <a:avLst/>
              <a:gdLst/>
              <a:ahLst/>
              <a:cxnLst/>
              <a:rect l="l" t="t" r="r" b="b"/>
              <a:pathLst>
                <a:path w="9424" h="9910" extrusionOk="0">
                  <a:moveTo>
                    <a:pt x="1" y="0"/>
                  </a:moveTo>
                  <a:lnTo>
                    <a:pt x="1" y="517"/>
                  </a:lnTo>
                  <a:lnTo>
                    <a:pt x="9424" y="9909"/>
                  </a:lnTo>
                  <a:lnTo>
                    <a:pt x="9424" y="9362"/>
                  </a:lnTo>
                  <a:lnTo>
                    <a:pt x="1" y="0"/>
                  </a:lnTo>
                  <a:close/>
                </a:path>
              </a:pathLst>
            </a:custGeom>
            <a:grpFill/>
            <a:ln w="1905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" name="Google Shape;203;p27">
              <a:extLst>
                <a:ext uri="{FF2B5EF4-FFF2-40B4-BE49-F238E27FC236}">
                  <a16:creationId xmlns:a16="http://schemas.microsoft.com/office/drawing/2014/main" id="{024DC2BA-4485-85D7-2975-787BF11A8788}"/>
                </a:ext>
              </a:extLst>
            </p:cNvPr>
            <p:cNvSpPr/>
            <p:nvPr/>
          </p:nvSpPr>
          <p:spPr>
            <a:xfrm>
              <a:off x="6482900" y="1476000"/>
              <a:ext cx="235600" cy="247750"/>
            </a:xfrm>
            <a:custGeom>
              <a:avLst/>
              <a:gdLst/>
              <a:ahLst/>
              <a:cxnLst/>
              <a:rect l="l" t="t" r="r" b="b"/>
              <a:pathLst>
                <a:path w="9424" h="9910" extrusionOk="0">
                  <a:moveTo>
                    <a:pt x="1" y="0"/>
                  </a:moveTo>
                  <a:lnTo>
                    <a:pt x="1" y="517"/>
                  </a:lnTo>
                  <a:lnTo>
                    <a:pt x="9424" y="9909"/>
                  </a:lnTo>
                  <a:lnTo>
                    <a:pt x="9424" y="9362"/>
                  </a:lnTo>
                  <a:lnTo>
                    <a:pt x="1" y="0"/>
                  </a:lnTo>
                  <a:close/>
                </a:path>
              </a:pathLst>
            </a:custGeom>
            <a:grpFill/>
            <a:ln w="1905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" name="Google Shape;204;p27">
              <a:extLst>
                <a:ext uri="{FF2B5EF4-FFF2-40B4-BE49-F238E27FC236}">
                  <a16:creationId xmlns:a16="http://schemas.microsoft.com/office/drawing/2014/main" id="{52FA9214-BBAB-325F-508C-ABCE6BED6202}"/>
                </a:ext>
              </a:extLst>
            </p:cNvPr>
            <p:cNvSpPr/>
            <p:nvPr/>
          </p:nvSpPr>
          <p:spPr>
            <a:xfrm>
              <a:off x="6482900" y="1597575"/>
              <a:ext cx="235600" cy="248500"/>
            </a:xfrm>
            <a:custGeom>
              <a:avLst/>
              <a:gdLst/>
              <a:ahLst/>
              <a:cxnLst/>
              <a:rect l="l" t="t" r="r" b="b"/>
              <a:pathLst>
                <a:path w="9424" h="9940" extrusionOk="0">
                  <a:moveTo>
                    <a:pt x="1" y="1"/>
                  </a:moveTo>
                  <a:lnTo>
                    <a:pt x="1" y="517"/>
                  </a:lnTo>
                  <a:lnTo>
                    <a:pt x="9424" y="9940"/>
                  </a:lnTo>
                  <a:lnTo>
                    <a:pt x="9424" y="9362"/>
                  </a:lnTo>
                  <a:lnTo>
                    <a:pt x="1" y="1"/>
                  </a:lnTo>
                  <a:close/>
                </a:path>
              </a:pathLst>
            </a:custGeom>
            <a:grpFill/>
            <a:ln w="1905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" name="Google Shape;205;p27">
              <a:extLst>
                <a:ext uri="{FF2B5EF4-FFF2-40B4-BE49-F238E27FC236}">
                  <a16:creationId xmlns:a16="http://schemas.microsoft.com/office/drawing/2014/main" id="{1467ED41-7C59-2A50-50F9-B50EA4B97DB9}"/>
                </a:ext>
              </a:extLst>
            </p:cNvPr>
            <p:cNvSpPr/>
            <p:nvPr/>
          </p:nvSpPr>
          <p:spPr>
            <a:xfrm>
              <a:off x="6482900" y="1719150"/>
              <a:ext cx="235600" cy="248525"/>
            </a:xfrm>
            <a:custGeom>
              <a:avLst/>
              <a:gdLst/>
              <a:ahLst/>
              <a:cxnLst/>
              <a:rect l="l" t="t" r="r" b="b"/>
              <a:pathLst>
                <a:path w="9424" h="9941" extrusionOk="0">
                  <a:moveTo>
                    <a:pt x="1" y="1"/>
                  </a:moveTo>
                  <a:lnTo>
                    <a:pt x="1" y="518"/>
                  </a:lnTo>
                  <a:lnTo>
                    <a:pt x="9424" y="9940"/>
                  </a:lnTo>
                  <a:lnTo>
                    <a:pt x="9424" y="9363"/>
                  </a:lnTo>
                  <a:lnTo>
                    <a:pt x="1" y="1"/>
                  </a:lnTo>
                  <a:close/>
                </a:path>
              </a:pathLst>
            </a:custGeom>
            <a:grpFill/>
            <a:ln w="1905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" name="Google Shape;206;p27">
              <a:extLst>
                <a:ext uri="{FF2B5EF4-FFF2-40B4-BE49-F238E27FC236}">
                  <a16:creationId xmlns:a16="http://schemas.microsoft.com/office/drawing/2014/main" id="{D9ED5936-6900-8690-FBD0-E31EA781E99E}"/>
                </a:ext>
              </a:extLst>
            </p:cNvPr>
            <p:cNvSpPr/>
            <p:nvPr/>
          </p:nvSpPr>
          <p:spPr>
            <a:xfrm>
              <a:off x="6482900" y="1839975"/>
              <a:ext cx="235600" cy="249275"/>
            </a:xfrm>
            <a:custGeom>
              <a:avLst/>
              <a:gdLst/>
              <a:ahLst/>
              <a:cxnLst/>
              <a:rect l="l" t="t" r="r" b="b"/>
              <a:pathLst>
                <a:path w="9424" h="9971" extrusionOk="0">
                  <a:moveTo>
                    <a:pt x="1" y="1"/>
                  </a:moveTo>
                  <a:lnTo>
                    <a:pt x="1" y="548"/>
                  </a:lnTo>
                  <a:lnTo>
                    <a:pt x="9424" y="9971"/>
                  </a:lnTo>
                  <a:lnTo>
                    <a:pt x="9424" y="9454"/>
                  </a:lnTo>
                  <a:lnTo>
                    <a:pt x="1" y="1"/>
                  </a:lnTo>
                  <a:close/>
                </a:path>
              </a:pathLst>
            </a:custGeom>
            <a:grpFill/>
            <a:ln w="1905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" name="Google Shape;207;p27">
              <a:extLst>
                <a:ext uri="{FF2B5EF4-FFF2-40B4-BE49-F238E27FC236}">
                  <a16:creationId xmlns:a16="http://schemas.microsoft.com/office/drawing/2014/main" id="{3954509A-F793-F7E5-F1F5-6462C117C89C}"/>
                </a:ext>
              </a:extLst>
            </p:cNvPr>
            <p:cNvSpPr/>
            <p:nvPr/>
          </p:nvSpPr>
          <p:spPr>
            <a:xfrm>
              <a:off x="6482900" y="1962325"/>
              <a:ext cx="235600" cy="248500"/>
            </a:xfrm>
            <a:custGeom>
              <a:avLst/>
              <a:gdLst/>
              <a:ahLst/>
              <a:cxnLst/>
              <a:rect l="l" t="t" r="r" b="b"/>
              <a:pathLst>
                <a:path w="9424" h="9940" extrusionOk="0">
                  <a:moveTo>
                    <a:pt x="1" y="1"/>
                  </a:moveTo>
                  <a:lnTo>
                    <a:pt x="1" y="517"/>
                  </a:lnTo>
                  <a:lnTo>
                    <a:pt x="9424" y="9940"/>
                  </a:lnTo>
                  <a:lnTo>
                    <a:pt x="9424" y="9423"/>
                  </a:lnTo>
                  <a:lnTo>
                    <a:pt x="1" y="1"/>
                  </a:lnTo>
                  <a:close/>
                </a:path>
              </a:pathLst>
            </a:custGeom>
            <a:grpFill/>
            <a:ln w="1905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208;p27">
              <a:extLst>
                <a:ext uri="{FF2B5EF4-FFF2-40B4-BE49-F238E27FC236}">
                  <a16:creationId xmlns:a16="http://schemas.microsoft.com/office/drawing/2014/main" id="{50BFA87C-4D6C-0AE0-FFD9-2EA6A2685CFB}"/>
                </a:ext>
              </a:extLst>
            </p:cNvPr>
            <p:cNvSpPr/>
            <p:nvPr/>
          </p:nvSpPr>
          <p:spPr>
            <a:xfrm>
              <a:off x="6482900" y="2083900"/>
              <a:ext cx="235600" cy="248525"/>
            </a:xfrm>
            <a:custGeom>
              <a:avLst/>
              <a:gdLst/>
              <a:ahLst/>
              <a:cxnLst/>
              <a:rect l="l" t="t" r="r" b="b"/>
              <a:pathLst>
                <a:path w="9424" h="9941" extrusionOk="0">
                  <a:moveTo>
                    <a:pt x="1" y="1"/>
                  </a:moveTo>
                  <a:lnTo>
                    <a:pt x="1" y="518"/>
                  </a:lnTo>
                  <a:lnTo>
                    <a:pt x="9424" y="9940"/>
                  </a:lnTo>
                  <a:lnTo>
                    <a:pt x="9424" y="9423"/>
                  </a:lnTo>
                  <a:lnTo>
                    <a:pt x="1" y="1"/>
                  </a:lnTo>
                  <a:close/>
                </a:path>
              </a:pathLst>
            </a:custGeom>
            <a:grpFill/>
            <a:ln w="1905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Google Shape;209;p27">
              <a:extLst>
                <a:ext uri="{FF2B5EF4-FFF2-40B4-BE49-F238E27FC236}">
                  <a16:creationId xmlns:a16="http://schemas.microsoft.com/office/drawing/2014/main" id="{98B23D37-4EF1-A6DD-0AC4-60210AC05B6A}"/>
                </a:ext>
              </a:extLst>
            </p:cNvPr>
            <p:cNvSpPr/>
            <p:nvPr/>
          </p:nvSpPr>
          <p:spPr>
            <a:xfrm>
              <a:off x="6482900" y="2205500"/>
              <a:ext cx="235600" cy="248500"/>
            </a:xfrm>
            <a:custGeom>
              <a:avLst/>
              <a:gdLst/>
              <a:ahLst/>
              <a:cxnLst/>
              <a:rect l="l" t="t" r="r" b="b"/>
              <a:pathLst>
                <a:path w="9424" h="9940" extrusionOk="0">
                  <a:moveTo>
                    <a:pt x="1" y="0"/>
                  </a:moveTo>
                  <a:lnTo>
                    <a:pt x="1" y="547"/>
                  </a:lnTo>
                  <a:lnTo>
                    <a:pt x="9424" y="9939"/>
                  </a:lnTo>
                  <a:lnTo>
                    <a:pt x="9424" y="9423"/>
                  </a:lnTo>
                  <a:lnTo>
                    <a:pt x="1" y="0"/>
                  </a:lnTo>
                  <a:close/>
                </a:path>
              </a:pathLst>
            </a:custGeom>
            <a:grpFill/>
            <a:ln w="1905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210;p27">
              <a:extLst>
                <a:ext uri="{FF2B5EF4-FFF2-40B4-BE49-F238E27FC236}">
                  <a16:creationId xmlns:a16="http://schemas.microsoft.com/office/drawing/2014/main" id="{56A51AC2-F73C-FC69-46B6-7893961EB80D}"/>
                </a:ext>
              </a:extLst>
            </p:cNvPr>
            <p:cNvSpPr/>
            <p:nvPr/>
          </p:nvSpPr>
          <p:spPr>
            <a:xfrm>
              <a:off x="6482900" y="2327825"/>
              <a:ext cx="235600" cy="247750"/>
            </a:xfrm>
            <a:custGeom>
              <a:avLst/>
              <a:gdLst/>
              <a:ahLst/>
              <a:cxnLst/>
              <a:rect l="l" t="t" r="r" b="b"/>
              <a:pathLst>
                <a:path w="9424" h="9910" extrusionOk="0">
                  <a:moveTo>
                    <a:pt x="1" y="1"/>
                  </a:moveTo>
                  <a:lnTo>
                    <a:pt x="1" y="518"/>
                  </a:lnTo>
                  <a:lnTo>
                    <a:pt x="9424" y="9910"/>
                  </a:lnTo>
                  <a:lnTo>
                    <a:pt x="9424" y="9393"/>
                  </a:lnTo>
                  <a:lnTo>
                    <a:pt x="1" y="1"/>
                  </a:lnTo>
                  <a:close/>
                </a:path>
              </a:pathLst>
            </a:custGeom>
            <a:grpFill/>
            <a:ln w="1905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Google Shape;211;p27">
              <a:extLst>
                <a:ext uri="{FF2B5EF4-FFF2-40B4-BE49-F238E27FC236}">
                  <a16:creationId xmlns:a16="http://schemas.microsoft.com/office/drawing/2014/main" id="{1D14A1C8-09DC-068A-C3BF-2954912F3F69}"/>
                </a:ext>
              </a:extLst>
            </p:cNvPr>
            <p:cNvSpPr/>
            <p:nvPr/>
          </p:nvSpPr>
          <p:spPr>
            <a:xfrm>
              <a:off x="6482900" y="2449425"/>
              <a:ext cx="235600" cy="247750"/>
            </a:xfrm>
            <a:custGeom>
              <a:avLst/>
              <a:gdLst/>
              <a:ahLst/>
              <a:cxnLst/>
              <a:rect l="l" t="t" r="r" b="b"/>
              <a:pathLst>
                <a:path w="9424" h="9910" extrusionOk="0">
                  <a:moveTo>
                    <a:pt x="1" y="0"/>
                  </a:moveTo>
                  <a:lnTo>
                    <a:pt x="1" y="517"/>
                  </a:lnTo>
                  <a:lnTo>
                    <a:pt x="9424" y="9909"/>
                  </a:lnTo>
                  <a:lnTo>
                    <a:pt x="9424" y="9392"/>
                  </a:lnTo>
                  <a:lnTo>
                    <a:pt x="1" y="0"/>
                  </a:lnTo>
                  <a:close/>
                </a:path>
              </a:pathLst>
            </a:custGeom>
            <a:grpFill/>
            <a:ln w="1905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Google Shape;212;p27">
              <a:extLst>
                <a:ext uri="{FF2B5EF4-FFF2-40B4-BE49-F238E27FC236}">
                  <a16:creationId xmlns:a16="http://schemas.microsoft.com/office/drawing/2014/main" id="{A75C9177-8E20-B5D7-9853-5FDB61B3D1A9}"/>
                </a:ext>
              </a:extLst>
            </p:cNvPr>
            <p:cNvSpPr/>
            <p:nvPr/>
          </p:nvSpPr>
          <p:spPr>
            <a:xfrm>
              <a:off x="6482900" y="2571000"/>
              <a:ext cx="235600" cy="248500"/>
            </a:xfrm>
            <a:custGeom>
              <a:avLst/>
              <a:gdLst/>
              <a:ahLst/>
              <a:cxnLst/>
              <a:rect l="l" t="t" r="r" b="b"/>
              <a:pathLst>
                <a:path w="9424" h="9940" extrusionOk="0">
                  <a:moveTo>
                    <a:pt x="1" y="0"/>
                  </a:moveTo>
                  <a:lnTo>
                    <a:pt x="1" y="517"/>
                  </a:lnTo>
                  <a:lnTo>
                    <a:pt x="9424" y="9940"/>
                  </a:lnTo>
                  <a:lnTo>
                    <a:pt x="9424" y="9393"/>
                  </a:lnTo>
                  <a:lnTo>
                    <a:pt x="1" y="0"/>
                  </a:lnTo>
                  <a:close/>
                </a:path>
              </a:pathLst>
            </a:custGeom>
            <a:grpFill/>
            <a:ln w="1905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Google Shape;213;p27">
              <a:extLst>
                <a:ext uri="{FF2B5EF4-FFF2-40B4-BE49-F238E27FC236}">
                  <a16:creationId xmlns:a16="http://schemas.microsoft.com/office/drawing/2014/main" id="{CB696752-C165-EEA6-7327-0C5307CBA846}"/>
                </a:ext>
              </a:extLst>
            </p:cNvPr>
            <p:cNvSpPr/>
            <p:nvPr/>
          </p:nvSpPr>
          <p:spPr>
            <a:xfrm>
              <a:off x="6482900" y="2692575"/>
              <a:ext cx="235600" cy="248525"/>
            </a:xfrm>
            <a:custGeom>
              <a:avLst/>
              <a:gdLst/>
              <a:ahLst/>
              <a:cxnLst/>
              <a:rect l="l" t="t" r="r" b="b"/>
              <a:pathLst>
                <a:path w="9424" h="9941" extrusionOk="0">
                  <a:moveTo>
                    <a:pt x="1" y="1"/>
                  </a:moveTo>
                  <a:lnTo>
                    <a:pt x="1" y="517"/>
                  </a:lnTo>
                  <a:lnTo>
                    <a:pt x="9424" y="9940"/>
                  </a:lnTo>
                  <a:lnTo>
                    <a:pt x="9424" y="9423"/>
                  </a:lnTo>
                  <a:lnTo>
                    <a:pt x="1" y="1"/>
                  </a:lnTo>
                  <a:close/>
                </a:path>
              </a:pathLst>
            </a:custGeom>
            <a:grpFill/>
            <a:ln w="1905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" name="Google Shape;214;p27">
              <a:extLst>
                <a:ext uri="{FF2B5EF4-FFF2-40B4-BE49-F238E27FC236}">
                  <a16:creationId xmlns:a16="http://schemas.microsoft.com/office/drawing/2014/main" id="{2E7A2700-8E56-A4FF-80D0-C0ADB254D097}"/>
                </a:ext>
              </a:extLst>
            </p:cNvPr>
            <p:cNvSpPr/>
            <p:nvPr/>
          </p:nvSpPr>
          <p:spPr>
            <a:xfrm>
              <a:off x="6482900" y="2814150"/>
              <a:ext cx="235600" cy="248525"/>
            </a:xfrm>
            <a:custGeom>
              <a:avLst/>
              <a:gdLst/>
              <a:ahLst/>
              <a:cxnLst/>
              <a:rect l="l" t="t" r="r" b="b"/>
              <a:pathLst>
                <a:path w="9424" h="9941" extrusionOk="0">
                  <a:moveTo>
                    <a:pt x="1" y="1"/>
                  </a:moveTo>
                  <a:lnTo>
                    <a:pt x="1" y="518"/>
                  </a:lnTo>
                  <a:lnTo>
                    <a:pt x="9424" y="9940"/>
                  </a:lnTo>
                  <a:lnTo>
                    <a:pt x="9424" y="9424"/>
                  </a:lnTo>
                  <a:lnTo>
                    <a:pt x="1" y="1"/>
                  </a:lnTo>
                  <a:close/>
                </a:path>
              </a:pathLst>
            </a:custGeom>
            <a:grpFill/>
            <a:ln w="1905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" name="Google Shape;215;p27">
              <a:extLst>
                <a:ext uri="{FF2B5EF4-FFF2-40B4-BE49-F238E27FC236}">
                  <a16:creationId xmlns:a16="http://schemas.microsoft.com/office/drawing/2014/main" id="{541FBB76-B7F7-DAD7-BE15-5C96DB498090}"/>
                </a:ext>
              </a:extLst>
            </p:cNvPr>
            <p:cNvSpPr/>
            <p:nvPr/>
          </p:nvSpPr>
          <p:spPr>
            <a:xfrm>
              <a:off x="6482900" y="2935750"/>
              <a:ext cx="235600" cy="248500"/>
            </a:xfrm>
            <a:custGeom>
              <a:avLst/>
              <a:gdLst/>
              <a:ahLst/>
              <a:cxnLst/>
              <a:rect l="l" t="t" r="r" b="b"/>
              <a:pathLst>
                <a:path w="9424" h="9940" extrusionOk="0">
                  <a:moveTo>
                    <a:pt x="1" y="0"/>
                  </a:moveTo>
                  <a:lnTo>
                    <a:pt x="1" y="517"/>
                  </a:lnTo>
                  <a:lnTo>
                    <a:pt x="9424" y="9940"/>
                  </a:lnTo>
                  <a:lnTo>
                    <a:pt x="9424" y="9423"/>
                  </a:lnTo>
                  <a:lnTo>
                    <a:pt x="1" y="0"/>
                  </a:lnTo>
                  <a:close/>
                </a:path>
              </a:pathLst>
            </a:custGeom>
            <a:grpFill/>
            <a:ln w="1905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22" name="Picture 21">
            <a:extLst>
              <a:ext uri="{FF2B5EF4-FFF2-40B4-BE49-F238E27FC236}">
                <a16:creationId xmlns:a16="http://schemas.microsoft.com/office/drawing/2014/main" id="{3018BD59-8E43-F76F-04DA-281C6D9E48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9079" y="1552997"/>
            <a:ext cx="5105842" cy="11659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88876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D0DD14-3921-6ADA-73C3-E1F61873C2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D90DA34-683B-2BC5-9033-C6AF82506C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2483" y="0"/>
            <a:ext cx="7439034" cy="977736"/>
          </a:xfrm>
        </p:spPr>
        <p:txBody>
          <a:bodyPr/>
          <a:lstStyle/>
          <a:p>
            <a:r>
              <a:rPr lang="en-US" sz="2800" dirty="0">
                <a:solidFill>
                  <a:schemeClr val="bg1">
                    <a:lumMod val="10000"/>
                  </a:schemeClr>
                </a:solidFill>
              </a:rPr>
              <a:t>Kinematic Equations of the Kartini Reactor</a:t>
            </a:r>
            <a:endParaRPr lang="en-ID" sz="2800" dirty="0">
              <a:solidFill>
                <a:schemeClr val="bg1">
                  <a:lumMod val="10000"/>
                </a:schemeClr>
              </a:solidFill>
            </a:endParaRPr>
          </a:p>
        </p:txBody>
      </p:sp>
      <p:grpSp>
        <p:nvGrpSpPr>
          <p:cNvPr id="6" name="Google Shape;201;p27">
            <a:extLst>
              <a:ext uri="{FF2B5EF4-FFF2-40B4-BE49-F238E27FC236}">
                <a16:creationId xmlns:a16="http://schemas.microsoft.com/office/drawing/2014/main" id="{63F54C54-A4B8-9792-09EB-EFB9F382E6E5}"/>
              </a:ext>
            </a:extLst>
          </p:cNvPr>
          <p:cNvGrpSpPr/>
          <p:nvPr/>
        </p:nvGrpSpPr>
        <p:grpSpPr>
          <a:xfrm rot="5400000">
            <a:off x="7478419" y="3477920"/>
            <a:ext cx="615152" cy="2716009"/>
            <a:chOff x="6482900" y="1354425"/>
            <a:chExt cx="235600" cy="1829825"/>
          </a:xfrm>
          <a:solidFill>
            <a:schemeClr val="bg2"/>
          </a:solidFill>
        </p:grpSpPr>
        <p:sp>
          <p:nvSpPr>
            <p:cNvPr id="7" name="Google Shape;202;p27">
              <a:extLst>
                <a:ext uri="{FF2B5EF4-FFF2-40B4-BE49-F238E27FC236}">
                  <a16:creationId xmlns:a16="http://schemas.microsoft.com/office/drawing/2014/main" id="{48604E84-8F24-6D9C-2F87-CE5FBADDC387}"/>
                </a:ext>
              </a:extLst>
            </p:cNvPr>
            <p:cNvSpPr/>
            <p:nvPr/>
          </p:nvSpPr>
          <p:spPr>
            <a:xfrm>
              <a:off x="6482900" y="1354425"/>
              <a:ext cx="235600" cy="247750"/>
            </a:xfrm>
            <a:custGeom>
              <a:avLst/>
              <a:gdLst/>
              <a:ahLst/>
              <a:cxnLst/>
              <a:rect l="l" t="t" r="r" b="b"/>
              <a:pathLst>
                <a:path w="9424" h="9910" extrusionOk="0">
                  <a:moveTo>
                    <a:pt x="1" y="0"/>
                  </a:moveTo>
                  <a:lnTo>
                    <a:pt x="1" y="517"/>
                  </a:lnTo>
                  <a:lnTo>
                    <a:pt x="9424" y="9909"/>
                  </a:lnTo>
                  <a:lnTo>
                    <a:pt x="9424" y="9362"/>
                  </a:lnTo>
                  <a:lnTo>
                    <a:pt x="1" y="0"/>
                  </a:lnTo>
                  <a:close/>
                </a:path>
              </a:pathLst>
            </a:custGeom>
            <a:grpFill/>
            <a:ln w="1905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" name="Google Shape;203;p27">
              <a:extLst>
                <a:ext uri="{FF2B5EF4-FFF2-40B4-BE49-F238E27FC236}">
                  <a16:creationId xmlns:a16="http://schemas.microsoft.com/office/drawing/2014/main" id="{2398C22F-CA5F-E3E8-C2E2-7F39F8E197B7}"/>
                </a:ext>
              </a:extLst>
            </p:cNvPr>
            <p:cNvSpPr/>
            <p:nvPr/>
          </p:nvSpPr>
          <p:spPr>
            <a:xfrm>
              <a:off x="6482900" y="1476000"/>
              <a:ext cx="235600" cy="247750"/>
            </a:xfrm>
            <a:custGeom>
              <a:avLst/>
              <a:gdLst/>
              <a:ahLst/>
              <a:cxnLst/>
              <a:rect l="l" t="t" r="r" b="b"/>
              <a:pathLst>
                <a:path w="9424" h="9910" extrusionOk="0">
                  <a:moveTo>
                    <a:pt x="1" y="0"/>
                  </a:moveTo>
                  <a:lnTo>
                    <a:pt x="1" y="517"/>
                  </a:lnTo>
                  <a:lnTo>
                    <a:pt x="9424" y="9909"/>
                  </a:lnTo>
                  <a:lnTo>
                    <a:pt x="9424" y="9362"/>
                  </a:lnTo>
                  <a:lnTo>
                    <a:pt x="1" y="0"/>
                  </a:lnTo>
                  <a:close/>
                </a:path>
              </a:pathLst>
            </a:custGeom>
            <a:grpFill/>
            <a:ln w="1905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" name="Google Shape;204;p27">
              <a:extLst>
                <a:ext uri="{FF2B5EF4-FFF2-40B4-BE49-F238E27FC236}">
                  <a16:creationId xmlns:a16="http://schemas.microsoft.com/office/drawing/2014/main" id="{77A4F80A-7867-580D-153E-90ADBE895D4E}"/>
                </a:ext>
              </a:extLst>
            </p:cNvPr>
            <p:cNvSpPr/>
            <p:nvPr/>
          </p:nvSpPr>
          <p:spPr>
            <a:xfrm>
              <a:off x="6482900" y="1597575"/>
              <a:ext cx="235600" cy="248500"/>
            </a:xfrm>
            <a:custGeom>
              <a:avLst/>
              <a:gdLst/>
              <a:ahLst/>
              <a:cxnLst/>
              <a:rect l="l" t="t" r="r" b="b"/>
              <a:pathLst>
                <a:path w="9424" h="9940" extrusionOk="0">
                  <a:moveTo>
                    <a:pt x="1" y="1"/>
                  </a:moveTo>
                  <a:lnTo>
                    <a:pt x="1" y="517"/>
                  </a:lnTo>
                  <a:lnTo>
                    <a:pt x="9424" y="9940"/>
                  </a:lnTo>
                  <a:lnTo>
                    <a:pt x="9424" y="9362"/>
                  </a:lnTo>
                  <a:lnTo>
                    <a:pt x="1" y="1"/>
                  </a:lnTo>
                  <a:close/>
                </a:path>
              </a:pathLst>
            </a:custGeom>
            <a:grpFill/>
            <a:ln w="1905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" name="Google Shape;205;p27">
              <a:extLst>
                <a:ext uri="{FF2B5EF4-FFF2-40B4-BE49-F238E27FC236}">
                  <a16:creationId xmlns:a16="http://schemas.microsoft.com/office/drawing/2014/main" id="{B0FFA118-E7F7-D93E-96E2-63C3ACCE6202}"/>
                </a:ext>
              </a:extLst>
            </p:cNvPr>
            <p:cNvSpPr/>
            <p:nvPr/>
          </p:nvSpPr>
          <p:spPr>
            <a:xfrm>
              <a:off x="6482900" y="1719150"/>
              <a:ext cx="235600" cy="248525"/>
            </a:xfrm>
            <a:custGeom>
              <a:avLst/>
              <a:gdLst/>
              <a:ahLst/>
              <a:cxnLst/>
              <a:rect l="l" t="t" r="r" b="b"/>
              <a:pathLst>
                <a:path w="9424" h="9941" extrusionOk="0">
                  <a:moveTo>
                    <a:pt x="1" y="1"/>
                  </a:moveTo>
                  <a:lnTo>
                    <a:pt x="1" y="518"/>
                  </a:lnTo>
                  <a:lnTo>
                    <a:pt x="9424" y="9940"/>
                  </a:lnTo>
                  <a:lnTo>
                    <a:pt x="9424" y="9363"/>
                  </a:lnTo>
                  <a:lnTo>
                    <a:pt x="1" y="1"/>
                  </a:lnTo>
                  <a:close/>
                </a:path>
              </a:pathLst>
            </a:custGeom>
            <a:grpFill/>
            <a:ln w="1905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" name="Google Shape;206;p27">
              <a:extLst>
                <a:ext uri="{FF2B5EF4-FFF2-40B4-BE49-F238E27FC236}">
                  <a16:creationId xmlns:a16="http://schemas.microsoft.com/office/drawing/2014/main" id="{30845081-4181-8DF6-AB7C-AC28294D7432}"/>
                </a:ext>
              </a:extLst>
            </p:cNvPr>
            <p:cNvSpPr/>
            <p:nvPr/>
          </p:nvSpPr>
          <p:spPr>
            <a:xfrm>
              <a:off x="6482900" y="1839975"/>
              <a:ext cx="235600" cy="249275"/>
            </a:xfrm>
            <a:custGeom>
              <a:avLst/>
              <a:gdLst/>
              <a:ahLst/>
              <a:cxnLst/>
              <a:rect l="l" t="t" r="r" b="b"/>
              <a:pathLst>
                <a:path w="9424" h="9971" extrusionOk="0">
                  <a:moveTo>
                    <a:pt x="1" y="1"/>
                  </a:moveTo>
                  <a:lnTo>
                    <a:pt x="1" y="548"/>
                  </a:lnTo>
                  <a:lnTo>
                    <a:pt x="9424" y="9971"/>
                  </a:lnTo>
                  <a:lnTo>
                    <a:pt x="9424" y="9454"/>
                  </a:lnTo>
                  <a:lnTo>
                    <a:pt x="1" y="1"/>
                  </a:lnTo>
                  <a:close/>
                </a:path>
              </a:pathLst>
            </a:custGeom>
            <a:grpFill/>
            <a:ln w="1905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" name="Google Shape;207;p27">
              <a:extLst>
                <a:ext uri="{FF2B5EF4-FFF2-40B4-BE49-F238E27FC236}">
                  <a16:creationId xmlns:a16="http://schemas.microsoft.com/office/drawing/2014/main" id="{0D751294-8116-7F09-CB58-FB970E73DF5B}"/>
                </a:ext>
              </a:extLst>
            </p:cNvPr>
            <p:cNvSpPr/>
            <p:nvPr/>
          </p:nvSpPr>
          <p:spPr>
            <a:xfrm>
              <a:off x="6482900" y="1962325"/>
              <a:ext cx="235600" cy="248500"/>
            </a:xfrm>
            <a:custGeom>
              <a:avLst/>
              <a:gdLst/>
              <a:ahLst/>
              <a:cxnLst/>
              <a:rect l="l" t="t" r="r" b="b"/>
              <a:pathLst>
                <a:path w="9424" h="9940" extrusionOk="0">
                  <a:moveTo>
                    <a:pt x="1" y="1"/>
                  </a:moveTo>
                  <a:lnTo>
                    <a:pt x="1" y="517"/>
                  </a:lnTo>
                  <a:lnTo>
                    <a:pt x="9424" y="9940"/>
                  </a:lnTo>
                  <a:lnTo>
                    <a:pt x="9424" y="9423"/>
                  </a:lnTo>
                  <a:lnTo>
                    <a:pt x="1" y="1"/>
                  </a:lnTo>
                  <a:close/>
                </a:path>
              </a:pathLst>
            </a:custGeom>
            <a:grpFill/>
            <a:ln w="1905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208;p27">
              <a:extLst>
                <a:ext uri="{FF2B5EF4-FFF2-40B4-BE49-F238E27FC236}">
                  <a16:creationId xmlns:a16="http://schemas.microsoft.com/office/drawing/2014/main" id="{DC81EA66-F60D-9A4D-7831-00AD4551DDA2}"/>
                </a:ext>
              </a:extLst>
            </p:cNvPr>
            <p:cNvSpPr/>
            <p:nvPr/>
          </p:nvSpPr>
          <p:spPr>
            <a:xfrm>
              <a:off x="6482900" y="2083900"/>
              <a:ext cx="235600" cy="248525"/>
            </a:xfrm>
            <a:custGeom>
              <a:avLst/>
              <a:gdLst/>
              <a:ahLst/>
              <a:cxnLst/>
              <a:rect l="l" t="t" r="r" b="b"/>
              <a:pathLst>
                <a:path w="9424" h="9941" extrusionOk="0">
                  <a:moveTo>
                    <a:pt x="1" y="1"/>
                  </a:moveTo>
                  <a:lnTo>
                    <a:pt x="1" y="518"/>
                  </a:lnTo>
                  <a:lnTo>
                    <a:pt x="9424" y="9940"/>
                  </a:lnTo>
                  <a:lnTo>
                    <a:pt x="9424" y="9423"/>
                  </a:lnTo>
                  <a:lnTo>
                    <a:pt x="1" y="1"/>
                  </a:lnTo>
                  <a:close/>
                </a:path>
              </a:pathLst>
            </a:custGeom>
            <a:grpFill/>
            <a:ln w="1905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Google Shape;209;p27">
              <a:extLst>
                <a:ext uri="{FF2B5EF4-FFF2-40B4-BE49-F238E27FC236}">
                  <a16:creationId xmlns:a16="http://schemas.microsoft.com/office/drawing/2014/main" id="{1A193BFF-7304-0066-9ED9-C4FF54751F71}"/>
                </a:ext>
              </a:extLst>
            </p:cNvPr>
            <p:cNvSpPr/>
            <p:nvPr/>
          </p:nvSpPr>
          <p:spPr>
            <a:xfrm>
              <a:off x="6482900" y="2205500"/>
              <a:ext cx="235600" cy="248500"/>
            </a:xfrm>
            <a:custGeom>
              <a:avLst/>
              <a:gdLst/>
              <a:ahLst/>
              <a:cxnLst/>
              <a:rect l="l" t="t" r="r" b="b"/>
              <a:pathLst>
                <a:path w="9424" h="9940" extrusionOk="0">
                  <a:moveTo>
                    <a:pt x="1" y="0"/>
                  </a:moveTo>
                  <a:lnTo>
                    <a:pt x="1" y="547"/>
                  </a:lnTo>
                  <a:lnTo>
                    <a:pt x="9424" y="9939"/>
                  </a:lnTo>
                  <a:lnTo>
                    <a:pt x="9424" y="9423"/>
                  </a:lnTo>
                  <a:lnTo>
                    <a:pt x="1" y="0"/>
                  </a:lnTo>
                  <a:close/>
                </a:path>
              </a:pathLst>
            </a:custGeom>
            <a:grpFill/>
            <a:ln w="1905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210;p27">
              <a:extLst>
                <a:ext uri="{FF2B5EF4-FFF2-40B4-BE49-F238E27FC236}">
                  <a16:creationId xmlns:a16="http://schemas.microsoft.com/office/drawing/2014/main" id="{586810F2-1274-0FAE-436A-68DD78D76713}"/>
                </a:ext>
              </a:extLst>
            </p:cNvPr>
            <p:cNvSpPr/>
            <p:nvPr/>
          </p:nvSpPr>
          <p:spPr>
            <a:xfrm>
              <a:off x="6482900" y="2327825"/>
              <a:ext cx="235600" cy="247750"/>
            </a:xfrm>
            <a:custGeom>
              <a:avLst/>
              <a:gdLst/>
              <a:ahLst/>
              <a:cxnLst/>
              <a:rect l="l" t="t" r="r" b="b"/>
              <a:pathLst>
                <a:path w="9424" h="9910" extrusionOk="0">
                  <a:moveTo>
                    <a:pt x="1" y="1"/>
                  </a:moveTo>
                  <a:lnTo>
                    <a:pt x="1" y="518"/>
                  </a:lnTo>
                  <a:lnTo>
                    <a:pt x="9424" y="9910"/>
                  </a:lnTo>
                  <a:lnTo>
                    <a:pt x="9424" y="9393"/>
                  </a:lnTo>
                  <a:lnTo>
                    <a:pt x="1" y="1"/>
                  </a:lnTo>
                  <a:close/>
                </a:path>
              </a:pathLst>
            </a:custGeom>
            <a:grpFill/>
            <a:ln w="1905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Google Shape;211;p27">
              <a:extLst>
                <a:ext uri="{FF2B5EF4-FFF2-40B4-BE49-F238E27FC236}">
                  <a16:creationId xmlns:a16="http://schemas.microsoft.com/office/drawing/2014/main" id="{D233B7AE-B9FB-4DB9-A0A2-65A6C397C282}"/>
                </a:ext>
              </a:extLst>
            </p:cNvPr>
            <p:cNvSpPr/>
            <p:nvPr/>
          </p:nvSpPr>
          <p:spPr>
            <a:xfrm>
              <a:off x="6482900" y="2449425"/>
              <a:ext cx="235600" cy="247750"/>
            </a:xfrm>
            <a:custGeom>
              <a:avLst/>
              <a:gdLst/>
              <a:ahLst/>
              <a:cxnLst/>
              <a:rect l="l" t="t" r="r" b="b"/>
              <a:pathLst>
                <a:path w="9424" h="9910" extrusionOk="0">
                  <a:moveTo>
                    <a:pt x="1" y="0"/>
                  </a:moveTo>
                  <a:lnTo>
                    <a:pt x="1" y="517"/>
                  </a:lnTo>
                  <a:lnTo>
                    <a:pt x="9424" y="9909"/>
                  </a:lnTo>
                  <a:lnTo>
                    <a:pt x="9424" y="9392"/>
                  </a:lnTo>
                  <a:lnTo>
                    <a:pt x="1" y="0"/>
                  </a:lnTo>
                  <a:close/>
                </a:path>
              </a:pathLst>
            </a:custGeom>
            <a:grpFill/>
            <a:ln w="1905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Google Shape;212;p27">
              <a:extLst>
                <a:ext uri="{FF2B5EF4-FFF2-40B4-BE49-F238E27FC236}">
                  <a16:creationId xmlns:a16="http://schemas.microsoft.com/office/drawing/2014/main" id="{6DF02103-1EFB-4EC4-F4A4-6D9B3962BF9E}"/>
                </a:ext>
              </a:extLst>
            </p:cNvPr>
            <p:cNvSpPr/>
            <p:nvPr/>
          </p:nvSpPr>
          <p:spPr>
            <a:xfrm>
              <a:off x="6482900" y="2571000"/>
              <a:ext cx="235600" cy="248500"/>
            </a:xfrm>
            <a:custGeom>
              <a:avLst/>
              <a:gdLst/>
              <a:ahLst/>
              <a:cxnLst/>
              <a:rect l="l" t="t" r="r" b="b"/>
              <a:pathLst>
                <a:path w="9424" h="9940" extrusionOk="0">
                  <a:moveTo>
                    <a:pt x="1" y="0"/>
                  </a:moveTo>
                  <a:lnTo>
                    <a:pt x="1" y="517"/>
                  </a:lnTo>
                  <a:lnTo>
                    <a:pt x="9424" y="9940"/>
                  </a:lnTo>
                  <a:lnTo>
                    <a:pt x="9424" y="9393"/>
                  </a:lnTo>
                  <a:lnTo>
                    <a:pt x="1" y="0"/>
                  </a:lnTo>
                  <a:close/>
                </a:path>
              </a:pathLst>
            </a:custGeom>
            <a:grpFill/>
            <a:ln w="1905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Google Shape;213;p27">
              <a:extLst>
                <a:ext uri="{FF2B5EF4-FFF2-40B4-BE49-F238E27FC236}">
                  <a16:creationId xmlns:a16="http://schemas.microsoft.com/office/drawing/2014/main" id="{B321C3A8-BFF2-91A3-C24C-BA85FB0AB6C3}"/>
                </a:ext>
              </a:extLst>
            </p:cNvPr>
            <p:cNvSpPr/>
            <p:nvPr/>
          </p:nvSpPr>
          <p:spPr>
            <a:xfrm>
              <a:off x="6482900" y="2692575"/>
              <a:ext cx="235600" cy="248525"/>
            </a:xfrm>
            <a:custGeom>
              <a:avLst/>
              <a:gdLst/>
              <a:ahLst/>
              <a:cxnLst/>
              <a:rect l="l" t="t" r="r" b="b"/>
              <a:pathLst>
                <a:path w="9424" h="9941" extrusionOk="0">
                  <a:moveTo>
                    <a:pt x="1" y="1"/>
                  </a:moveTo>
                  <a:lnTo>
                    <a:pt x="1" y="517"/>
                  </a:lnTo>
                  <a:lnTo>
                    <a:pt x="9424" y="9940"/>
                  </a:lnTo>
                  <a:lnTo>
                    <a:pt x="9424" y="9423"/>
                  </a:lnTo>
                  <a:lnTo>
                    <a:pt x="1" y="1"/>
                  </a:lnTo>
                  <a:close/>
                </a:path>
              </a:pathLst>
            </a:custGeom>
            <a:grpFill/>
            <a:ln w="1905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" name="Google Shape;214;p27">
              <a:extLst>
                <a:ext uri="{FF2B5EF4-FFF2-40B4-BE49-F238E27FC236}">
                  <a16:creationId xmlns:a16="http://schemas.microsoft.com/office/drawing/2014/main" id="{4E48B69A-2E50-D094-724F-8F7F92A0DE15}"/>
                </a:ext>
              </a:extLst>
            </p:cNvPr>
            <p:cNvSpPr/>
            <p:nvPr/>
          </p:nvSpPr>
          <p:spPr>
            <a:xfrm>
              <a:off x="6482900" y="2814150"/>
              <a:ext cx="235600" cy="248525"/>
            </a:xfrm>
            <a:custGeom>
              <a:avLst/>
              <a:gdLst/>
              <a:ahLst/>
              <a:cxnLst/>
              <a:rect l="l" t="t" r="r" b="b"/>
              <a:pathLst>
                <a:path w="9424" h="9941" extrusionOk="0">
                  <a:moveTo>
                    <a:pt x="1" y="1"/>
                  </a:moveTo>
                  <a:lnTo>
                    <a:pt x="1" y="518"/>
                  </a:lnTo>
                  <a:lnTo>
                    <a:pt x="9424" y="9940"/>
                  </a:lnTo>
                  <a:lnTo>
                    <a:pt x="9424" y="9424"/>
                  </a:lnTo>
                  <a:lnTo>
                    <a:pt x="1" y="1"/>
                  </a:lnTo>
                  <a:close/>
                </a:path>
              </a:pathLst>
            </a:custGeom>
            <a:grpFill/>
            <a:ln w="1905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" name="Google Shape;215;p27">
              <a:extLst>
                <a:ext uri="{FF2B5EF4-FFF2-40B4-BE49-F238E27FC236}">
                  <a16:creationId xmlns:a16="http://schemas.microsoft.com/office/drawing/2014/main" id="{C9FE9B57-899B-FC4F-E185-C8025E5D65D9}"/>
                </a:ext>
              </a:extLst>
            </p:cNvPr>
            <p:cNvSpPr/>
            <p:nvPr/>
          </p:nvSpPr>
          <p:spPr>
            <a:xfrm>
              <a:off x="6482900" y="2935750"/>
              <a:ext cx="235600" cy="248500"/>
            </a:xfrm>
            <a:custGeom>
              <a:avLst/>
              <a:gdLst/>
              <a:ahLst/>
              <a:cxnLst/>
              <a:rect l="l" t="t" r="r" b="b"/>
              <a:pathLst>
                <a:path w="9424" h="9940" extrusionOk="0">
                  <a:moveTo>
                    <a:pt x="1" y="0"/>
                  </a:moveTo>
                  <a:lnTo>
                    <a:pt x="1" y="517"/>
                  </a:lnTo>
                  <a:lnTo>
                    <a:pt x="9424" y="9940"/>
                  </a:lnTo>
                  <a:lnTo>
                    <a:pt x="9424" y="9423"/>
                  </a:lnTo>
                  <a:lnTo>
                    <a:pt x="1" y="0"/>
                  </a:lnTo>
                  <a:close/>
                </a:path>
              </a:pathLst>
            </a:custGeom>
            <a:grpFill/>
            <a:ln w="1905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22" name="Picture 21">
            <a:extLst>
              <a:ext uri="{FF2B5EF4-FFF2-40B4-BE49-F238E27FC236}">
                <a16:creationId xmlns:a16="http://schemas.microsoft.com/office/drawing/2014/main" id="{5428AF1B-4DCE-34E4-E427-971232F3A8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9079" y="1552997"/>
            <a:ext cx="5105842" cy="1165961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03E9BCA1-F308-78F0-7E8A-554ED0F37E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81229" y="3294219"/>
            <a:ext cx="2781541" cy="739204"/>
          </a:xfrm>
          <a:prstGeom prst="rect">
            <a:avLst/>
          </a:prstGeom>
        </p:spPr>
      </p:pic>
      <p:sp>
        <p:nvSpPr>
          <p:cNvPr id="2" name="Google Shape;221;p28">
            <a:extLst>
              <a:ext uri="{FF2B5EF4-FFF2-40B4-BE49-F238E27FC236}">
                <a16:creationId xmlns:a16="http://schemas.microsoft.com/office/drawing/2014/main" id="{F51A2DBD-E71D-ABD7-4573-D4172FE10B1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20000" y="1190414"/>
            <a:ext cx="7704000" cy="35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buNone/>
            </a:pPr>
            <a:r>
              <a:rPr lang="en-ID" dirty="0"/>
              <a:t>the approach used:</a:t>
            </a:r>
            <a:endParaRPr dirty="0"/>
          </a:p>
        </p:txBody>
      </p:sp>
      <p:sp>
        <p:nvSpPr>
          <p:cNvPr id="3" name="Multiplication Sign 2">
            <a:extLst>
              <a:ext uri="{FF2B5EF4-FFF2-40B4-BE49-F238E27FC236}">
                <a16:creationId xmlns:a16="http://schemas.microsoft.com/office/drawing/2014/main" id="{F516FB11-41CC-DE96-0594-BF864972F7C1}"/>
              </a:ext>
            </a:extLst>
          </p:cNvPr>
          <p:cNvSpPr/>
          <p:nvPr/>
        </p:nvSpPr>
        <p:spPr>
          <a:xfrm>
            <a:off x="2878575" y="1618906"/>
            <a:ext cx="501771" cy="527050"/>
          </a:xfrm>
          <a:prstGeom prst="mathMultiply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5" name="Google Shape;221;p28">
            <a:extLst>
              <a:ext uri="{FF2B5EF4-FFF2-40B4-BE49-F238E27FC236}">
                <a16:creationId xmlns:a16="http://schemas.microsoft.com/office/drawing/2014/main" id="{3EE6CD60-677D-6729-F2C4-3654210C7D8E}"/>
              </a:ext>
            </a:extLst>
          </p:cNvPr>
          <p:cNvSpPr txBox="1">
            <a:spLocks/>
          </p:cNvSpPr>
          <p:nvPr/>
        </p:nvSpPr>
        <p:spPr>
          <a:xfrm>
            <a:off x="710243" y="2859381"/>
            <a:ext cx="7704000" cy="35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Char char="●"/>
              <a:defRPr sz="1200" b="0" i="0" u="none" strike="noStrike" cap="none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1pPr>
            <a:lvl2pPr marL="914400" marR="0" lvl="1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Char char="○"/>
              <a:defRPr sz="1200" b="0" i="0" u="none" strike="noStrike" cap="none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2pPr>
            <a:lvl3pPr marL="1371600" marR="0" lvl="2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Char char="■"/>
              <a:defRPr sz="1200" b="0" i="0" u="none" strike="noStrike" cap="none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3pPr>
            <a:lvl4pPr marL="1828800" marR="0" lvl="3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Char char="●"/>
              <a:defRPr sz="1200" b="0" i="0" u="none" strike="noStrike" cap="none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4pPr>
            <a:lvl5pPr marL="2286000" marR="0" lvl="4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Char char="○"/>
              <a:defRPr sz="1200" b="0" i="0" u="none" strike="noStrike" cap="none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5pPr>
            <a:lvl6pPr marL="2743200" marR="0" lvl="5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Char char="■"/>
              <a:defRPr sz="1200" b="0" i="0" u="none" strike="noStrike" cap="none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6pPr>
            <a:lvl7pPr marL="3200400" marR="0" lvl="6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Char char="●"/>
              <a:defRPr sz="1200" b="0" i="0" u="none" strike="noStrike" cap="none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7pPr>
            <a:lvl8pPr marL="3657600" marR="0" lvl="7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Char char="○"/>
              <a:defRPr sz="1200" b="0" i="0" u="none" strike="noStrike" cap="none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8pPr>
            <a:lvl9pPr marL="4114800" marR="0" lvl="8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Char char="■"/>
              <a:defRPr sz="1200" b="0" i="0" u="none" strike="noStrike" cap="none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9pPr>
          </a:lstStyle>
          <a:p>
            <a:pPr marL="0" indent="0">
              <a:buFont typeface="Nunito Light"/>
              <a:buNone/>
            </a:pPr>
            <a:r>
              <a:rPr lang="en-ID" dirty="0"/>
              <a:t>Adding Thermal feedback term: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A8F4D4B-9F4B-B9CF-244C-96F45C91C15B}"/>
              </a:ext>
            </a:extLst>
          </p:cNvPr>
          <p:cNvSpPr txBox="1"/>
          <p:nvPr/>
        </p:nvSpPr>
        <p:spPr>
          <a:xfrm>
            <a:off x="4147202" y="924213"/>
            <a:ext cx="237645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dirty="0"/>
              <a:t>delete external neutron source term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1929DCD7-70D7-E571-E5CA-5A1A0F9FF030}"/>
              </a:ext>
            </a:extLst>
          </p:cNvPr>
          <p:cNvCxnSpPr>
            <a:stCxn id="23" idx="1"/>
          </p:cNvCxnSpPr>
          <p:nvPr/>
        </p:nvCxnSpPr>
        <p:spPr>
          <a:xfrm flipH="1">
            <a:off x="3270250" y="1185823"/>
            <a:ext cx="876952" cy="56042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263465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C3D7C8-D40C-D5E8-52B8-3E7260643E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105093"/>
            <a:ext cx="9144000" cy="975913"/>
          </a:xfrm>
        </p:spPr>
        <p:txBody>
          <a:bodyPr/>
          <a:lstStyle/>
          <a:p>
            <a:r>
              <a:rPr lang="en-US" dirty="0"/>
              <a:t>Reactivity Model with Control Rod Position</a:t>
            </a:r>
            <a:endParaRPr lang="en-ID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98307B-F14F-C8EB-2723-C27039AD24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From paper </a:t>
            </a:r>
            <a:endParaRPr lang="en-ID" dirty="0"/>
          </a:p>
        </p:txBody>
      </p:sp>
      <p:grpSp>
        <p:nvGrpSpPr>
          <p:cNvPr id="4" name="Google Shape;201;p27">
            <a:extLst>
              <a:ext uri="{FF2B5EF4-FFF2-40B4-BE49-F238E27FC236}">
                <a16:creationId xmlns:a16="http://schemas.microsoft.com/office/drawing/2014/main" id="{BD0428DD-E9E6-EE84-F42E-837322C48AC1}"/>
              </a:ext>
            </a:extLst>
          </p:cNvPr>
          <p:cNvGrpSpPr/>
          <p:nvPr/>
        </p:nvGrpSpPr>
        <p:grpSpPr>
          <a:xfrm rot="5400000">
            <a:off x="412424" y="3477919"/>
            <a:ext cx="615152" cy="2716009"/>
            <a:chOff x="6482900" y="1354425"/>
            <a:chExt cx="235600" cy="1829825"/>
          </a:xfrm>
          <a:solidFill>
            <a:schemeClr val="bg2"/>
          </a:solidFill>
        </p:grpSpPr>
        <p:sp>
          <p:nvSpPr>
            <p:cNvPr id="5" name="Google Shape;202;p27">
              <a:extLst>
                <a:ext uri="{FF2B5EF4-FFF2-40B4-BE49-F238E27FC236}">
                  <a16:creationId xmlns:a16="http://schemas.microsoft.com/office/drawing/2014/main" id="{3BE677DA-E408-B8A7-1322-832E3332805E}"/>
                </a:ext>
              </a:extLst>
            </p:cNvPr>
            <p:cNvSpPr/>
            <p:nvPr/>
          </p:nvSpPr>
          <p:spPr>
            <a:xfrm>
              <a:off x="6482900" y="1354425"/>
              <a:ext cx="235600" cy="247750"/>
            </a:xfrm>
            <a:custGeom>
              <a:avLst/>
              <a:gdLst/>
              <a:ahLst/>
              <a:cxnLst/>
              <a:rect l="l" t="t" r="r" b="b"/>
              <a:pathLst>
                <a:path w="9424" h="9910" extrusionOk="0">
                  <a:moveTo>
                    <a:pt x="1" y="0"/>
                  </a:moveTo>
                  <a:lnTo>
                    <a:pt x="1" y="517"/>
                  </a:lnTo>
                  <a:lnTo>
                    <a:pt x="9424" y="9909"/>
                  </a:lnTo>
                  <a:lnTo>
                    <a:pt x="9424" y="9362"/>
                  </a:lnTo>
                  <a:lnTo>
                    <a:pt x="1" y="0"/>
                  </a:lnTo>
                  <a:close/>
                </a:path>
              </a:pathLst>
            </a:custGeom>
            <a:grpFill/>
            <a:ln w="1905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" name="Google Shape;203;p27">
              <a:extLst>
                <a:ext uri="{FF2B5EF4-FFF2-40B4-BE49-F238E27FC236}">
                  <a16:creationId xmlns:a16="http://schemas.microsoft.com/office/drawing/2014/main" id="{8E02D487-097F-EEA2-D2CE-A606598462C3}"/>
                </a:ext>
              </a:extLst>
            </p:cNvPr>
            <p:cNvSpPr/>
            <p:nvPr/>
          </p:nvSpPr>
          <p:spPr>
            <a:xfrm>
              <a:off x="6482900" y="1476000"/>
              <a:ext cx="235600" cy="247750"/>
            </a:xfrm>
            <a:custGeom>
              <a:avLst/>
              <a:gdLst/>
              <a:ahLst/>
              <a:cxnLst/>
              <a:rect l="l" t="t" r="r" b="b"/>
              <a:pathLst>
                <a:path w="9424" h="9910" extrusionOk="0">
                  <a:moveTo>
                    <a:pt x="1" y="0"/>
                  </a:moveTo>
                  <a:lnTo>
                    <a:pt x="1" y="517"/>
                  </a:lnTo>
                  <a:lnTo>
                    <a:pt x="9424" y="9909"/>
                  </a:lnTo>
                  <a:lnTo>
                    <a:pt x="9424" y="9362"/>
                  </a:lnTo>
                  <a:lnTo>
                    <a:pt x="1" y="0"/>
                  </a:lnTo>
                  <a:close/>
                </a:path>
              </a:pathLst>
            </a:custGeom>
            <a:grpFill/>
            <a:ln w="1905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" name="Google Shape;204;p27">
              <a:extLst>
                <a:ext uri="{FF2B5EF4-FFF2-40B4-BE49-F238E27FC236}">
                  <a16:creationId xmlns:a16="http://schemas.microsoft.com/office/drawing/2014/main" id="{596E6E56-C847-1CCB-FFCC-2D59E3FE487F}"/>
                </a:ext>
              </a:extLst>
            </p:cNvPr>
            <p:cNvSpPr/>
            <p:nvPr/>
          </p:nvSpPr>
          <p:spPr>
            <a:xfrm>
              <a:off x="6482900" y="1597575"/>
              <a:ext cx="235600" cy="248500"/>
            </a:xfrm>
            <a:custGeom>
              <a:avLst/>
              <a:gdLst/>
              <a:ahLst/>
              <a:cxnLst/>
              <a:rect l="l" t="t" r="r" b="b"/>
              <a:pathLst>
                <a:path w="9424" h="9940" extrusionOk="0">
                  <a:moveTo>
                    <a:pt x="1" y="1"/>
                  </a:moveTo>
                  <a:lnTo>
                    <a:pt x="1" y="517"/>
                  </a:lnTo>
                  <a:lnTo>
                    <a:pt x="9424" y="9940"/>
                  </a:lnTo>
                  <a:lnTo>
                    <a:pt x="9424" y="9362"/>
                  </a:lnTo>
                  <a:lnTo>
                    <a:pt x="1" y="1"/>
                  </a:lnTo>
                  <a:close/>
                </a:path>
              </a:pathLst>
            </a:custGeom>
            <a:grpFill/>
            <a:ln w="1905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" name="Google Shape;205;p27">
              <a:extLst>
                <a:ext uri="{FF2B5EF4-FFF2-40B4-BE49-F238E27FC236}">
                  <a16:creationId xmlns:a16="http://schemas.microsoft.com/office/drawing/2014/main" id="{D01632D2-E0FB-79A6-8B6E-EC2C22C509F9}"/>
                </a:ext>
              </a:extLst>
            </p:cNvPr>
            <p:cNvSpPr/>
            <p:nvPr/>
          </p:nvSpPr>
          <p:spPr>
            <a:xfrm>
              <a:off x="6482900" y="1719150"/>
              <a:ext cx="235600" cy="248525"/>
            </a:xfrm>
            <a:custGeom>
              <a:avLst/>
              <a:gdLst/>
              <a:ahLst/>
              <a:cxnLst/>
              <a:rect l="l" t="t" r="r" b="b"/>
              <a:pathLst>
                <a:path w="9424" h="9941" extrusionOk="0">
                  <a:moveTo>
                    <a:pt x="1" y="1"/>
                  </a:moveTo>
                  <a:lnTo>
                    <a:pt x="1" y="518"/>
                  </a:lnTo>
                  <a:lnTo>
                    <a:pt x="9424" y="9940"/>
                  </a:lnTo>
                  <a:lnTo>
                    <a:pt x="9424" y="9363"/>
                  </a:lnTo>
                  <a:lnTo>
                    <a:pt x="1" y="1"/>
                  </a:lnTo>
                  <a:close/>
                </a:path>
              </a:pathLst>
            </a:custGeom>
            <a:grpFill/>
            <a:ln w="1905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" name="Google Shape;206;p27">
              <a:extLst>
                <a:ext uri="{FF2B5EF4-FFF2-40B4-BE49-F238E27FC236}">
                  <a16:creationId xmlns:a16="http://schemas.microsoft.com/office/drawing/2014/main" id="{DABB2F9A-869A-ECF3-99CB-C6063732A9B1}"/>
                </a:ext>
              </a:extLst>
            </p:cNvPr>
            <p:cNvSpPr/>
            <p:nvPr/>
          </p:nvSpPr>
          <p:spPr>
            <a:xfrm>
              <a:off x="6482900" y="1839975"/>
              <a:ext cx="235600" cy="249275"/>
            </a:xfrm>
            <a:custGeom>
              <a:avLst/>
              <a:gdLst/>
              <a:ahLst/>
              <a:cxnLst/>
              <a:rect l="l" t="t" r="r" b="b"/>
              <a:pathLst>
                <a:path w="9424" h="9971" extrusionOk="0">
                  <a:moveTo>
                    <a:pt x="1" y="1"/>
                  </a:moveTo>
                  <a:lnTo>
                    <a:pt x="1" y="548"/>
                  </a:lnTo>
                  <a:lnTo>
                    <a:pt x="9424" y="9971"/>
                  </a:lnTo>
                  <a:lnTo>
                    <a:pt x="9424" y="9454"/>
                  </a:lnTo>
                  <a:lnTo>
                    <a:pt x="1" y="1"/>
                  </a:lnTo>
                  <a:close/>
                </a:path>
              </a:pathLst>
            </a:custGeom>
            <a:grpFill/>
            <a:ln w="1905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" name="Google Shape;207;p27">
              <a:extLst>
                <a:ext uri="{FF2B5EF4-FFF2-40B4-BE49-F238E27FC236}">
                  <a16:creationId xmlns:a16="http://schemas.microsoft.com/office/drawing/2014/main" id="{1C2ED4BE-28B1-5EC7-F5E7-4F2EFF2E3273}"/>
                </a:ext>
              </a:extLst>
            </p:cNvPr>
            <p:cNvSpPr/>
            <p:nvPr/>
          </p:nvSpPr>
          <p:spPr>
            <a:xfrm>
              <a:off x="6482900" y="1962325"/>
              <a:ext cx="235600" cy="248500"/>
            </a:xfrm>
            <a:custGeom>
              <a:avLst/>
              <a:gdLst/>
              <a:ahLst/>
              <a:cxnLst/>
              <a:rect l="l" t="t" r="r" b="b"/>
              <a:pathLst>
                <a:path w="9424" h="9940" extrusionOk="0">
                  <a:moveTo>
                    <a:pt x="1" y="1"/>
                  </a:moveTo>
                  <a:lnTo>
                    <a:pt x="1" y="517"/>
                  </a:lnTo>
                  <a:lnTo>
                    <a:pt x="9424" y="9940"/>
                  </a:lnTo>
                  <a:lnTo>
                    <a:pt x="9424" y="9423"/>
                  </a:lnTo>
                  <a:lnTo>
                    <a:pt x="1" y="1"/>
                  </a:lnTo>
                  <a:close/>
                </a:path>
              </a:pathLst>
            </a:custGeom>
            <a:grpFill/>
            <a:ln w="1905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" name="Google Shape;208;p27">
              <a:extLst>
                <a:ext uri="{FF2B5EF4-FFF2-40B4-BE49-F238E27FC236}">
                  <a16:creationId xmlns:a16="http://schemas.microsoft.com/office/drawing/2014/main" id="{590903B3-E685-6566-786C-32164F125603}"/>
                </a:ext>
              </a:extLst>
            </p:cNvPr>
            <p:cNvSpPr/>
            <p:nvPr/>
          </p:nvSpPr>
          <p:spPr>
            <a:xfrm>
              <a:off x="6482900" y="2083900"/>
              <a:ext cx="235600" cy="248525"/>
            </a:xfrm>
            <a:custGeom>
              <a:avLst/>
              <a:gdLst/>
              <a:ahLst/>
              <a:cxnLst/>
              <a:rect l="l" t="t" r="r" b="b"/>
              <a:pathLst>
                <a:path w="9424" h="9941" extrusionOk="0">
                  <a:moveTo>
                    <a:pt x="1" y="1"/>
                  </a:moveTo>
                  <a:lnTo>
                    <a:pt x="1" y="518"/>
                  </a:lnTo>
                  <a:lnTo>
                    <a:pt x="9424" y="9940"/>
                  </a:lnTo>
                  <a:lnTo>
                    <a:pt x="9424" y="9423"/>
                  </a:lnTo>
                  <a:lnTo>
                    <a:pt x="1" y="1"/>
                  </a:lnTo>
                  <a:close/>
                </a:path>
              </a:pathLst>
            </a:custGeom>
            <a:grpFill/>
            <a:ln w="1905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" name="Google Shape;209;p27">
              <a:extLst>
                <a:ext uri="{FF2B5EF4-FFF2-40B4-BE49-F238E27FC236}">
                  <a16:creationId xmlns:a16="http://schemas.microsoft.com/office/drawing/2014/main" id="{DE8AD184-256C-04D6-C40A-00396B83AADD}"/>
                </a:ext>
              </a:extLst>
            </p:cNvPr>
            <p:cNvSpPr/>
            <p:nvPr/>
          </p:nvSpPr>
          <p:spPr>
            <a:xfrm>
              <a:off x="6482900" y="2205500"/>
              <a:ext cx="235600" cy="248500"/>
            </a:xfrm>
            <a:custGeom>
              <a:avLst/>
              <a:gdLst/>
              <a:ahLst/>
              <a:cxnLst/>
              <a:rect l="l" t="t" r="r" b="b"/>
              <a:pathLst>
                <a:path w="9424" h="9940" extrusionOk="0">
                  <a:moveTo>
                    <a:pt x="1" y="0"/>
                  </a:moveTo>
                  <a:lnTo>
                    <a:pt x="1" y="547"/>
                  </a:lnTo>
                  <a:lnTo>
                    <a:pt x="9424" y="9939"/>
                  </a:lnTo>
                  <a:lnTo>
                    <a:pt x="9424" y="9423"/>
                  </a:lnTo>
                  <a:lnTo>
                    <a:pt x="1" y="0"/>
                  </a:lnTo>
                  <a:close/>
                </a:path>
              </a:pathLst>
            </a:custGeom>
            <a:grpFill/>
            <a:ln w="1905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210;p27">
              <a:extLst>
                <a:ext uri="{FF2B5EF4-FFF2-40B4-BE49-F238E27FC236}">
                  <a16:creationId xmlns:a16="http://schemas.microsoft.com/office/drawing/2014/main" id="{ADD63220-569F-A6B6-FC3C-2A75582A3058}"/>
                </a:ext>
              </a:extLst>
            </p:cNvPr>
            <p:cNvSpPr/>
            <p:nvPr/>
          </p:nvSpPr>
          <p:spPr>
            <a:xfrm>
              <a:off x="6482900" y="2327825"/>
              <a:ext cx="235600" cy="247750"/>
            </a:xfrm>
            <a:custGeom>
              <a:avLst/>
              <a:gdLst/>
              <a:ahLst/>
              <a:cxnLst/>
              <a:rect l="l" t="t" r="r" b="b"/>
              <a:pathLst>
                <a:path w="9424" h="9910" extrusionOk="0">
                  <a:moveTo>
                    <a:pt x="1" y="1"/>
                  </a:moveTo>
                  <a:lnTo>
                    <a:pt x="1" y="518"/>
                  </a:lnTo>
                  <a:lnTo>
                    <a:pt x="9424" y="9910"/>
                  </a:lnTo>
                  <a:lnTo>
                    <a:pt x="9424" y="9393"/>
                  </a:lnTo>
                  <a:lnTo>
                    <a:pt x="1" y="1"/>
                  </a:lnTo>
                  <a:close/>
                </a:path>
              </a:pathLst>
            </a:custGeom>
            <a:grpFill/>
            <a:ln w="1905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Google Shape;211;p27">
              <a:extLst>
                <a:ext uri="{FF2B5EF4-FFF2-40B4-BE49-F238E27FC236}">
                  <a16:creationId xmlns:a16="http://schemas.microsoft.com/office/drawing/2014/main" id="{001BE421-A76E-AFB6-FE8E-84841CAF149C}"/>
                </a:ext>
              </a:extLst>
            </p:cNvPr>
            <p:cNvSpPr/>
            <p:nvPr/>
          </p:nvSpPr>
          <p:spPr>
            <a:xfrm>
              <a:off x="6482900" y="2449425"/>
              <a:ext cx="235600" cy="247750"/>
            </a:xfrm>
            <a:custGeom>
              <a:avLst/>
              <a:gdLst/>
              <a:ahLst/>
              <a:cxnLst/>
              <a:rect l="l" t="t" r="r" b="b"/>
              <a:pathLst>
                <a:path w="9424" h="9910" extrusionOk="0">
                  <a:moveTo>
                    <a:pt x="1" y="0"/>
                  </a:moveTo>
                  <a:lnTo>
                    <a:pt x="1" y="517"/>
                  </a:lnTo>
                  <a:lnTo>
                    <a:pt x="9424" y="9909"/>
                  </a:lnTo>
                  <a:lnTo>
                    <a:pt x="9424" y="9392"/>
                  </a:lnTo>
                  <a:lnTo>
                    <a:pt x="1" y="0"/>
                  </a:lnTo>
                  <a:close/>
                </a:path>
              </a:pathLst>
            </a:custGeom>
            <a:grpFill/>
            <a:ln w="1905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212;p27">
              <a:extLst>
                <a:ext uri="{FF2B5EF4-FFF2-40B4-BE49-F238E27FC236}">
                  <a16:creationId xmlns:a16="http://schemas.microsoft.com/office/drawing/2014/main" id="{579E66E4-5882-0008-0B51-F94D87BC9A98}"/>
                </a:ext>
              </a:extLst>
            </p:cNvPr>
            <p:cNvSpPr/>
            <p:nvPr/>
          </p:nvSpPr>
          <p:spPr>
            <a:xfrm>
              <a:off x="6482900" y="2571000"/>
              <a:ext cx="235600" cy="248500"/>
            </a:xfrm>
            <a:custGeom>
              <a:avLst/>
              <a:gdLst/>
              <a:ahLst/>
              <a:cxnLst/>
              <a:rect l="l" t="t" r="r" b="b"/>
              <a:pathLst>
                <a:path w="9424" h="9940" extrusionOk="0">
                  <a:moveTo>
                    <a:pt x="1" y="0"/>
                  </a:moveTo>
                  <a:lnTo>
                    <a:pt x="1" y="517"/>
                  </a:lnTo>
                  <a:lnTo>
                    <a:pt x="9424" y="9940"/>
                  </a:lnTo>
                  <a:lnTo>
                    <a:pt x="9424" y="9393"/>
                  </a:lnTo>
                  <a:lnTo>
                    <a:pt x="1" y="0"/>
                  </a:lnTo>
                  <a:close/>
                </a:path>
              </a:pathLst>
            </a:custGeom>
            <a:grpFill/>
            <a:ln w="1905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Google Shape;213;p27">
              <a:extLst>
                <a:ext uri="{FF2B5EF4-FFF2-40B4-BE49-F238E27FC236}">
                  <a16:creationId xmlns:a16="http://schemas.microsoft.com/office/drawing/2014/main" id="{5FF0FB30-CF1C-8D00-C7B4-D85FF96B9098}"/>
                </a:ext>
              </a:extLst>
            </p:cNvPr>
            <p:cNvSpPr/>
            <p:nvPr/>
          </p:nvSpPr>
          <p:spPr>
            <a:xfrm>
              <a:off x="6482900" y="2692575"/>
              <a:ext cx="235600" cy="248525"/>
            </a:xfrm>
            <a:custGeom>
              <a:avLst/>
              <a:gdLst/>
              <a:ahLst/>
              <a:cxnLst/>
              <a:rect l="l" t="t" r="r" b="b"/>
              <a:pathLst>
                <a:path w="9424" h="9941" extrusionOk="0">
                  <a:moveTo>
                    <a:pt x="1" y="1"/>
                  </a:moveTo>
                  <a:lnTo>
                    <a:pt x="1" y="517"/>
                  </a:lnTo>
                  <a:lnTo>
                    <a:pt x="9424" y="9940"/>
                  </a:lnTo>
                  <a:lnTo>
                    <a:pt x="9424" y="9423"/>
                  </a:lnTo>
                  <a:lnTo>
                    <a:pt x="1" y="1"/>
                  </a:lnTo>
                  <a:close/>
                </a:path>
              </a:pathLst>
            </a:custGeom>
            <a:grpFill/>
            <a:ln w="1905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Google Shape;214;p27">
              <a:extLst>
                <a:ext uri="{FF2B5EF4-FFF2-40B4-BE49-F238E27FC236}">
                  <a16:creationId xmlns:a16="http://schemas.microsoft.com/office/drawing/2014/main" id="{5D46F152-2A93-8022-0E80-3661B4B5D802}"/>
                </a:ext>
              </a:extLst>
            </p:cNvPr>
            <p:cNvSpPr/>
            <p:nvPr/>
          </p:nvSpPr>
          <p:spPr>
            <a:xfrm>
              <a:off x="6482900" y="2814150"/>
              <a:ext cx="235600" cy="248525"/>
            </a:xfrm>
            <a:custGeom>
              <a:avLst/>
              <a:gdLst/>
              <a:ahLst/>
              <a:cxnLst/>
              <a:rect l="l" t="t" r="r" b="b"/>
              <a:pathLst>
                <a:path w="9424" h="9941" extrusionOk="0">
                  <a:moveTo>
                    <a:pt x="1" y="1"/>
                  </a:moveTo>
                  <a:lnTo>
                    <a:pt x="1" y="518"/>
                  </a:lnTo>
                  <a:lnTo>
                    <a:pt x="9424" y="9940"/>
                  </a:lnTo>
                  <a:lnTo>
                    <a:pt x="9424" y="9424"/>
                  </a:lnTo>
                  <a:lnTo>
                    <a:pt x="1" y="1"/>
                  </a:lnTo>
                  <a:close/>
                </a:path>
              </a:pathLst>
            </a:custGeom>
            <a:grpFill/>
            <a:ln w="1905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Google Shape;215;p27">
              <a:extLst>
                <a:ext uri="{FF2B5EF4-FFF2-40B4-BE49-F238E27FC236}">
                  <a16:creationId xmlns:a16="http://schemas.microsoft.com/office/drawing/2014/main" id="{D162DC83-27BA-C04B-C956-4318D980AA96}"/>
                </a:ext>
              </a:extLst>
            </p:cNvPr>
            <p:cNvSpPr/>
            <p:nvPr/>
          </p:nvSpPr>
          <p:spPr>
            <a:xfrm>
              <a:off x="6482900" y="2935750"/>
              <a:ext cx="235600" cy="248500"/>
            </a:xfrm>
            <a:custGeom>
              <a:avLst/>
              <a:gdLst/>
              <a:ahLst/>
              <a:cxnLst/>
              <a:rect l="l" t="t" r="r" b="b"/>
              <a:pathLst>
                <a:path w="9424" h="9940" extrusionOk="0">
                  <a:moveTo>
                    <a:pt x="1" y="0"/>
                  </a:moveTo>
                  <a:lnTo>
                    <a:pt x="1" y="517"/>
                  </a:lnTo>
                  <a:lnTo>
                    <a:pt x="9424" y="9940"/>
                  </a:lnTo>
                  <a:lnTo>
                    <a:pt x="9424" y="9423"/>
                  </a:lnTo>
                  <a:lnTo>
                    <a:pt x="1" y="0"/>
                  </a:lnTo>
                  <a:close/>
                </a:path>
              </a:pathLst>
            </a:custGeom>
            <a:grpFill/>
            <a:ln w="1905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35" name="Picture 34">
            <a:extLst>
              <a:ext uri="{FF2B5EF4-FFF2-40B4-BE49-F238E27FC236}">
                <a16:creationId xmlns:a16="http://schemas.microsoft.com/office/drawing/2014/main" id="{C628D672-BC58-E40B-B91C-F8540088F84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951" r="9497"/>
          <a:stretch>
            <a:fillRect/>
          </a:stretch>
        </p:blipFill>
        <p:spPr>
          <a:xfrm>
            <a:off x="2164300" y="1219618"/>
            <a:ext cx="6012674" cy="1058183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3A38FFC1-3B69-17D3-BC6C-932ACE87C49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697" t="4700" r="4910"/>
          <a:stretch>
            <a:fillRect/>
          </a:stretch>
        </p:blipFill>
        <p:spPr>
          <a:xfrm>
            <a:off x="-88701" y="2463266"/>
            <a:ext cx="3604974" cy="2272841"/>
          </a:xfrm>
          <a:prstGeom prst="rect">
            <a:avLst/>
          </a:prstGeom>
        </p:spPr>
      </p:pic>
      <p:sp>
        <p:nvSpPr>
          <p:cNvPr id="38" name="Arrow: Right 37">
            <a:extLst>
              <a:ext uri="{FF2B5EF4-FFF2-40B4-BE49-F238E27FC236}">
                <a16:creationId xmlns:a16="http://schemas.microsoft.com/office/drawing/2014/main" id="{9C9406B8-0022-2C44-7CD5-5BE4A9D863EB}"/>
              </a:ext>
            </a:extLst>
          </p:cNvPr>
          <p:cNvSpPr/>
          <p:nvPr/>
        </p:nvSpPr>
        <p:spPr>
          <a:xfrm>
            <a:off x="3516274" y="3269786"/>
            <a:ext cx="412828" cy="38100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 dirty="0"/>
          </a:p>
        </p:txBody>
      </p:sp>
      <p:pic>
        <p:nvPicPr>
          <p:cNvPr id="40" name="Picture 39">
            <a:extLst>
              <a:ext uri="{FF2B5EF4-FFF2-40B4-BE49-F238E27FC236}">
                <a16:creationId xmlns:a16="http://schemas.microsoft.com/office/drawing/2014/main" id="{44D7EE71-6903-1B2F-FF73-48F09AA5C1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29101" y="3269786"/>
            <a:ext cx="5214899" cy="3814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74850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EC59E5-5806-E43B-5195-682D9D157B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9649D1-E167-A34B-09F4-830C4B3BC8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55890" y="109525"/>
            <a:ext cx="9199889" cy="975913"/>
          </a:xfrm>
        </p:spPr>
        <p:txBody>
          <a:bodyPr/>
          <a:lstStyle/>
          <a:p>
            <a:r>
              <a:rPr lang="en-US" dirty="0"/>
              <a:t>Reactivity Model Approach with Control Rod Position</a:t>
            </a:r>
            <a:endParaRPr lang="en-ID" dirty="0"/>
          </a:p>
        </p:txBody>
      </p:sp>
      <p:grpSp>
        <p:nvGrpSpPr>
          <p:cNvPr id="4" name="Google Shape;201;p27">
            <a:extLst>
              <a:ext uri="{FF2B5EF4-FFF2-40B4-BE49-F238E27FC236}">
                <a16:creationId xmlns:a16="http://schemas.microsoft.com/office/drawing/2014/main" id="{A546AAC2-991B-C71F-F9A2-F48986ED0F04}"/>
              </a:ext>
            </a:extLst>
          </p:cNvPr>
          <p:cNvGrpSpPr/>
          <p:nvPr/>
        </p:nvGrpSpPr>
        <p:grpSpPr>
          <a:xfrm rot="5400000">
            <a:off x="264745" y="-1370018"/>
            <a:ext cx="615152" cy="2716009"/>
            <a:chOff x="6482900" y="1354425"/>
            <a:chExt cx="235600" cy="1829825"/>
          </a:xfrm>
          <a:solidFill>
            <a:schemeClr val="bg2"/>
          </a:solidFill>
        </p:grpSpPr>
        <p:sp>
          <p:nvSpPr>
            <p:cNvPr id="5" name="Google Shape;202;p27">
              <a:extLst>
                <a:ext uri="{FF2B5EF4-FFF2-40B4-BE49-F238E27FC236}">
                  <a16:creationId xmlns:a16="http://schemas.microsoft.com/office/drawing/2014/main" id="{1AF13F3B-9328-0563-572E-57580F31C51D}"/>
                </a:ext>
              </a:extLst>
            </p:cNvPr>
            <p:cNvSpPr/>
            <p:nvPr/>
          </p:nvSpPr>
          <p:spPr>
            <a:xfrm>
              <a:off x="6482900" y="1354425"/>
              <a:ext cx="235600" cy="247750"/>
            </a:xfrm>
            <a:custGeom>
              <a:avLst/>
              <a:gdLst/>
              <a:ahLst/>
              <a:cxnLst/>
              <a:rect l="l" t="t" r="r" b="b"/>
              <a:pathLst>
                <a:path w="9424" h="9910" extrusionOk="0">
                  <a:moveTo>
                    <a:pt x="1" y="0"/>
                  </a:moveTo>
                  <a:lnTo>
                    <a:pt x="1" y="517"/>
                  </a:lnTo>
                  <a:lnTo>
                    <a:pt x="9424" y="9909"/>
                  </a:lnTo>
                  <a:lnTo>
                    <a:pt x="9424" y="9362"/>
                  </a:lnTo>
                  <a:lnTo>
                    <a:pt x="1" y="0"/>
                  </a:lnTo>
                  <a:close/>
                </a:path>
              </a:pathLst>
            </a:custGeom>
            <a:grpFill/>
            <a:ln w="1905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" name="Google Shape;203;p27">
              <a:extLst>
                <a:ext uri="{FF2B5EF4-FFF2-40B4-BE49-F238E27FC236}">
                  <a16:creationId xmlns:a16="http://schemas.microsoft.com/office/drawing/2014/main" id="{EF7884CB-87BB-9154-AF5B-EE63B8F61005}"/>
                </a:ext>
              </a:extLst>
            </p:cNvPr>
            <p:cNvSpPr/>
            <p:nvPr/>
          </p:nvSpPr>
          <p:spPr>
            <a:xfrm>
              <a:off x="6482900" y="1476000"/>
              <a:ext cx="235600" cy="247750"/>
            </a:xfrm>
            <a:custGeom>
              <a:avLst/>
              <a:gdLst/>
              <a:ahLst/>
              <a:cxnLst/>
              <a:rect l="l" t="t" r="r" b="b"/>
              <a:pathLst>
                <a:path w="9424" h="9910" extrusionOk="0">
                  <a:moveTo>
                    <a:pt x="1" y="0"/>
                  </a:moveTo>
                  <a:lnTo>
                    <a:pt x="1" y="517"/>
                  </a:lnTo>
                  <a:lnTo>
                    <a:pt x="9424" y="9909"/>
                  </a:lnTo>
                  <a:lnTo>
                    <a:pt x="9424" y="9362"/>
                  </a:lnTo>
                  <a:lnTo>
                    <a:pt x="1" y="0"/>
                  </a:lnTo>
                  <a:close/>
                </a:path>
              </a:pathLst>
            </a:custGeom>
            <a:grpFill/>
            <a:ln w="1905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" name="Google Shape;204;p27">
              <a:extLst>
                <a:ext uri="{FF2B5EF4-FFF2-40B4-BE49-F238E27FC236}">
                  <a16:creationId xmlns:a16="http://schemas.microsoft.com/office/drawing/2014/main" id="{5B01A19E-3300-81E7-B344-BA6971207205}"/>
                </a:ext>
              </a:extLst>
            </p:cNvPr>
            <p:cNvSpPr/>
            <p:nvPr/>
          </p:nvSpPr>
          <p:spPr>
            <a:xfrm>
              <a:off x="6482900" y="1597575"/>
              <a:ext cx="235600" cy="248500"/>
            </a:xfrm>
            <a:custGeom>
              <a:avLst/>
              <a:gdLst/>
              <a:ahLst/>
              <a:cxnLst/>
              <a:rect l="l" t="t" r="r" b="b"/>
              <a:pathLst>
                <a:path w="9424" h="9940" extrusionOk="0">
                  <a:moveTo>
                    <a:pt x="1" y="1"/>
                  </a:moveTo>
                  <a:lnTo>
                    <a:pt x="1" y="517"/>
                  </a:lnTo>
                  <a:lnTo>
                    <a:pt x="9424" y="9940"/>
                  </a:lnTo>
                  <a:lnTo>
                    <a:pt x="9424" y="9362"/>
                  </a:lnTo>
                  <a:lnTo>
                    <a:pt x="1" y="1"/>
                  </a:lnTo>
                  <a:close/>
                </a:path>
              </a:pathLst>
            </a:custGeom>
            <a:grpFill/>
            <a:ln w="1905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" name="Google Shape;205;p27">
              <a:extLst>
                <a:ext uri="{FF2B5EF4-FFF2-40B4-BE49-F238E27FC236}">
                  <a16:creationId xmlns:a16="http://schemas.microsoft.com/office/drawing/2014/main" id="{47D65EE5-0FB0-EECC-9390-2A1138818014}"/>
                </a:ext>
              </a:extLst>
            </p:cNvPr>
            <p:cNvSpPr/>
            <p:nvPr/>
          </p:nvSpPr>
          <p:spPr>
            <a:xfrm>
              <a:off x="6482900" y="1719150"/>
              <a:ext cx="235600" cy="248525"/>
            </a:xfrm>
            <a:custGeom>
              <a:avLst/>
              <a:gdLst/>
              <a:ahLst/>
              <a:cxnLst/>
              <a:rect l="l" t="t" r="r" b="b"/>
              <a:pathLst>
                <a:path w="9424" h="9941" extrusionOk="0">
                  <a:moveTo>
                    <a:pt x="1" y="1"/>
                  </a:moveTo>
                  <a:lnTo>
                    <a:pt x="1" y="518"/>
                  </a:lnTo>
                  <a:lnTo>
                    <a:pt x="9424" y="9940"/>
                  </a:lnTo>
                  <a:lnTo>
                    <a:pt x="9424" y="9363"/>
                  </a:lnTo>
                  <a:lnTo>
                    <a:pt x="1" y="1"/>
                  </a:lnTo>
                  <a:close/>
                </a:path>
              </a:pathLst>
            </a:custGeom>
            <a:grpFill/>
            <a:ln w="1905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" name="Google Shape;206;p27">
              <a:extLst>
                <a:ext uri="{FF2B5EF4-FFF2-40B4-BE49-F238E27FC236}">
                  <a16:creationId xmlns:a16="http://schemas.microsoft.com/office/drawing/2014/main" id="{3219861E-91E8-88BC-CDC6-B55DFABEDC1E}"/>
                </a:ext>
              </a:extLst>
            </p:cNvPr>
            <p:cNvSpPr/>
            <p:nvPr/>
          </p:nvSpPr>
          <p:spPr>
            <a:xfrm>
              <a:off x="6482900" y="1839975"/>
              <a:ext cx="235600" cy="249275"/>
            </a:xfrm>
            <a:custGeom>
              <a:avLst/>
              <a:gdLst/>
              <a:ahLst/>
              <a:cxnLst/>
              <a:rect l="l" t="t" r="r" b="b"/>
              <a:pathLst>
                <a:path w="9424" h="9971" extrusionOk="0">
                  <a:moveTo>
                    <a:pt x="1" y="1"/>
                  </a:moveTo>
                  <a:lnTo>
                    <a:pt x="1" y="548"/>
                  </a:lnTo>
                  <a:lnTo>
                    <a:pt x="9424" y="9971"/>
                  </a:lnTo>
                  <a:lnTo>
                    <a:pt x="9424" y="9454"/>
                  </a:lnTo>
                  <a:lnTo>
                    <a:pt x="1" y="1"/>
                  </a:lnTo>
                  <a:close/>
                </a:path>
              </a:pathLst>
            </a:custGeom>
            <a:grpFill/>
            <a:ln w="1905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" name="Google Shape;207;p27">
              <a:extLst>
                <a:ext uri="{FF2B5EF4-FFF2-40B4-BE49-F238E27FC236}">
                  <a16:creationId xmlns:a16="http://schemas.microsoft.com/office/drawing/2014/main" id="{B77BAA46-DC4F-8B6D-6747-CBE20C64C486}"/>
                </a:ext>
              </a:extLst>
            </p:cNvPr>
            <p:cNvSpPr/>
            <p:nvPr/>
          </p:nvSpPr>
          <p:spPr>
            <a:xfrm>
              <a:off x="6482900" y="1962325"/>
              <a:ext cx="235600" cy="248500"/>
            </a:xfrm>
            <a:custGeom>
              <a:avLst/>
              <a:gdLst/>
              <a:ahLst/>
              <a:cxnLst/>
              <a:rect l="l" t="t" r="r" b="b"/>
              <a:pathLst>
                <a:path w="9424" h="9940" extrusionOk="0">
                  <a:moveTo>
                    <a:pt x="1" y="1"/>
                  </a:moveTo>
                  <a:lnTo>
                    <a:pt x="1" y="517"/>
                  </a:lnTo>
                  <a:lnTo>
                    <a:pt x="9424" y="9940"/>
                  </a:lnTo>
                  <a:lnTo>
                    <a:pt x="9424" y="9423"/>
                  </a:lnTo>
                  <a:lnTo>
                    <a:pt x="1" y="1"/>
                  </a:lnTo>
                  <a:close/>
                </a:path>
              </a:pathLst>
            </a:custGeom>
            <a:grpFill/>
            <a:ln w="1905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" name="Google Shape;208;p27">
              <a:extLst>
                <a:ext uri="{FF2B5EF4-FFF2-40B4-BE49-F238E27FC236}">
                  <a16:creationId xmlns:a16="http://schemas.microsoft.com/office/drawing/2014/main" id="{2627CDF7-3D87-3E43-2FDC-03A91CDE9799}"/>
                </a:ext>
              </a:extLst>
            </p:cNvPr>
            <p:cNvSpPr/>
            <p:nvPr/>
          </p:nvSpPr>
          <p:spPr>
            <a:xfrm>
              <a:off x="6482900" y="2083900"/>
              <a:ext cx="235600" cy="248525"/>
            </a:xfrm>
            <a:custGeom>
              <a:avLst/>
              <a:gdLst/>
              <a:ahLst/>
              <a:cxnLst/>
              <a:rect l="l" t="t" r="r" b="b"/>
              <a:pathLst>
                <a:path w="9424" h="9941" extrusionOk="0">
                  <a:moveTo>
                    <a:pt x="1" y="1"/>
                  </a:moveTo>
                  <a:lnTo>
                    <a:pt x="1" y="518"/>
                  </a:lnTo>
                  <a:lnTo>
                    <a:pt x="9424" y="9940"/>
                  </a:lnTo>
                  <a:lnTo>
                    <a:pt x="9424" y="9423"/>
                  </a:lnTo>
                  <a:lnTo>
                    <a:pt x="1" y="1"/>
                  </a:lnTo>
                  <a:close/>
                </a:path>
              </a:pathLst>
            </a:custGeom>
            <a:grpFill/>
            <a:ln w="1905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" name="Google Shape;209;p27">
              <a:extLst>
                <a:ext uri="{FF2B5EF4-FFF2-40B4-BE49-F238E27FC236}">
                  <a16:creationId xmlns:a16="http://schemas.microsoft.com/office/drawing/2014/main" id="{B26D797B-B6FA-AF72-47DA-14C42F001D63}"/>
                </a:ext>
              </a:extLst>
            </p:cNvPr>
            <p:cNvSpPr/>
            <p:nvPr/>
          </p:nvSpPr>
          <p:spPr>
            <a:xfrm>
              <a:off x="6482900" y="2205500"/>
              <a:ext cx="235600" cy="248500"/>
            </a:xfrm>
            <a:custGeom>
              <a:avLst/>
              <a:gdLst/>
              <a:ahLst/>
              <a:cxnLst/>
              <a:rect l="l" t="t" r="r" b="b"/>
              <a:pathLst>
                <a:path w="9424" h="9940" extrusionOk="0">
                  <a:moveTo>
                    <a:pt x="1" y="0"/>
                  </a:moveTo>
                  <a:lnTo>
                    <a:pt x="1" y="547"/>
                  </a:lnTo>
                  <a:lnTo>
                    <a:pt x="9424" y="9939"/>
                  </a:lnTo>
                  <a:lnTo>
                    <a:pt x="9424" y="9423"/>
                  </a:lnTo>
                  <a:lnTo>
                    <a:pt x="1" y="0"/>
                  </a:lnTo>
                  <a:close/>
                </a:path>
              </a:pathLst>
            </a:custGeom>
            <a:grpFill/>
            <a:ln w="1905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210;p27">
              <a:extLst>
                <a:ext uri="{FF2B5EF4-FFF2-40B4-BE49-F238E27FC236}">
                  <a16:creationId xmlns:a16="http://schemas.microsoft.com/office/drawing/2014/main" id="{DBFCD685-D49E-7D87-90CF-D4A411043CA1}"/>
                </a:ext>
              </a:extLst>
            </p:cNvPr>
            <p:cNvSpPr/>
            <p:nvPr/>
          </p:nvSpPr>
          <p:spPr>
            <a:xfrm>
              <a:off x="6482900" y="2327825"/>
              <a:ext cx="235600" cy="247750"/>
            </a:xfrm>
            <a:custGeom>
              <a:avLst/>
              <a:gdLst/>
              <a:ahLst/>
              <a:cxnLst/>
              <a:rect l="l" t="t" r="r" b="b"/>
              <a:pathLst>
                <a:path w="9424" h="9910" extrusionOk="0">
                  <a:moveTo>
                    <a:pt x="1" y="1"/>
                  </a:moveTo>
                  <a:lnTo>
                    <a:pt x="1" y="518"/>
                  </a:lnTo>
                  <a:lnTo>
                    <a:pt x="9424" y="9910"/>
                  </a:lnTo>
                  <a:lnTo>
                    <a:pt x="9424" y="9393"/>
                  </a:lnTo>
                  <a:lnTo>
                    <a:pt x="1" y="1"/>
                  </a:lnTo>
                  <a:close/>
                </a:path>
              </a:pathLst>
            </a:custGeom>
            <a:grpFill/>
            <a:ln w="1905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Google Shape;211;p27">
              <a:extLst>
                <a:ext uri="{FF2B5EF4-FFF2-40B4-BE49-F238E27FC236}">
                  <a16:creationId xmlns:a16="http://schemas.microsoft.com/office/drawing/2014/main" id="{D8DDC9D9-6D0F-1203-45CD-140F0E00FF4A}"/>
                </a:ext>
              </a:extLst>
            </p:cNvPr>
            <p:cNvSpPr/>
            <p:nvPr/>
          </p:nvSpPr>
          <p:spPr>
            <a:xfrm>
              <a:off x="6482900" y="2449425"/>
              <a:ext cx="235600" cy="247750"/>
            </a:xfrm>
            <a:custGeom>
              <a:avLst/>
              <a:gdLst/>
              <a:ahLst/>
              <a:cxnLst/>
              <a:rect l="l" t="t" r="r" b="b"/>
              <a:pathLst>
                <a:path w="9424" h="9910" extrusionOk="0">
                  <a:moveTo>
                    <a:pt x="1" y="0"/>
                  </a:moveTo>
                  <a:lnTo>
                    <a:pt x="1" y="517"/>
                  </a:lnTo>
                  <a:lnTo>
                    <a:pt x="9424" y="9909"/>
                  </a:lnTo>
                  <a:lnTo>
                    <a:pt x="9424" y="9392"/>
                  </a:lnTo>
                  <a:lnTo>
                    <a:pt x="1" y="0"/>
                  </a:lnTo>
                  <a:close/>
                </a:path>
              </a:pathLst>
            </a:custGeom>
            <a:grpFill/>
            <a:ln w="1905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15" name="Google Shape;212;p27">
              <a:extLst>
                <a:ext uri="{FF2B5EF4-FFF2-40B4-BE49-F238E27FC236}">
                  <a16:creationId xmlns:a16="http://schemas.microsoft.com/office/drawing/2014/main" id="{E544F2ED-888E-87E7-52B3-02E6AF21314C}"/>
                </a:ext>
              </a:extLst>
            </p:cNvPr>
            <p:cNvSpPr/>
            <p:nvPr/>
          </p:nvSpPr>
          <p:spPr>
            <a:xfrm>
              <a:off x="6482900" y="2571000"/>
              <a:ext cx="235600" cy="248500"/>
            </a:xfrm>
            <a:custGeom>
              <a:avLst/>
              <a:gdLst/>
              <a:ahLst/>
              <a:cxnLst/>
              <a:rect l="l" t="t" r="r" b="b"/>
              <a:pathLst>
                <a:path w="9424" h="9940" extrusionOk="0">
                  <a:moveTo>
                    <a:pt x="1" y="0"/>
                  </a:moveTo>
                  <a:lnTo>
                    <a:pt x="1" y="517"/>
                  </a:lnTo>
                  <a:lnTo>
                    <a:pt x="9424" y="9940"/>
                  </a:lnTo>
                  <a:lnTo>
                    <a:pt x="9424" y="9393"/>
                  </a:lnTo>
                  <a:lnTo>
                    <a:pt x="1" y="0"/>
                  </a:lnTo>
                  <a:close/>
                </a:path>
              </a:pathLst>
            </a:custGeom>
            <a:grpFill/>
            <a:ln w="1905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Google Shape;213;p27">
              <a:extLst>
                <a:ext uri="{FF2B5EF4-FFF2-40B4-BE49-F238E27FC236}">
                  <a16:creationId xmlns:a16="http://schemas.microsoft.com/office/drawing/2014/main" id="{0734896F-4F0F-B967-A0FF-7CA80C51D02B}"/>
                </a:ext>
              </a:extLst>
            </p:cNvPr>
            <p:cNvSpPr/>
            <p:nvPr/>
          </p:nvSpPr>
          <p:spPr>
            <a:xfrm>
              <a:off x="6482900" y="2692575"/>
              <a:ext cx="235600" cy="248525"/>
            </a:xfrm>
            <a:custGeom>
              <a:avLst/>
              <a:gdLst/>
              <a:ahLst/>
              <a:cxnLst/>
              <a:rect l="l" t="t" r="r" b="b"/>
              <a:pathLst>
                <a:path w="9424" h="9941" extrusionOk="0">
                  <a:moveTo>
                    <a:pt x="1" y="1"/>
                  </a:moveTo>
                  <a:lnTo>
                    <a:pt x="1" y="517"/>
                  </a:lnTo>
                  <a:lnTo>
                    <a:pt x="9424" y="9940"/>
                  </a:lnTo>
                  <a:lnTo>
                    <a:pt x="9424" y="9423"/>
                  </a:lnTo>
                  <a:lnTo>
                    <a:pt x="1" y="1"/>
                  </a:lnTo>
                  <a:close/>
                </a:path>
              </a:pathLst>
            </a:custGeom>
            <a:grpFill/>
            <a:ln w="1905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Google Shape;214;p27">
              <a:extLst>
                <a:ext uri="{FF2B5EF4-FFF2-40B4-BE49-F238E27FC236}">
                  <a16:creationId xmlns:a16="http://schemas.microsoft.com/office/drawing/2014/main" id="{989FA398-6355-4FCF-66B3-068107D53FBE}"/>
                </a:ext>
              </a:extLst>
            </p:cNvPr>
            <p:cNvSpPr/>
            <p:nvPr/>
          </p:nvSpPr>
          <p:spPr>
            <a:xfrm>
              <a:off x="6482900" y="2814150"/>
              <a:ext cx="235600" cy="248525"/>
            </a:xfrm>
            <a:custGeom>
              <a:avLst/>
              <a:gdLst/>
              <a:ahLst/>
              <a:cxnLst/>
              <a:rect l="l" t="t" r="r" b="b"/>
              <a:pathLst>
                <a:path w="9424" h="9941" extrusionOk="0">
                  <a:moveTo>
                    <a:pt x="1" y="1"/>
                  </a:moveTo>
                  <a:lnTo>
                    <a:pt x="1" y="518"/>
                  </a:lnTo>
                  <a:lnTo>
                    <a:pt x="9424" y="9940"/>
                  </a:lnTo>
                  <a:lnTo>
                    <a:pt x="9424" y="9424"/>
                  </a:lnTo>
                  <a:lnTo>
                    <a:pt x="1" y="1"/>
                  </a:lnTo>
                  <a:close/>
                </a:path>
              </a:pathLst>
            </a:custGeom>
            <a:grpFill/>
            <a:ln w="1905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Google Shape;215;p27">
              <a:extLst>
                <a:ext uri="{FF2B5EF4-FFF2-40B4-BE49-F238E27FC236}">
                  <a16:creationId xmlns:a16="http://schemas.microsoft.com/office/drawing/2014/main" id="{6D94AE99-960E-1E51-B897-37DDF9019F76}"/>
                </a:ext>
              </a:extLst>
            </p:cNvPr>
            <p:cNvSpPr/>
            <p:nvPr/>
          </p:nvSpPr>
          <p:spPr>
            <a:xfrm>
              <a:off x="6482900" y="2935750"/>
              <a:ext cx="235600" cy="248500"/>
            </a:xfrm>
            <a:custGeom>
              <a:avLst/>
              <a:gdLst/>
              <a:ahLst/>
              <a:cxnLst/>
              <a:rect l="l" t="t" r="r" b="b"/>
              <a:pathLst>
                <a:path w="9424" h="9940" extrusionOk="0">
                  <a:moveTo>
                    <a:pt x="1" y="0"/>
                  </a:moveTo>
                  <a:lnTo>
                    <a:pt x="1" y="517"/>
                  </a:lnTo>
                  <a:lnTo>
                    <a:pt x="9424" y="9940"/>
                  </a:lnTo>
                  <a:lnTo>
                    <a:pt x="9424" y="9423"/>
                  </a:lnTo>
                  <a:lnTo>
                    <a:pt x="1" y="0"/>
                  </a:lnTo>
                  <a:close/>
                </a:path>
              </a:pathLst>
            </a:custGeom>
            <a:grpFill/>
            <a:ln w="1905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26" name="Picture 25">
            <a:extLst>
              <a:ext uri="{FF2B5EF4-FFF2-40B4-BE49-F238E27FC236}">
                <a16:creationId xmlns:a16="http://schemas.microsoft.com/office/drawing/2014/main" id="{464CAC51-8281-F2E1-7F33-DF816F82CA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9179" y="1604704"/>
            <a:ext cx="4718868" cy="2652569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59FBA20D-A883-F87B-1D82-77B5DC1C4C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33" y="1260636"/>
            <a:ext cx="3471727" cy="253916"/>
          </a:xfrm>
          <a:prstGeom prst="rect">
            <a:avLst/>
          </a:prstGeom>
        </p:spPr>
      </p:pic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7ACCAA65-5AA3-109E-8209-30C68F5B50D4}"/>
              </a:ext>
            </a:extLst>
          </p:cNvPr>
          <p:cNvCxnSpPr>
            <a:cxnSpLocks/>
          </p:cNvCxnSpPr>
          <p:nvPr/>
        </p:nvCxnSpPr>
        <p:spPr>
          <a:xfrm flipH="1" flipV="1">
            <a:off x="1806696" y="1514552"/>
            <a:ext cx="1445219" cy="135099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E8CDAB3F-2EA0-E7C8-5474-F5A2BF58BA94}"/>
              </a:ext>
            </a:extLst>
          </p:cNvPr>
          <p:cNvCxnSpPr>
            <a:cxnSpLocks/>
            <a:endCxn id="3" idx="1"/>
          </p:cNvCxnSpPr>
          <p:nvPr/>
        </p:nvCxnSpPr>
        <p:spPr>
          <a:xfrm>
            <a:off x="3612524" y="2749639"/>
            <a:ext cx="2806752" cy="13152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D6423326-DF19-DEFB-40CE-E06852DB418D}"/>
              </a:ext>
            </a:extLst>
          </p:cNvPr>
          <p:cNvSpPr txBox="1"/>
          <p:nvPr/>
        </p:nvSpPr>
        <p:spPr>
          <a:xfrm>
            <a:off x="6419276" y="1527982"/>
            <a:ext cx="2724724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buNone/>
            </a:pPr>
            <a:r>
              <a:rPr lang="en-US" b="0" i="0" dirty="0">
                <a:solidFill>
                  <a:srgbClr val="2D3A04"/>
                </a:solidFill>
                <a:effectLst/>
              </a:rPr>
              <a:t>Solve with some numerical method:</a:t>
            </a:r>
            <a:endParaRPr lang="en-US" dirty="0">
              <a:effectLst/>
            </a:endParaRPr>
          </a:p>
          <a:p>
            <a:pPr marL="285750" indent="-285750" algn="l" rtl="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2D3A04"/>
                </a:solidFill>
                <a:effectLst/>
              </a:rPr>
              <a:t>Euler</a:t>
            </a:r>
          </a:p>
          <a:p>
            <a:pPr marL="285750" indent="-285750" algn="l" rtl="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2D3A04"/>
                </a:solidFill>
                <a:effectLst/>
              </a:rPr>
              <a:t>Runge-</a:t>
            </a:r>
            <a:r>
              <a:rPr lang="en-US" b="0" i="0" dirty="0" err="1">
                <a:solidFill>
                  <a:srgbClr val="2D3A04"/>
                </a:solidFill>
                <a:effectLst/>
              </a:rPr>
              <a:t>Kutta</a:t>
            </a:r>
            <a:r>
              <a:rPr lang="en-US" b="0" i="0" dirty="0">
                <a:solidFill>
                  <a:srgbClr val="2D3A04"/>
                </a:solidFill>
                <a:effectLst/>
              </a:rPr>
              <a:t> 4</a:t>
            </a:r>
            <a:r>
              <a:rPr lang="en-US" b="0" i="0" baseline="30000" dirty="0">
                <a:solidFill>
                  <a:srgbClr val="2D3A04"/>
                </a:solidFill>
                <a:effectLst/>
              </a:rPr>
              <a:t>th</a:t>
            </a:r>
            <a:r>
              <a:rPr lang="en-US" b="0" i="0" dirty="0">
                <a:solidFill>
                  <a:srgbClr val="2D3A04"/>
                </a:solidFill>
                <a:effectLst/>
              </a:rPr>
              <a:t> </a:t>
            </a:r>
            <a:r>
              <a:rPr lang="en-US" b="0" i="0" dirty="0" err="1">
                <a:solidFill>
                  <a:srgbClr val="2D3A04"/>
                </a:solidFill>
                <a:effectLst/>
              </a:rPr>
              <a:t>orde</a:t>
            </a:r>
            <a:endParaRPr lang="en-US" b="0" i="0" dirty="0">
              <a:solidFill>
                <a:srgbClr val="2D3A04"/>
              </a:solidFill>
              <a:effectLst/>
            </a:endParaRPr>
          </a:p>
          <a:p>
            <a:pPr marL="285750" indent="-285750" algn="l" rtl="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2D3A04"/>
                </a:solidFill>
                <a:effectLst/>
              </a:rPr>
              <a:t>Adams Method (Adams-Bashforth 2 steps and Admas-Moulton)</a:t>
            </a:r>
          </a:p>
          <a:p>
            <a:pPr marL="285750" indent="-285750" algn="l" rtl="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2D3A04"/>
                </a:solidFill>
                <a:effectLst/>
              </a:rPr>
              <a:t>Shooting ft RK4</a:t>
            </a:r>
          </a:p>
          <a:p>
            <a:pPr marL="285750" indent="-285750" algn="l" rtl="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2D3A04"/>
                </a:solidFill>
                <a:effectLst/>
              </a:rPr>
              <a:t>Exponent Time Differencing (ETD)</a:t>
            </a:r>
            <a:endParaRPr lang="en-US" dirty="0">
              <a:effectLst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3DEDBCD-3091-4F67-9223-29DBE4492793}"/>
              </a:ext>
            </a:extLst>
          </p:cNvPr>
          <p:cNvSpPr txBox="1"/>
          <p:nvPr/>
        </p:nvSpPr>
        <p:spPr>
          <a:xfrm>
            <a:off x="70833" y="4742481"/>
            <a:ext cx="145164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800" dirty="0"/>
              <a:t>ode_solve01.py</a:t>
            </a:r>
          </a:p>
          <a:p>
            <a:r>
              <a:rPr lang="en-ID" sz="800" dirty="0"/>
              <a:t>reference_function.py</a:t>
            </a:r>
          </a:p>
        </p:txBody>
      </p:sp>
      <p:graphicFrame>
        <p:nvGraphicFramePr>
          <p:cNvPr id="3" name="Object 2">
            <a:extLst>
              <a:ext uri="{FF2B5EF4-FFF2-40B4-BE49-F238E27FC236}">
                <a16:creationId xmlns:a16="http://schemas.microsoft.com/office/drawing/2014/main" id="{9138B1A4-38B4-B1A1-4E95-AB666BEA3E93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77555452"/>
              </p:ext>
            </p:extLst>
          </p:nvPr>
        </p:nvGraphicFramePr>
        <p:xfrm>
          <a:off x="6419276" y="3714877"/>
          <a:ext cx="2289175" cy="7000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409400" imgH="431640" progId="Equation.DSMT4">
                  <p:embed/>
                </p:oleObj>
              </mc:Choice>
              <mc:Fallback>
                <p:oleObj name="Equation" r:id="rId4" imgW="1409400" imgH="43164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6419276" y="3714877"/>
                        <a:ext cx="2289175" cy="700088"/>
                      </a:xfrm>
                      <a:prstGeom prst="rect">
                        <a:avLst/>
                      </a:prstGeom>
                      <a:ln w="28575">
                        <a:solidFill>
                          <a:srgbClr val="FF0000"/>
                        </a:solidFill>
                      </a:ln>
                    </p:spPr>
                  </p:pic>
                </p:oleObj>
              </mc:Fallback>
            </mc:AlternateContent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 Placeholder 2">
                <a:extLst>
                  <a:ext uri="{FF2B5EF4-FFF2-40B4-BE49-F238E27FC236}">
                    <a16:creationId xmlns:a16="http://schemas.microsoft.com/office/drawing/2014/main" id="{52F4138F-6093-F4F6-227A-12CB6C3E08F5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>
              <a:xfrm>
                <a:off x="5327886" y="4370379"/>
                <a:ext cx="3816114" cy="663596"/>
              </a:xfrm>
            </p:spPr>
            <p:txBody>
              <a:bodyPr/>
              <a:lstStyle/>
              <a:p>
                <a:pPr marL="152400" indent="0">
                  <a:buNone/>
                </a:pPr>
                <a:r>
                  <a:rPr lang="en-US" dirty="0">
                    <a:solidFill>
                      <a:srgbClr val="002060"/>
                    </a:solidFill>
                  </a:rPr>
                  <a:t>Where x is stem position (from 0 to H);</a:t>
                </a:r>
              </a:p>
              <a:p>
                <a:pPr marL="152400" indent="0">
                  <a:buNone/>
                </a:pPr>
                <a:r>
                  <a:rPr lang="en-US" dirty="0">
                    <a:solidFill>
                      <a:srgbClr val="002060"/>
                    </a:solidFill>
                  </a:rPr>
                  <a:t>H is control rod length;</a:t>
                </a:r>
              </a:p>
              <a:p>
                <a:pPr marL="15240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𝑡𝑜𝑡𝑎𝑙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rgbClr val="002060"/>
                    </a:solidFill>
                  </a:rPr>
                  <a:t>is total worth</a:t>
                </a:r>
              </a:p>
              <a:p>
                <a:pPr marL="152400" indent="0">
                  <a:buNone/>
                </a:pPr>
                <a:endParaRPr lang="en-ID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20" name="Text Placeholder 2">
                <a:extLst>
                  <a:ext uri="{FF2B5EF4-FFF2-40B4-BE49-F238E27FC236}">
                    <a16:creationId xmlns:a16="http://schemas.microsoft.com/office/drawing/2014/main" id="{52F4138F-6093-F4F6-227A-12CB6C3E08F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5327886" y="4370379"/>
                <a:ext cx="3816114" cy="663596"/>
              </a:xfrm>
              <a:blipFill>
                <a:blip r:embed="rId6"/>
                <a:stretch>
                  <a:fillRect b="-37615"/>
                </a:stretch>
              </a:blipFill>
            </p:spPr>
            <p:txBody>
              <a:bodyPr/>
              <a:lstStyle/>
              <a:p>
                <a:r>
                  <a:rPr lang="en-ID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23" name="Object 22">
            <a:extLst>
              <a:ext uri="{FF2B5EF4-FFF2-40B4-BE49-F238E27FC236}">
                <a16:creationId xmlns:a16="http://schemas.microsoft.com/office/drawing/2014/main" id="{D055B95F-5EA2-BB19-8509-0E2F537316FF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713046686"/>
              </p:ext>
            </p:extLst>
          </p:nvPr>
        </p:nvGraphicFramePr>
        <p:xfrm>
          <a:off x="3042537" y="4526581"/>
          <a:ext cx="1104900" cy="431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7" imgW="1104840" imgH="431640" progId="Equation.DSMT4">
                  <p:embed/>
                </p:oleObj>
              </mc:Choice>
              <mc:Fallback>
                <p:oleObj name="Equation" r:id="rId7" imgW="1104840" imgH="43164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3042537" y="4526581"/>
                        <a:ext cx="1104900" cy="4318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7" name="Arrow: Up 46">
            <a:extLst>
              <a:ext uri="{FF2B5EF4-FFF2-40B4-BE49-F238E27FC236}">
                <a16:creationId xmlns:a16="http://schemas.microsoft.com/office/drawing/2014/main" id="{95D7A6D9-DB3B-5B7E-30B4-970B9650EDB4}"/>
              </a:ext>
            </a:extLst>
          </p:cNvPr>
          <p:cNvSpPr/>
          <p:nvPr/>
        </p:nvSpPr>
        <p:spPr>
          <a:xfrm>
            <a:off x="7462215" y="3573265"/>
            <a:ext cx="248194" cy="222045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30364168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F1E6E9C9-A6BB-4CAE-56A9-1F0C8EE20C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55890" y="109525"/>
            <a:ext cx="9199889" cy="975913"/>
          </a:xfrm>
        </p:spPr>
        <p:txBody>
          <a:bodyPr/>
          <a:lstStyle/>
          <a:p>
            <a:r>
              <a:rPr lang="en-US" dirty="0"/>
              <a:t>Solve Kinematic Reactor Differential Equations</a:t>
            </a:r>
            <a:endParaRPr lang="en-ID" dirty="0"/>
          </a:p>
        </p:txBody>
      </p:sp>
      <p:grpSp>
        <p:nvGrpSpPr>
          <p:cNvPr id="7" name="Google Shape;201;p27">
            <a:extLst>
              <a:ext uri="{FF2B5EF4-FFF2-40B4-BE49-F238E27FC236}">
                <a16:creationId xmlns:a16="http://schemas.microsoft.com/office/drawing/2014/main" id="{8FA65DC9-B173-AA4C-361B-14AA00D0E475}"/>
              </a:ext>
            </a:extLst>
          </p:cNvPr>
          <p:cNvGrpSpPr/>
          <p:nvPr/>
        </p:nvGrpSpPr>
        <p:grpSpPr>
          <a:xfrm rot="3609495">
            <a:off x="-410978" y="4506251"/>
            <a:ext cx="615152" cy="1055449"/>
            <a:chOff x="6482900" y="1354425"/>
            <a:chExt cx="235600" cy="1829825"/>
          </a:xfrm>
          <a:solidFill>
            <a:schemeClr val="bg2"/>
          </a:solidFill>
        </p:grpSpPr>
        <p:sp>
          <p:nvSpPr>
            <p:cNvPr id="8" name="Google Shape;202;p27">
              <a:extLst>
                <a:ext uri="{FF2B5EF4-FFF2-40B4-BE49-F238E27FC236}">
                  <a16:creationId xmlns:a16="http://schemas.microsoft.com/office/drawing/2014/main" id="{990645DF-C429-95BE-2AB5-2B73F17E0553}"/>
                </a:ext>
              </a:extLst>
            </p:cNvPr>
            <p:cNvSpPr/>
            <p:nvPr/>
          </p:nvSpPr>
          <p:spPr>
            <a:xfrm>
              <a:off x="6482900" y="1354425"/>
              <a:ext cx="235600" cy="247750"/>
            </a:xfrm>
            <a:custGeom>
              <a:avLst/>
              <a:gdLst/>
              <a:ahLst/>
              <a:cxnLst/>
              <a:rect l="l" t="t" r="r" b="b"/>
              <a:pathLst>
                <a:path w="9424" h="9910" extrusionOk="0">
                  <a:moveTo>
                    <a:pt x="1" y="0"/>
                  </a:moveTo>
                  <a:lnTo>
                    <a:pt x="1" y="517"/>
                  </a:lnTo>
                  <a:lnTo>
                    <a:pt x="9424" y="9909"/>
                  </a:lnTo>
                  <a:lnTo>
                    <a:pt x="9424" y="9362"/>
                  </a:lnTo>
                  <a:lnTo>
                    <a:pt x="1" y="0"/>
                  </a:lnTo>
                  <a:close/>
                </a:path>
              </a:pathLst>
            </a:custGeom>
            <a:grpFill/>
            <a:ln w="1905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" name="Google Shape;203;p27">
              <a:extLst>
                <a:ext uri="{FF2B5EF4-FFF2-40B4-BE49-F238E27FC236}">
                  <a16:creationId xmlns:a16="http://schemas.microsoft.com/office/drawing/2014/main" id="{67965A5F-28EC-488F-C5EE-6489742CB77E}"/>
                </a:ext>
              </a:extLst>
            </p:cNvPr>
            <p:cNvSpPr/>
            <p:nvPr/>
          </p:nvSpPr>
          <p:spPr>
            <a:xfrm>
              <a:off x="6482900" y="1476000"/>
              <a:ext cx="235600" cy="247750"/>
            </a:xfrm>
            <a:custGeom>
              <a:avLst/>
              <a:gdLst/>
              <a:ahLst/>
              <a:cxnLst/>
              <a:rect l="l" t="t" r="r" b="b"/>
              <a:pathLst>
                <a:path w="9424" h="9910" extrusionOk="0">
                  <a:moveTo>
                    <a:pt x="1" y="0"/>
                  </a:moveTo>
                  <a:lnTo>
                    <a:pt x="1" y="517"/>
                  </a:lnTo>
                  <a:lnTo>
                    <a:pt x="9424" y="9909"/>
                  </a:lnTo>
                  <a:lnTo>
                    <a:pt x="9424" y="9362"/>
                  </a:lnTo>
                  <a:lnTo>
                    <a:pt x="1" y="0"/>
                  </a:lnTo>
                  <a:close/>
                </a:path>
              </a:pathLst>
            </a:custGeom>
            <a:grpFill/>
            <a:ln w="1905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" name="Google Shape;204;p27">
              <a:extLst>
                <a:ext uri="{FF2B5EF4-FFF2-40B4-BE49-F238E27FC236}">
                  <a16:creationId xmlns:a16="http://schemas.microsoft.com/office/drawing/2014/main" id="{7CD7CF8D-9505-1DAB-0CF4-7CF7AFD650CE}"/>
                </a:ext>
              </a:extLst>
            </p:cNvPr>
            <p:cNvSpPr/>
            <p:nvPr/>
          </p:nvSpPr>
          <p:spPr>
            <a:xfrm>
              <a:off x="6482900" y="1597575"/>
              <a:ext cx="235600" cy="248500"/>
            </a:xfrm>
            <a:custGeom>
              <a:avLst/>
              <a:gdLst/>
              <a:ahLst/>
              <a:cxnLst/>
              <a:rect l="l" t="t" r="r" b="b"/>
              <a:pathLst>
                <a:path w="9424" h="9940" extrusionOk="0">
                  <a:moveTo>
                    <a:pt x="1" y="1"/>
                  </a:moveTo>
                  <a:lnTo>
                    <a:pt x="1" y="517"/>
                  </a:lnTo>
                  <a:lnTo>
                    <a:pt x="9424" y="9940"/>
                  </a:lnTo>
                  <a:lnTo>
                    <a:pt x="9424" y="9362"/>
                  </a:lnTo>
                  <a:lnTo>
                    <a:pt x="1" y="1"/>
                  </a:lnTo>
                  <a:close/>
                </a:path>
              </a:pathLst>
            </a:custGeom>
            <a:grpFill/>
            <a:ln w="1905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" name="Google Shape;205;p27">
              <a:extLst>
                <a:ext uri="{FF2B5EF4-FFF2-40B4-BE49-F238E27FC236}">
                  <a16:creationId xmlns:a16="http://schemas.microsoft.com/office/drawing/2014/main" id="{5DD2929E-DBFE-C8FF-9E58-F8D1DF4518CB}"/>
                </a:ext>
              </a:extLst>
            </p:cNvPr>
            <p:cNvSpPr/>
            <p:nvPr/>
          </p:nvSpPr>
          <p:spPr>
            <a:xfrm>
              <a:off x="6482900" y="1719150"/>
              <a:ext cx="235600" cy="248525"/>
            </a:xfrm>
            <a:custGeom>
              <a:avLst/>
              <a:gdLst/>
              <a:ahLst/>
              <a:cxnLst/>
              <a:rect l="l" t="t" r="r" b="b"/>
              <a:pathLst>
                <a:path w="9424" h="9941" extrusionOk="0">
                  <a:moveTo>
                    <a:pt x="1" y="1"/>
                  </a:moveTo>
                  <a:lnTo>
                    <a:pt x="1" y="518"/>
                  </a:lnTo>
                  <a:lnTo>
                    <a:pt x="9424" y="9940"/>
                  </a:lnTo>
                  <a:lnTo>
                    <a:pt x="9424" y="9363"/>
                  </a:lnTo>
                  <a:lnTo>
                    <a:pt x="1" y="1"/>
                  </a:lnTo>
                  <a:close/>
                </a:path>
              </a:pathLst>
            </a:custGeom>
            <a:grpFill/>
            <a:ln w="1905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" name="Google Shape;206;p27">
              <a:extLst>
                <a:ext uri="{FF2B5EF4-FFF2-40B4-BE49-F238E27FC236}">
                  <a16:creationId xmlns:a16="http://schemas.microsoft.com/office/drawing/2014/main" id="{D3F4C479-7110-57D9-B10A-4E269D44477D}"/>
                </a:ext>
              </a:extLst>
            </p:cNvPr>
            <p:cNvSpPr/>
            <p:nvPr/>
          </p:nvSpPr>
          <p:spPr>
            <a:xfrm>
              <a:off x="6482900" y="1839975"/>
              <a:ext cx="235600" cy="249275"/>
            </a:xfrm>
            <a:custGeom>
              <a:avLst/>
              <a:gdLst/>
              <a:ahLst/>
              <a:cxnLst/>
              <a:rect l="l" t="t" r="r" b="b"/>
              <a:pathLst>
                <a:path w="9424" h="9971" extrusionOk="0">
                  <a:moveTo>
                    <a:pt x="1" y="1"/>
                  </a:moveTo>
                  <a:lnTo>
                    <a:pt x="1" y="548"/>
                  </a:lnTo>
                  <a:lnTo>
                    <a:pt x="9424" y="9971"/>
                  </a:lnTo>
                  <a:lnTo>
                    <a:pt x="9424" y="9454"/>
                  </a:lnTo>
                  <a:lnTo>
                    <a:pt x="1" y="1"/>
                  </a:lnTo>
                  <a:close/>
                </a:path>
              </a:pathLst>
            </a:custGeom>
            <a:grpFill/>
            <a:ln w="1905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207;p27">
              <a:extLst>
                <a:ext uri="{FF2B5EF4-FFF2-40B4-BE49-F238E27FC236}">
                  <a16:creationId xmlns:a16="http://schemas.microsoft.com/office/drawing/2014/main" id="{FD74145D-D4F4-8F65-DF14-61AB12CC4819}"/>
                </a:ext>
              </a:extLst>
            </p:cNvPr>
            <p:cNvSpPr/>
            <p:nvPr/>
          </p:nvSpPr>
          <p:spPr>
            <a:xfrm>
              <a:off x="6482900" y="1962325"/>
              <a:ext cx="235600" cy="248500"/>
            </a:xfrm>
            <a:custGeom>
              <a:avLst/>
              <a:gdLst/>
              <a:ahLst/>
              <a:cxnLst/>
              <a:rect l="l" t="t" r="r" b="b"/>
              <a:pathLst>
                <a:path w="9424" h="9940" extrusionOk="0">
                  <a:moveTo>
                    <a:pt x="1" y="1"/>
                  </a:moveTo>
                  <a:lnTo>
                    <a:pt x="1" y="517"/>
                  </a:lnTo>
                  <a:lnTo>
                    <a:pt x="9424" y="9940"/>
                  </a:lnTo>
                  <a:lnTo>
                    <a:pt x="9424" y="9423"/>
                  </a:lnTo>
                  <a:lnTo>
                    <a:pt x="1" y="1"/>
                  </a:lnTo>
                  <a:close/>
                </a:path>
              </a:pathLst>
            </a:custGeom>
            <a:grpFill/>
            <a:ln w="1905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Google Shape;208;p27">
              <a:extLst>
                <a:ext uri="{FF2B5EF4-FFF2-40B4-BE49-F238E27FC236}">
                  <a16:creationId xmlns:a16="http://schemas.microsoft.com/office/drawing/2014/main" id="{8A9B1779-D4A4-49ED-0088-B3C9D5354B9D}"/>
                </a:ext>
              </a:extLst>
            </p:cNvPr>
            <p:cNvSpPr/>
            <p:nvPr/>
          </p:nvSpPr>
          <p:spPr>
            <a:xfrm>
              <a:off x="6482900" y="2083900"/>
              <a:ext cx="235600" cy="248525"/>
            </a:xfrm>
            <a:custGeom>
              <a:avLst/>
              <a:gdLst/>
              <a:ahLst/>
              <a:cxnLst/>
              <a:rect l="l" t="t" r="r" b="b"/>
              <a:pathLst>
                <a:path w="9424" h="9941" extrusionOk="0">
                  <a:moveTo>
                    <a:pt x="1" y="1"/>
                  </a:moveTo>
                  <a:lnTo>
                    <a:pt x="1" y="518"/>
                  </a:lnTo>
                  <a:lnTo>
                    <a:pt x="9424" y="9940"/>
                  </a:lnTo>
                  <a:lnTo>
                    <a:pt x="9424" y="9423"/>
                  </a:lnTo>
                  <a:lnTo>
                    <a:pt x="1" y="1"/>
                  </a:lnTo>
                  <a:close/>
                </a:path>
              </a:pathLst>
            </a:custGeom>
            <a:grpFill/>
            <a:ln w="1905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209;p27">
              <a:extLst>
                <a:ext uri="{FF2B5EF4-FFF2-40B4-BE49-F238E27FC236}">
                  <a16:creationId xmlns:a16="http://schemas.microsoft.com/office/drawing/2014/main" id="{07A23A2C-2444-41A0-E887-C0A14285C676}"/>
                </a:ext>
              </a:extLst>
            </p:cNvPr>
            <p:cNvSpPr/>
            <p:nvPr/>
          </p:nvSpPr>
          <p:spPr>
            <a:xfrm>
              <a:off x="6482900" y="2205500"/>
              <a:ext cx="235600" cy="248500"/>
            </a:xfrm>
            <a:custGeom>
              <a:avLst/>
              <a:gdLst/>
              <a:ahLst/>
              <a:cxnLst/>
              <a:rect l="l" t="t" r="r" b="b"/>
              <a:pathLst>
                <a:path w="9424" h="9940" extrusionOk="0">
                  <a:moveTo>
                    <a:pt x="1" y="0"/>
                  </a:moveTo>
                  <a:lnTo>
                    <a:pt x="1" y="547"/>
                  </a:lnTo>
                  <a:lnTo>
                    <a:pt x="9424" y="9939"/>
                  </a:lnTo>
                  <a:lnTo>
                    <a:pt x="9424" y="9423"/>
                  </a:lnTo>
                  <a:lnTo>
                    <a:pt x="1" y="0"/>
                  </a:lnTo>
                  <a:close/>
                </a:path>
              </a:pathLst>
            </a:custGeom>
            <a:grpFill/>
            <a:ln w="1905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Google Shape;210;p27">
              <a:extLst>
                <a:ext uri="{FF2B5EF4-FFF2-40B4-BE49-F238E27FC236}">
                  <a16:creationId xmlns:a16="http://schemas.microsoft.com/office/drawing/2014/main" id="{405C3E23-798E-5AB7-BBFF-4B279D562CFA}"/>
                </a:ext>
              </a:extLst>
            </p:cNvPr>
            <p:cNvSpPr/>
            <p:nvPr/>
          </p:nvSpPr>
          <p:spPr>
            <a:xfrm>
              <a:off x="6482900" y="2327825"/>
              <a:ext cx="235600" cy="247750"/>
            </a:xfrm>
            <a:custGeom>
              <a:avLst/>
              <a:gdLst/>
              <a:ahLst/>
              <a:cxnLst/>
              <a:rect l="l" t="t" r="r" b="b"/>
              <a:pathLst>
                <a:path w="9424" h="9910" extrusionOk="0">
                  <a:moveTo>
                    <a:pt x="1" y="1"/>
                  </a:moveTo>
                  <a:lnTo>
                    <a:pt x="1" y="518"/>
                  </a:lnTo>
                  <a:lnTo>
                    <a:pt x="9424" y="9910"/>
                  </a:lnTo>
                  <a:lnTo>
                    <a:pt x="9424" y="9393"/>
                  </a:lnTo>
                  <a:lnTo>
                    <a:pt x="1" y="1"/>
                  </a:lnTo>
                  <a:close/>
                </a:path>
              </a:pathLst>
            </a:custGeom>
            <a:grpFill/>
            <a:ln w="1905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Google Shape;211;p27">
              <a:extLst>
                <a:ext uri="{FF2B5EF4-FFF2-40B4-BE49-F238E27FC236}">
                  <a16:creationId xmlns:a16="http://schemas.microsoft.com/office/drawing/2014/main" id="{8BF94DB3-9008-EF43-3CDB-4B0CD2E14BBD}"/>
                </a:ext>
              </a:extLst>
            </p:cNvPr>
            <p:cNvSpPr/>
            <p:nvPr/>
          </p:nvSpPr>
          <p:spPr>
            <a:xfrm>
              <a:off x="6482900" y="2449425"/>
              <a:ext cx="235600" cy="247750"/>
            </a:xfrm>
            <a:custGeom>
              <a:avLst/>
              <a:gdLst/>
              <a:ahLst/>
              <a:cxnLst/>
              <a:rect l="l" t="t" r="r" b="b"/>
              <a:pathLst>
                <a:path w="9424" h="9910" extrusionOk="0">
                  <a:moveTo>
                    <a:pt x="1" y="0"/>
                  </a:moveTo>
                  <a:lnTo>
                    <a:pt x="1" y="517"/>
                  </a:lnTo>
                  <a:lnTo>
                    <a:pt x="9424" y="9909"/>
                  </a:lnTo>
                  <a:lnTo>
                    <a:pt x="9424" y="9392"/>
                  </a:lnTo>
                  <a:lnTo>
                    <a:pt x="1" y="0"/>
                  </a:lnTo>
                  <a:close/>
                </a:path>
              </a:pathLst>
            </a:custGeom>
            <a:grpFill/>
            <a:ln w="1905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18" name="Google Shape;212;p27">
              <a:extLst>
                <a:ext uri="{FF2B5EF4-FFF2-40B4-BE49-F238E27FC236}">
                  <a16:creationId xmlns:a16="http://schemas.microsoft.com/office/drawing/2014/main" id="{0884DD90-9D17-8198-EDE9-D971687DC6E3}"/>
                </a:ext>
              </a:extLst>
            </p:cNvPr>
            <p:cNvSpPr/>
            <p:nvPr/>
          </p:nvSpPr>
          <p:spPr>
            <a:xfrm>
              <a:off x="6482900" y="2571000"/>
              <a:ext cx="235600" cy="248500"/>
            </a:xfrm>
            <a:custGeom>
              <a:avLst/>
              <a:gdLst/>
              <a:ahLst/>
              <a:cxnLst/>
              <a:rect l="l" t="t" r="r" b="b"/>
              <a:pathLst>
                <a:path w="9424" h="9940" extrusionOk="0">
                  <a:moveTo>
                    <a:pt x="1" y="0"/>
                  </a:moveTo>
                  <a:lnTo>
                    <a:pt x="1" y="517"/>
                  </a:lnTo>
                  <a:lnTo>
                    <a:pt x="9424" y="9940"/>
                  </a:lnTo>
                  <a:lnTo>
                    <a:pt x="9424" y="9393"/>
                  </a:lnTo>
                  <a:lnTo>
                    <a:pt x="1" y="0"/>
                  </a:lnTo>
                  <a:close/>
                </a:path>
              </a:pathLst>
            </a:custGeom>
            <a:grpFill/>
            <a:ln w="1905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" name="Google Shape;213;p27">
              <a:extLst>
                <a:ext uri="{FF2B5EF4-FFF2-40B4-BE49-F238E27FC236}">
                  <a16:creationId xmlns:a16="http://schemas.microsoft.com/office/drawing/2014/main" id="{821BBD0E-1A71-7951-E160-787F23D01284}"/>
                </a:ext>
              </a:extLst>
            </p:cNvPr>
            <p:cNvSpPr/>
            <p:nvPr/>
          </p:nvSpPr>
          <p:spPr>
            <a:xfrm>
              <a:off x="6482900" y="2692575"/>
              <a:ext cx="235600" cy="248525"/>
            </a:xfrm>
            <a:custGeom>
              <a:avLst/>
              <a:gdLst/>
              <a:ahLst/>
              <a:cxnLst/>
              <a:rect l="l" t="t" r="r" b="b"/>
              <a:pathLst>
                <a:path w="9424" h="9941" extrusionOk="0">
                  <a:moveTo>
                    <a:pt x="1" y="1"/>
                  </a:moveTo>
                  <a:lnTo>
                    <a:pt x="1" y="517"/>
                  </a:lnTo>
                  <a:lnTo>
                    <a:pt x="9424" y="9940"/>
                  </a:lnTo>
                  <a:lnTo>
                    <a:pt x="9424" y="9423"/>
                  </a:lnTo>
                  <a:lnTo>
                    <a:pt x="1" y="1"/>
                  </a:lnTo>
                  <a:close/>
                </a:path>
              </a:pathLst>
            </a:custGeom>
            <a:grpFill/>
            <a:ln w="1905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" name="Google Shape;214;p27">
              <a:extLst>
                <a:ext uri="{FF2B5EF4-FFF2-40B4-BE49-F238E27FC236}">
                  <a16:creationId xmlns:a16="http://schemas.microsoft.com/office/drawing/2014/main" id="{2CA6630B-9B88-96D4-BF0B-B8D0FE60CBF4}"/>
                </a:ext>
              </a:extLst>
            </p:cNvPr>
            <p:cNvSpPr/>
            <p:nvPr/>
          </p:nvSpPr>
          <p:spPr>
            <a:xfrm>
              <a:off x="6482900" y="2814150"/>
              <a:ext cx="235600" cy="248525"/>
            </a:xfrm>
            <a:custGeom>
              <a:avLst/>
              <a:gdLst/>
              <a:ahLst/>
              <a:cxnLst/>
              <a:rect l="l" t="t" r="r" b="b"/>
              <a:pathLst>
                <a:path w="9424" h="9941" extrusionOk="0">
                  <a:moveTo>
                    <a:pt x="1" y="1"/>
                  </a:moveTo>
                  <a:lnTo>
                    <a:pt x="1" y="518"/>
                  </a:lnTo>
                  <a:lnTo>
                    <a:pt x="9424" y="9940"/>
                  </a:lnTo>
                  <a:lnTo>
                    <a:pt x="9424" y="9424"/>
                  </a:lnTo>
                  <a:lnTo>
                    <a:pt x="1" y="1"/>
                  </a:lnTo>
                  <a:close/>
                </a:path>
              </a:pathLst>
            </a:custGeom>
            <a:grpFill/>
            <a:ln w="1905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" name="Google Shape;215;p27">
              <a:extLst>
                <a:ext uri="{FF2B5EF4-FFF2-40B4-BE49-F238E27FC236}">
                  <a16:creationId xmlns:a16="http://schemas.microsoft.com/office/drawing/2014/main" id="{CAEDB713-951F-C35A-43A5-BAC7A7BFCE58}"/>
                </a:ext>
              </a:extLst>
            </p:cNvPr>
            <p:cNvSpPr/>
            <p:nvPr/>
          </p:nvSpPr>
          <p:spPr>
            <a:xfrm>
              <a:off x="6482900" y="2935750"/>
              <a:ext cx="235600" cy="248500"/>
            </a:xfrm>
            <a:custGeom>
              <a:avLst/>
              <a:gdLst/>
              <a:ahLst/>
              <a:cxnLst/>
              <a:rect l="l" t="t" r="r" b="b"/>
              <a:pathLst>
                <a:path w="9424" h="9940" extrusionOk="0">
                  <a:moveTo>
                    <a:pt x="1" y="0"/>
                  </a:moveTo>
                  <a:lnTo>
                    <a:pt x="1" y="517"/>
                  </a:lnTo>
                  <a:lnTo>
                    <a:pt x="9424" y="9940"/>
                  </a:lnTo>
                  <a:lnTo>
                    <a:pt x="9424" y="9423"/>
                  </a:lnTo>
                  <a:lnTo>
                    <a:pt x="1" y="0"/>
                  </a:lnTo>
                  <a:close/>
                </a:path>
              </a:pathLst>
            </a:custGeom>
            <a:grpFill/>
            <a:ln w="1905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22" name="Picture 21">
            <a:extLst>
              <a:ext uri="{FF2B5EF4-FFF2-40B4-BE49-F238E27FC236}">
                <a16:creationId xmlns:a16="http://schemas.microsoft.com/office/drawing/2014/main" id="{38DFA88B-7B05-B27C-8135-24C33FF998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166" y="1402485"/>
            <a:ext cx="3324290" cy="759129"/>
          </a:xfrm>
          <a:prstGeom prst="rect">
            <a:avLst/>
          </a:prstGeom>
        </p:spPr>
      </p:pic>
      <p:graphicFrame>
        <p:nvGraphicFramePr>
          <p:cNvPr id="23" name="Object 22">
            <a:extLst>
              <a:ext uri="{FF2B5EF4-FFF2-40B4-BE49-F238E27FC236}">
                <a16:creationId xmlns:a16="http://schemas.microsoft.com/office/drawing/2014/main" id="{FDC1272D-C609-8F16-B792-C510F81C5E2B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987541767"/>
              </p:ext>
            </p:extLst>
          </p:nvPr>
        </p:nvGraphicFramePr>
        <p:xfrm>
          <a:off x="4077892" y="1312149"/>
          <a:ext cx="2565400" cy="914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2565360" imgH="914400" progId="Equation.DSMT4">
                  <p:embed/>
                </p:oleObj>
              </mc:Choice>
              <mc:Fallback>
                <p:oleObj name="Equation" r:id="rId3" imgW="2565360" imgH="91440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4077892" y="1312149"/>
                        <a:ext cx="2565400" cy="9144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4" name="Arrow: Right 23">
            <a:extLst>
              <a:ext uri="{FF2B5EF4-FFF2-40B4-BE49-F238E27FC236}">
                <a16:creationId xmlns:a16="http://schemas.microsoft.com/office/drawing/2014/main" id="{4EB074F1-0CB1-E104-18B6-A2E1C3B956D4}"/>
              </a:ext>
            </a:extLst>
          </p:cNvPr>
          <p:cNvSpPr/>
          <p:nvPr/>
        </p:nvSpPr>
        <p:spPr>
          <a:xfrm>
            <a:off x="3607085" y="1665225"/>
            <a:ext cx="345621" cy="16981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25" name="Arrow: Right 24">
            <a:extLst>
              <a:ext uri="{FF2B5EF4-FFF2-40B4-BE49-F238E27FC236}">
                <a16:creationId xmlns:a16="http://schemas.microsoft.com/office/drawing/2014/main" id="{EE56C4EA-2C5E-BABF-1224-CFCE62DACCDC}"/>
              </a:ext>
            </a:extLst>
          </p:cNvPr>
          <p:cNvSpPr/>
          <p:nvPr/>
        </p:nvSpPr>
        <p:spPr>
          <a:xfrm>
            <a:off x="6643292" y="1659113"/>
            <a:ext cx="345621" cy="16981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graphicFrame>
        <p:nvGraphicFramePr>
          <p:cNvPr id="26" name="Object 25">
            <a:extLst>
              <a:ext uri="{FF2B5EF4-FFF2-40B4-BE49-F238E27FC236}">
                <a16:creationId xmlns:a16="http://schemas.microsoft.com/office/drawing/2014/main" id="{F62B17D4-8D64-D779-1C21-B0064A83CEAD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543006918"/>
              </p:ext>
            </p:extLst>
          </p:nvPr>
        </p:nvGraphicFramePr>
        <p:xfrm>
          <a:off x="7095956" y="1627373"/>
          <a:ext cx="800100" cy="254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799920" imgH="253800" progId="Equation.DSMT4">
                  <p:embed/>
                </p:oleObj>
              </mc:Choice>
              <mc:Fallback>
                <p:oleObj name="Equation" r:id="rId5" imgW="799920" imgH="25380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7095956" y="1627373"/>
                        <a:ext cx="800100" cy="254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" name="Arrow: Right 27">
            <a:extLst>
              <a:ext uri="{FF2B5EF4-FFF2-40B4-BE49-F238E27FC236}">
                <a16:creationId xmlns:a16="http://schemas.microsoft.com/office/drawing/2014/main" id="{1409DEC8-3A27-3CC5-D891-6F9CEA531249}"/>
              </a:ext>
            </a:extLst>
          </p:cNvPr>
          <p:cNvSpPr/>
          <p:nvPr/>
        </p:nvSpPr>
        <p:spPr>
          <a:xfrm rot="5400000">
            <a:off x="7352380" y="2141640"/>
            <a:ext cx="345621" cy="16981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graphicFrame>
        <p:nvGraphicFramePr>
          <p:cNvPr id="29" name="Object 28">
            <a:extLst>
              <a:ext uri="{FF2B5EF4-FFF2-40B4-BE49-F238E27FC236}">
                <a16:creationId xmlns:a16="http://schemas.microsoft.com/office/drawing/2014/main" id="{74E76536-B826-4067-C3DC-DF005096D33F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977196486"/>
              </p:ext>
            </p:extLst>
          </p:nvPr>
        </p:nvGraphicFramePr>
        <p:xfrm>
          <a:off x="6374415" y="2481678"/>
          <a:ext cx="2413000" cy="8636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7" imgW="2412720" imgH="863280" progId="Equation.DSMT4">
                  <p:embed/>
                </p:oleObj>
              </mc:Choice>
              <mc:Fallback>
                <p:oleObj name="Equation" r:id="rId7" imgW="2412720" imgH="86328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6374415" y="2481678"/>
                        <a:ext cx="2413000" cy="8636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0" name="Arrow: Right 29">
            <a:extLst>
              <a:ext uri="{FF2B5EF4-FFF2-40B4-BE49-F238E27FC236}">
                <a16:creationId xmlns:a16="http://schemas.microsoft.com/office/drawing/2014/main" id="{FED73875-76A0-6133-939A-9FD477BFE52B}"/>
              </a:ext>
            </a:extLst>
          </p:cNvPr>
          <p:cNvSpPr/>
          <p:nvPr/>
        </p:nvSpPr>
        <p:spPr>
          <a:xfrm rot="10800000">
            <a:off x="5843644" y="2828569"/>
            <a:ext cx="345621" cy="16981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31" name="Text Placeholder 2">
            <a:extLst>
              <a:ext uri="{FF2B5EF4-FFF2-40B4-BE49-F238E27FC236}">
                <a16:creationId xmlns:a16="http://schemas.microsoft.com/office/drawing/2014/main" id="{B60240C4-D7AB-4395-4EA5-E6219824C9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930543" y="2571750"/>
            <a:ext cx="2820526" cy="663596"/>
          </a:xfrm>
        </p:spPr>
        <p:txBody>
          <a:bodyPr/>
          <a:lstStyle/>
          <a:p>
            <a:pPr marL="152400" indent="0">
              <a:buNone/>
            </a:pPr>
            <a:r>
              <a:rPr lang="en-US" dirty="0">
                <a:solidFill>
                  <a:srgbClr val="002060"/>
                </a:solidFill>
              </a:rPr>
              <a:t>find the control rod speed (</a:t>
            </a:r>
            <a:r>
              <a:rPr lang="en-US" i="1" dirty="0">
                <a:solidFill>
                  <a:srgbClr val="002060"/>
                </a:solidFill>
              </a:rPr>
              <a:t>v)</a:t>
            </a:r>
            <a:r>
              <a:rPr lang="en-US" dirty="0">
                <a:solidFill>
                  <a:srgbClr val="002060"/>
                </a:solidFill>
              </a:rPr>
              <a:t> from the stored Kartini reactor operating data </a:t>
            </a:r>
            <a:endParaRPr lang="en-ID" dirty="0">
              <a:solidFill>
                <a:srgbClr val="002060"/>
              </a:solidFill>
            </a:endParaRPr>
          </a:p>
        </p:txBody>
      </p:sp>
      <p:sp>
        <p:nvSpPr>
          <p:cNvPr id="32" name="Arrow: Right 31">
            <a:extLst>
              <a:ext uri="{FF2B5EF4-FFF2-40B4-BE49-F238E27FC236}">
                <a16:creationId xmlns:a16="http://schemas.microsoft.com/office/drawing/2014/main" id="{4A65E6BA-057F-95F1-5085-E1CDD097CC1A}"/>
              </a:ext>
            </a:extLst>
          </p:cNvPr>
          <p:cNvSpPr/>
          <p:nvPr/>
        </p:nvSpPr>
        <p:spPr>
          <a:xfrm rot="10800000">
            <a:off x="2665157" y="2825925"/>
            <a:ext cx="345621" cy="16981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36" name="Text Placeholder 2">
            <a:extLst>
              <a:ext uri="{FF2B5EF4-FFF2-40B4-BE49-F238E27FC236}">
                <a16:creationId xmlns:a16="http://schemas.microsoft.com/office/drawing/2014/main" id="{76448692-57D9-C973-51A5-F8764D1FADED}"/>
              </a:ext>
            </a:extLst>
          </p:cNvPr>
          <p:cNvSpPr txBox="1">
            <a:spLocks/>
          </p:cNvSpPr>
          <p:nvPr/>
        </p:nvSpPr>
        <p:spPr>
          <a:xfrm>
            <a:off x="142428" y="2612999"/>
            <a:ext cx="2647716" cy="6635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Char char="●"/>
              <a:defRPr sz="1200" b="0" i="0" u="none" strike="noStrike" cap="none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1pPr>
            <a:lvl2pPr marL="914400" marR="0" lvl="1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Char char="○"/>
              <a:defRPr sz="1200" b="0" i="0" u="none" strike="noStrike" cap="none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2pPr>
            <a:lvl3pPr marL="1371600" marR="0" lvl="2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Char char="■"/>
              <a:defRPr sz="1200" b="0" i="0" u="none" strike="noStrike" cap="none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3pPr>
            <a:lvl4pPr marL="1828800" marR="0" lvl="3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Char char="●"/>
              <a:defRPr sz="1200" b="0" i="0" u="none" strike="noStrike" cap="none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4pPr>
            <a:lvl5pPr marL="2286000" marR="0" lvl="4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Char char="○"/>
              <a:defRPr sz="1200" b="0" i="0" u="none" strike="noStrike" cap="none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5pPr>
            <a:lvl6pPr marL="2743200" marR="0" lvl="5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Char char="■"/>
              <a:defRPr sz="1200" b="0" i="0" u="none" strike="noStrike" cap="none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6pPr>
            <a:lvl7pPr marL="3200400" marR="0" lvl="6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Char char="●"/>
              <a:defRPr sz="1200" b="0" i="0" u="none" strike="noStrike" cap="none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7pPr>
            <a:lvl8pPr marL="3657600" marR="0" lvl="7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Char char="○"/>
              <a:defRPr sz="1200" b="0" i="0" u="none" strike="noStrike" cap="none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8pPr>
            <a:lvl9pPr marL="4114800" marR="0" lvl="8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Char char="■"/>
              <a:defRPr sz="1200" b="0" i="0" u="none" strike="noStrike" cap="none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9pPr>
          </a:lstStyle>
          <a:p>
            <a:pPr marL="152400" indent="0">
              <a:buFont typeface="Nunito Light"/>
              <a:buNone/>
            </a:pPr>
            <a:r>
              <a:rPr lang="en-US" dirty="0">
                <a:solidFill>
                  <a:srgbClr val="002060"/>
                </a:solidFill>
              </a:rPr>
              <a:t>Solve the kinematic differential equation using some methods of solving differential equations</a:t>
            </a:r>
            <a:endParaRPr lang="en-ID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998159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541E71-42B9-946B-733D-AD414227C2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713" y="58659"/>
            <a:ext cx="8983014" cy="572700"/>
          </a:xfrm>
        </p:spPr>
        <p:txBody>
          <a:bodyPr/>
          <a:lstStyle/>
          <a:p>
            <a:r>
              <a:rPr lang="en-US" sz="2400" dirty="0">
                <a:solidFill>
                  <a:schemeClr val="tx1"/>
                </a:solidFill>
              </a:rPr>
              <a:t>Speed Of The Control Rod Regulating The Kartini Reactor</a:t>
            </a:r>
            <a:endParaRPr lang="en-ID" sz="24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0AD71B4E-9839-A4CA-ABC4-43EC350A7857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>
              <a:xfrm>
                <a:off x="0" y="920681"/>
                <a:ext cx="4353059" cy="863043"/>
              </a:xfrm>
            </p:spPr>
            <p:txBody>
              <a:bodyPr/>
              <a:lstStyle/>
              <a:p>
                <a:r>
                  <a:rPr lang="en-US" dirty="0">
                    <a:solidFill>
                      <a:schemeClr val="tx1"/>
                    </a:solidFill>
                  </a:rPr>
                  <a:t>There are 157 operational data of the Kartini reactor from January 2022 to December 2025.</a:t>
                </a:r>
              </a:p>
              <a:p>
                <a:r>
                  <a:rPr lang="en-US" dirty="0">
                    <a:solidFill>
                      <a:schemeClr val="tx1"/>
                    </a:solidFill>
                  </a:rPr>
                  <a:t>To get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ID" dirty="0">
                    <a:solidFill>
                      <a:schemeClr val="tx1"/>
                    </a:solidFill>
                  </a:rPr>
                  <a:t>, use Forward difference and Central difference</a:t>
                </a:r>
              </a:p>
            </p:txBody>
          </p:sp>
        </mc:Choice>
        <mc:Fallback xmlns="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0AD71B4E-9839-A4CA-ABC4-43EC350A785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0" y="920681"/>
                <a:ext cx="4353059" cy="863043"/>
              </a:xfrm>
              <a:blipFill>
                <a:blip r:embed="rId2"/>
                <a:stretch>
                  <a:fillRect b="-6338"/>
                </a:stretch>
              </a:blipFill>
            </p:spPr>
            <p:txBody>
              <a:bodyPr/>
              <a:lstStyle/>
              <a:p>
                <a:r>
                  <a:rPr lang="en-ID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CC75FCE0-3195-4E63-C5F5-C8BD3E0D857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592" t="8671" r="8944" b="5986"/>
          <a:stretch>
            <a:fillRect/>
          </a:stretch>
        </p:blipFill>
        <p:spPr>
          <a:xfrm>
            <a:off x="1494389" y="1916355"/>
            <a:ext cx="5382929" cy="310748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1F13F3D-06C9-92C1-0753-6FD31855E50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61979" r="25685" b="923"/>
          <a:stretch>
            <a:fillRect/>
          </a:stretch>
        </p:blipFill>
        <p:spPr>
          <a:xfrm>
            <a:off x="0" y="688860"/>
            <a:ext cx="4762832" cy="231821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DB7AE889-5F3B-B087-871D-8E81261E67F9}"/>
              </a:ext>
            </a:extLst>
          </p:cNvPr>
          <p:cNvGrpSpPr/>
          <p:nvPr/>
        </p:nvGrpSpPr>
        <p:grpSpPr>
          <a:xfrm>
            <a:off x="4885387" y="1073082"/>
            <a:ext cx="2042464" cy="710920"/>
            <a:chOff x="4885387" y="1073082"/>
            <a:chExt cx="2042464" cy="710920"/>
          </a:xfrm>
        </p:grpSpPr>
        <p:sp>
          <p:nvSpPr>
            <p:cNvPr id="8" name="Text Placeholder 2">
              <a:extLst>
                <a:ext uri="{FF2B5EF4-FFF2-40B4-BE49-F238E27FC236}">
                  <a16:creationId xmlns:a16="http://schemas.microsoft.com/office/drawing/2014/main" id="{058417D2-4AE4-D66C-1E02-145385C09467}"/>
                </a:ext>
              </a:extLst>
            </p:cNvPr>
            <p:cNvSpPr txBox="1">
              <a:spLocks/>
            </p:cNvSpPr>
            <p:nvPr/>
          </p:nvSpPr>
          <p:spPr>
            <a:xfrm>
              <a:off x="4885387" y="1073082"/>
              <a:ext cx="2042464" cy="40155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L="457200" marR="0" lvl="0" indent="-30480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Nunito Light"/>
                <a:buChar char="●"/>
                <a:defRPr sz="1200" b="0" i="0" u="none" strike="noStrike" cap="none">
                  <a:solidFill>
                    <a:schemeClr val="dk1"/>
                  </a:solidFill>
                  <a:latin typeface="Figtree"/>
                  <a:ea typeface="Figtree"/>
                  <a:cs typeface="Figtree"/>
                  <a:sym typeface="Figtree"/>
                </a:defRPr>
              </a:lvl1pPr>
              <a:lvl2pPr marL="914400" marR="0" lvl="1" indent="-30480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Nunito Light"/>
                <a:buChar char="○"/>
                <a:defRPr sz="1200" b="0" i="0" u="none" strike="noStrike" cap="none">
                  <a:solidFill>
                    <a:schemeClr val="dk1"/>
                  </a:solidFill>
                  <a:latin typeface="Figtree"/>
                  <a:ea typeface="Figtree"/>
                  <a:cs typeface="Figtree"/>
                  <a:sym typeface="Figtree"/>
                </a:defRPr>
              </a:lvl2pPr>
              <a:lvl3pPr marL="1371600" marR="0" lvl="2" indent="-30480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Nunito Light"/>
                <a:buChar char="■"/>
                <a:defRPr sz="1200" b="0" i="0" u="none" strike="noStrike" cap="none">
                  <a:solidFill>
                    <a:schemeClr val="dk1"/>
                  </a:solidFill>
                  <a:latin typeface="Figtree"/>
                  <a:ea typeface="Figtree"/>
                  <a:cs typeface="Figtree"/>
                  <a:sym typeface="Figtree"/>
                </a:defRPr>
              </a:lvl3pPr>
              <a:lvl4pPr marL="1828800" marR="0" lvl="3" indent="-30480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Nunito Light"/>
                <a:buChar char="●"/>
                <a:defRPr sz="1200" b="0" i="0" u="none" strike="noStrike" cap="none">
                  <a:solidFill>
                    <a:schemeClr val="dk1"/>
                  </a:solidFill>
                  <a:latin typeface="Figtree"/>
                  <a:ea typeface="Figtree"/>
                  <a:cs typeface="Figtree"/>
                  <a:sym typeface="Figtree"/>
                </a:defRPr>
              </a:lvl4pPr>
              <a:lvl5pPr marL="2286000" marR="0" lvl="4" indent="-30480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Nunito Light"/>
                <a:buChar char="○"/>
                <a:defRPr sz="1200" b="0" i="0" u="none" strike="noStrike" cap="none">
                  <a:solidFill>
                    <a:schemeClr val="dk1"/>
                  </a:solidFill>
                  <a:latin typeface="Figtree"/>
                  <a:ea typeface="Figtree"/>
                  <a:cs typeface="Figtree"/>
                  <a:sym typeface="Figtree"/>
                </a:defRPr>
              </a:lvl5pPr>
              <a:lvl6pPr marL="2743200" marR="0" lvl="5" indent="-30480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Nunito Light"/>
                <a:buChar char="■"/>
                <a:defRPr sz="1200" b="0" i="0" u="none" strike="noStrike" cap="none">
                  <a:solidFill>
                    <a:schemeClr val="dk1"/>
                  </a:solidFill>
                  <a:latin typeface="Figtree"/>
                  <a:ea typeface="Figtree"/>
                  <a:cs typeface="Figtree"/>
                  <a:sym typeface="Figtree"/>
                </a:defRPr>
              </a:lvl6pPr>
              <a:lvl7pPr marL="3200400" marR="0" lvl="6" indent="-30480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Nunito Light"/>
                <a:buChar char="●"/>
                <a:defRPr sz="1200" b="0" i="0" u="none" strike="noStrike" cap="none">
                  <a:solidFill>
                    <a:schemeClr val="dk1"/>
                  </a:solidFill>
                  <a:latin typeface="Figtree"/>
                  <a:ea typeface="Figtree"/>
                  <a:cs typeface="Figtree"/>
                  <a:sym typeface="Figtree"/>
                </a:defRPr>
              </a:lvl7pPr>
              <a:lvl8pPr marL="3657600" marR="0" lvl="7" indent="-30480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Nunito Light"/>
                <a:buChar char="○"/>
                <a:defRPr sz="1200" b="0" i="0" u="none" strike="noStrike" cap="none">
                  <a:solidFill>
                    <a:schemeClr val="dk1"/>
                  </a:solidFill>
                  <a:latin typeface="Figtree"/>
                  <a:ea typeface="Figtree"/>
                  <a:cs typeface="Figtree"/>
                  <a:sym typeface="Figtree"/>
                </a:defRPr>
              </a:lvl8pPr>
              <a:lvl9pPr marL="4114800" marR="0" lvl="8" indent="-30480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Nunito Light"/>
                <a:buChar char="■"/>
                <a:defRPr sz="1200" b="0" i="0" u="none" strike="noStrike" cap="none">
                  <a:solidFill>
                    <a:schemeClr val="dk1"/>
                  </a:solidFill>
                  <a:latin typeface="Figtree"/>
                  <a:ea typeface="Figtree"/>
                  <a:cs typeface="Figtree"/>
                  <a:sym typeface="Figtree"/>
                </a:defRPr>
              </a:lvl9pPr>
            </a:lstStyle>
            <a:p>
              <a:r>
                <a:rPr lang="en-US" dirty="0">
                  <a:solidFill>
                    <a:schemeClr val="tx1"/>
                  </a:solidFill>
                </a:rPr>
                <a:t>Forward Difference:</a:t>
              </a:r>
              <a:endParaRPr lang="en-ID" dirty="0">
                <a:solidFill>
                  <a:schemeClr val="tx1"/>
                </a:solidFill>
              </a:endParaRPr>
            </a:p>
          </p:txBody>
        </p:sp>
        <p:graphicFrame>
          <p:nvGraphicFramePr>
            <p:cNvPr id="9" name="Object 8">
              <a:extLst>
                <a:ext uri="{FF2B5EF4-FFF2-40B4-BE49-F238E27FC236}">
                  <a16:creationId xmlns:a16="http://schemas.microsoft.com/office/drawing/2014/main" id="{ACC72A8F-04B0-449B-BD8E-C4FFB2546E52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121176420"/>
                </p:ext>
              </p:extLst>
            </p:nvPr>
          </p:nvGraphicFramePr>
          <p:xfrm>
            <a:off x="5422900" y="1352202"/>
            <a:ext cx="774700" cy="4318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5" imgW="774360" imgH="431640" progId="Equation.DSMT4">
                    <p:embed/>
                  </p:oleObj>
                </mc:Choice>
                <mc:Fallback>
                  <p:oleObj name="Equation" r:id="rId5" imgW="774360" imgH="431640" progId="Equation.DSMT4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6"/>
                        <a:stretch>
                          <a:fillRect/>
                        </a:stretch>
                      </p:blipFill>
                      <p:spPr>
                        <a:xfrm>
                          <a:off x="5422900" y="1352202"/>
                          <a:ext cx="774700" cy="4318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A403FD0E-B4AB-7E07-FD12-2037603D2991}"/>
              </a:ext>
            </a:extLst>
          </p:cNvPr>
          <p:cNvGrpSpPr/>
          <p:nvPr/>
        </p:nvGrpSpPr>
        <p:grpSpPr>
          <a:xfrm>
            <a:off x="6735113" y="1073082"/>
            <a:ext cx="1978965" cy="721266"/>
            <a:chOff x="4732985" y="1813972"/>
            <a:chExt cx="1978965" cy="721266"/>
          </a:xfrm>
        </p:grpSpPr>
        <p:sp>
          <p:nvSpPr>
            <p:cNvPr id="12" name="Text Placeholder 2">
              <a:extLst>
                <a:ext uri="{FF2B5EF4-FFF2-40B4-BE49-F238E27FC236}">
                  <a16:creationId xmlns:a16="http://schemas.microsoft.com/office/drawing/2014/main" id="{29D38037-D921-3F0F-30A1-C08AA96F49A2}"/>
                </a:ext>
              </a:extLst>
            </p:cNvPr>
            <p:cNvSpPr txBox="1">
              <a:spLocks/>
            </p:cNvSpPr>
            <p:nvPr/>
          </p:nvSpPr>
          <p:spPr>
            <a:xfrm>
              <a:off x="4732985" y="1813972"/>
              <a:ext cx="1978965" cy="40155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L="457200" marR="0" lvl="0" indent="-30480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Nunito Light"/>
                <a:buChar char="●"/>
                <a:defRPr sz="1200" b="0" i="0" u="none" strike="noStrike" cap="none">
                  <a:solidFill>
                    <a:schemeClr val="dk1"/>
                  </a:solidFill>
                  <a:latin typeface="Figtree"/>
                  <a:ea typeface="Figtree"/>
                  <a:cs typeface="Figtree"/>
                  <a:sym typeface="Figtree"/>
                </a:defRPr>
              </a:lvl1pPr>
              <a:lvl2pPr marL="914400" marR="0" lvl="1" indent="-30480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Nunito Light"/>
                <a:buChar char="○"/>
                <a:defRPr sz="1200" b="0" i="0" u="none" strike="noStrike" cap="none">
                  <a:solidFill>
                    <a:schemeClr val="dk1"/>
                  </a:solidFill>
                  <a:latin typeface="Figtree"/>
                  <a:ea typeface="Figtree"/>
                  <a:cs typeface="Figtree"/>
                  <a:sym typeface="Figtree"/>
                </a:defRPr>
              </a:lvl2pPr>
              <a:lvl3pPr marL="1371600" marR="0" lvl="2" indent="-30480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Nunito Light"/>
                <a:buChar char="■"/>
                <a:defRPr sz="1200" b="0" i="0" u="none" strike="noStrike" cap="none">
                  <a:solidFill>
                    <a:schemeClr val="dk1"/>
                  </a:solidFill>
                  <a:latin typeface="Figtree"/>
                  <a:ea typeface="Figtree"/>
                  <a:cs typeface="Figtree"/>
                  <a:sym typeface="Figtree"/>
                </a:defRPr>
              </a:lvl3pPr>
              <a:lvl4pPr marL="1828800" marR="0" lvl="3" indent="-30480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Nunito Light"/>
                <a:buChar char="●"/>
                <a:defRPr sz="1200" b="0" i="0" u="none" strike="noStrike" cap="none">
                  <a:solidFill>
                    <a:schemeClr val="dk1"/>
                  </a:solidFill>
                  <a:latin typeface="Figtree"/>
                  <a:ea typeface="Figtree"/>
                  <a:cs typeface="Figtree"/>
                  <a:sym typeface="Figtree"/>
                </a:defRPr>
              </a:lvl4pPr>
              <a:lvl5pPr marL="2286000" marR="0" lvl="4" indent="-30480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Nunito Light"/>
                <a:buChar char="○"/>
                <a:defRPr sz="1200" b="0" i="0" u="none" strike="noStrike" cap="none">
                  <a:solidFill>
                    <a:schemeClr val="dk1"/>
                  </a:solidFill>
                  <a:latin typeface="Figtree"/>
                  <a:ea typeface="Figtree"/>
                  <a:cs typeface="Figtree"/>
                  <a:sym typeface="Figtree"/>
                </a:defRPr>
              </a:lvl5pPr>
              <a:lvl6pPr marL="2743200" marR="0" lvl="5" indent="-30480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Nunito Light"/>
                <a:buChar char="■"/>
                <a:defRPr sz="1200" b="0" i="0" u="none" strike="noStrike" cap="none">
                  <a:solidFill>
                    <a:schemeClr val="dk1"/>
                  </a:solidFill>
                  <a:latin typeface="Figtree"/>
                  <a:ea typeface="Figtree"/>
                  <a:cs typeface="Figtree"/>
                  <a:sym typeface="Figtree"/>
                </a:defRPr>
              </a:lvl6pPr>
              <a:lvl7pPr marL="3200400" marR="0" lvl="6" indent="-30480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Nunito Light"/>
                <a:buChar char="●"/>
                <a:defRPr sz="1200" b="0" i="0" u="none" strike="noStrike" cap="none">
                  <a:solidFill>
                    <a:schemeClr val="dk1"/>
                  </a:solidFill>
                  <a:latin typeface="Figtree"/>
                  <a:ea typeface="Figtree"/>
                  <a:cs typeface="Figtree"/>
                  <a:sym typeface="Figtree"/>
                </a:defRPr>
              </a:lvl7pPr>
              <a:lvl8pPr marL="3657600" marR="0" lvl="7" indent="-30480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Nunito Light"/>
                <a:buChar char="○"/>
                <a:defRPr sz="1200" b="0" i="0" u="none" strike="noStrike" cap="none">
                  <a:solidFill>
                    <a:schemeClr val="dk1"/>
                  </a:solidFill>
                  <a:latin typeface="Figtree"/>
                  <a:ea typeface="Figtree"/>
                  <a:cs typeface="Figtree"/>
                  <a:sym typeface="Figtree"/>
                </a:defRPr>
              </a:lvl8pPr>
              <a:lvl9pPr marL="4114800" marR="0" lvl="8" indent="-30480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Nunito Light"/>
                <a:buChar char="■"/>
                <a:defRPr sz="1200" b="0" i="0" u="none" strike="noStrike" cap="none">
                  <a:solidFill>
                    <a:schemeClr val="dk1"/>
                  </a:solidFill>
                  <a:latin typeface="Figtree"/>
                  <a:ea typeface="Figtree"/>
                  <a:cs typeface="Figtree"/>
                  <a:sym typeface="Figtree"/>
                </a:defRPr>
              </a:lvl9pPr>
            </a:lstStyle>
            <a:p>
              <a:r>
                <a:rPr lang="en-US" dirty="0">
                  <a:solidFill>
                    <a:schemeClr val="tx1"/>
                  </a:solidFill>
                </a:rPr>
                <a:t>Central Difference:</a:t>
              </a:r>
              <a:endParaRPr lang="en-ID" dirty="0">
                <a:solidFill>
                  <a:schemeClr val="tx1"/>
                </a:solidFill>
              </a:endParaRPr>
            </a:p>
          </p:txBody>
        </p:sp>
        <p:graphicFrame>
          <p:nvGraphicFramePr>
            <p:cNvPr id="13" name="Object 12">
              <a:extLst>
                <a:ext uri="{FF2B5EF4-FFF2-40B4-BE49-F238E27FC236}">
                  <a16:creationId xmlns:a16="http://schemas.microsoft.com/office/drawing/2014/main" id="{94EEFEEC-8983-E761-8857-65C46C63E9D3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51480557"/>
                </p:ext>
              </p:extLst>
            </p:nvPr>
          </p:nvGraphicFramePr>
          <p:xfrm>
            <a:off x="5270500" y="2103438"/>
            <a:ext cx="863600" cy="4318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7" imgW="863280" imgH="431640" progId="Equation.DSMT4">
                    <p:embed/>
                  </p:oleObj>
                </mc:Choice>
                <mc:Fallback>
                  <p:oleObj name="Equation" r:id="rId7" imgW="863280" imgH="431640" progId="Equation.DSMT4">
                    <p:embed/>
                    <p:pic>
                      <p:nvPicPr>
                        <p:cNvPr id="9" name="Object 8">
                          <a:extLst>
                            <a:ext uri="{FF2B5EF4-FFF2-40B4-BE49-F238E27FC236}">
                              <a16:creationId xmlns:a16="http://schemas.microsoft.com/office/drawing/2014/main" id="{ACC72A8F-04B0-449B-BD8E-C4FFB2546E52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8"/>
                        <a:stretch>
                          <a:fillRect/>
                        </a:stretch>
                      </p:blipFill>
                      <p:spPr>
                        <a:xfrm>
                          <a:off x="5270500" y="2103438"/>
                          <a:ext cx="863600" cy="4318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</p:grpSp>
    </p:spTree>
    <p:extLst>
      <p:ext uri="{BB962C8B-B14F-4D97-AF65-F5344CB8AC3E}">
        <p14:creationId xmlns:p14="http://schemas.microsoft.com/office/powerpoint/2010/main" val="18038463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2E6821-5F11-0C17-57C8-5337B6439B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8E2E0E-F0A7-F73A-AD66-2616007F4D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713" y="58659"/>
            <a:ext cx="8983014" cy="572700"/>
          </a:xfrm>
        </p:spPr>
        <p:txBody>
          <a:bodyPr/>
          <a:lstStyle/>
          <a:p>
            <a:r>
              <a:rPr lang="en-US" sz="2400" dirty="0">
                <a:solidFill>
                  <a:schemeClr val="tx1"/>
                </a:solidFill>
              </a:rPr>
              <a:t>Speed Of The Control Rod Regulating The Kartini Reactor</a:t>
            </a:r>
            <a:endParaRPr lang="en-ID" sz="2400" dirty="0">
              <a:solidFill>
                <a:schemeClr val="tx1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C1BA07-6730-A920-6805-A306D79A96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0" y="920681"/>
            <a:ext cx="4353059" cy="863043"/>
          </a:xfrm>
        </p:spPr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From January 2022 to December 2025, the regulating rod mean speed using Forward diff is 0,738 when the regulating move from bottom to up, and -0,813 otherwise</a:t>
            </a:r>
            <a:endParaRPr lang="en-ID" dirty="0">
              <a:solidFill>
                <a:schemeClr val="tx1"/>
              </a:solidFill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9B3AEE51-7A5B-9919-5AF9-F14A7D93C6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8435" y="1804653"/>
            <a:ext cx="8367130" cy="31102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22057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5CF93926-E54C-7C63-AA79-E485B0B2D7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713" y="58659"/>
            <a:ext cx="8983014" cy="572700"/>
          </a:xfrm>
        </p:spPr>
        <p:txBody>
          <a:bodyPr/>
          <a:lstStyle/>
          <a:p>
            <a:r>
              <a:rPr lang="en-US" sz="2000" dirty="0"/>
              <a:t>Solve Kinematic Reactor Differential Equations using Explicit Euler Method</a:t>
            </a:r>
            <a:r>
              <a:rPr lang="en-US" sz="2000" dirty="0">
                <a:solidFill>
                  <a:schemeClr val="tx1"/>
                </a:solidFill>
              </a:rPr>
              <a:t> </a:t>
            </a:r>
            <a:endParaRPr lang="en-ID" sz="2000" dirty="0">
              <a:solidFill>
                <a:schemeClr val="tx1"/>
              </a:solidFill>
            </a:endParaRP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20F77764-7E69-FCB4-988A-58B775FA17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0" y="920681"/>
            <a:ext cx="4353059" cy="355669"/>
          </a:xfrm>
        </p:spPr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Variable Inputs:</a:t>
            </a:r>
            <a:endParaRPr lang="en-ID" dirty="0">
              <a:solidFill>
                <a:schemeClr val="tx1"/>
              </a:solidFill>
            </a:endParaRPr>
          </a:p>
        </p:txBody>
      </p:sp>
      <p:graphicFrame>
        <p:nvGraphicFramePr>
          <p:cNvPr id="6" name="Object 5">
            <a:extLst>
              <a:ext uri="{FF2B5EF4-FFF2-40B4-BE49-F238E27FC236}">
                <a16:creationId xmlns:a16="http://schemas.microsoft.com/office/drawing/2014/main" id="{D92E637F-0CD7-AB80-B663-83F0983C37A6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105590765"/>
              </p:ext>
            </p:extLst>
          </p:nvPr>
        </p:nvGraphicFramePr>
        <p:xfrm>
          <a:off x="177800" y="1276350"/>
          <a:ext cx="723900" cy="1130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723600" imgH="1130040" progId="Equation.DSMT4">
                  <p:embed/>
                </p:oleObj>
              </mc:Choice>
              <mc:Fallback>
                <p:oleObj name="Equation" r:id="rId2" imgW="723600" imgH="113004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177800" y="1276350"/>
                        <a:ext cx="723900" cy="1130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8" name="Picture 7">
            <a:extLst>
              <a:ext uri="{FF2B5EF4-FFF2-40B4-BE49-F238E27FC236}">
                <a16:creationId xmlns:a16="http://schemas.microsoft.com/office/drawing/2014/main" id="{369D50C0-6D39-9DF8-4CC6-A2DDF4E751B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3075"/>
          <a:stretch>
            <a:fillRect/>
          </a:stretch>
        </p:blipFill>
        <p:spPr>
          <a:xfrm>
            <a:off x="1456291" y="1276350"/>
            <a:ext cx="3545969" cy="1241112"/>
          </a:xfrm>
          <a:prstGeom prst="rect">
            <a:avLst/>
          </a:prstGeom>
        </p:spPr>
      </p:pic>
      <p:graphicFrame>
        <p:nvGraphicFramePr>
          <p:cNvPr id="9" name="Object 8">
            <a:extLst>
              <a:ext uri="{FF2B5EF4-FFF2-40B4-BE49-F238E27FC236}">
                <a16:creationId xmlns:a16="http://schemas.microsoft.com/office/drawing/2014/main" id="{276FE4E9-9A30-4169-875C-5B3FA5EDE60F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702832743"/>
              </p:ext>
            </p:extLst>
          </p:nvPr>
        </p:nvGraphicFramePr>
        <p:xfrm>
          <a:off x="646113" y="3198813"/>
          <a:ext cx="1409700" cy="431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1409400" imgH="431640" progId="Equation.DSMT4">
                  <p:embed/>
                </p:oleObj>
              </mc:Choice>
              <mc:Fallback>
                <p:oleObj name="Equation" r:id="rId5" imgW="1409400" imgH="43164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646113" y="3198813"/>
                        <a:ext cx="1409700" cy="4318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E23E29E3-E80F-B0F6-5A9B-9E92E65E8C18}"/>
              </a:ext>
            </a:extLst>
          </p:cNvPr>
          <p:cNvSpPr txBox="1">
            <a:spLocks/>
          </p:cNvSpPr>
          <p:nvPr/>
        </p:nvSpPr>
        <p:spPr>
          <a:xfrm>
            <a:off x="-20112" y="2591617"/>
            <a:ext cx="4353059" cy="3556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Char char="●"/>
              <a:defRPr sz="1200" b="0" i="0" u="none" strike="noStrike" cap="none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1pPr>
            <a:lvl2pPr marL="914400" marR="0" lvl="1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Char char="○"/>
              <a:defRPr sz="1200" b="0" i="0" u="none" strike="noStrike" cap="none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2pPr>
            <a:lvl3pPr marL="1371600" marR="0" lvl="2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Char char="■"/>
              <a:defRPr sz="1200" b="0" i="0" u="none" strike="noStrike" cap="none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3pPr>
            <a:lvl4pPr marL="1828800" marR="0" lvl="3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Char char="●"/>
              <a:defRPr sz="1200" b="0" i="0" u="none" strike="noStrike" cap="none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4pPr>
            <a:lvl5pPr marL="2286000" marR="0" lvl="4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Char char="○"/>
              <a:defRPr sz="1200" b="0" i="0" u="none" strike="noStrike" cap="none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5pPr>
            <a:lvl6pPr marL="2743200" marR="0" lvl="5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Char char="■"/>
              <a:defRPr sz="1200" b="0" i="0" u="none" strike="noStrike" cap="none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6pPr>
            <a:lvl7pPr marL="3200400" marR="0" lvl="6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Char char="●"/>
              <a:defRPr sz="1200" b="0" i="0" u="none" strike="noStrike" cap="none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7pPr>
            <a:lvl8pPr marL="3657600" marR="0" lvl="7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Char char="○"/>
              <a:defRPr sz="1200" b="0" i="0" u="none" strike="noStrike" cap="none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8pPr>
            <a:lvl9pPr marL="4114800" marR="0" lvl="8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Char char="■"/>
              <a:defRPr sz="1200" b="0" i="0" u="none" strike="noStrike" cap="none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9pPr>
          </a:lstStyle>
          <a:p>
            <a:r>
              <a:rPr lang="en-US" dirty="0">
                <a:solidFill>
                  <a:schemeClr val="tx1"/>
                </a:solidFill>
              </a:rPr>
              <a:t>The equation approach used:</a:t>
            </a:r>
            <a:endParaRPr lang="en-ID" dirty="0">
              <a:solidFill>
                <a:schemeClr val="tx1"/>
              </a:solidFill>
            </a:endParaRPr>
          </a:p>
        </p:txBody>
      </p:sp>
      <p:graphicFrame>
        <p:nvGraphicFramePr>
          <p:cNvPr id="11" name="Object 10">
            <a:extLst>
              <a:ext uri="{FF2B5EF4-FFF2-40B4-BE49-F238E27FC236}">
                <a16:creationId xmlns:a16="http://schemas.microsoft.com/office/drawing/2014/main" id="{FB2281A5-90CC-71BF-65FA-1D15B081962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941582107"/>
              </p:ext>
            </p:extLst>
          </p:nvPr>
        </p:nvGraphicFramePr>
        <p:xfrm>
          <a:off x="6038850" y="1134906"/>
          <a:ext cx="1498600" cy="1524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7" imgW="1498320" imgH="1523880" progId="Equation.DSMT4">
                  <p:embed/>
                </p:oleObj>
              </mc:Choice>
              <mc:Fallback>
                <p:oleObj name="Equation" r:id="rId7" imgW="1498320" imgH="152388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6038850" y="1134906"/>
                        <a:ext cx="1498600" cy="1524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8B9A93C3-4237-430C-CA43-41A1AACCAA6A}"/>
              </a:ext>
            </a:extLst>
          </p:cNvPr>
          <p:cNvSpPr txBox="1">
            <a:spLocks/>
          </p:cNvSpPr>
          <p:nvPr/>
        </p:nvSpPr>
        <p:spPr>
          <a:xfrm>
            <a:off x="5467351" y="801385"/>
            <a:ext cx="3149600" cy="3556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Char char="●"/>
              <a:defRPr sz="1200" b="0" i="0" u="none" strike="noStrike" cap="none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1pPr>
            <a:lvl2pPr marL="914400" marR="0" lvl="1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Char char="○"/>
              <a:defRPr sz="1200" b="0" i="0" u="none" strike="noStrike" cap="none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2pPr>
            <a:lvl3pPr marL="1371600" marR="0" lvl="2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Char char="■"/>
              <a:defRPr sz="1200" b="0" i="0" u="none" strike="noStrike" cap="none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3pPr>
            <a:lvl4pPr marL="1828800" marR="0" lvl="3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Char char="●"/>
              <a:defRPr sz="1200" b="0" i="0" u="none" strike="noStrike" cap="none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4pPr>
            <a:lvl5pPr marL="2286000" marR="0" lvl="4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Char char="○"/>
              <a:defRPr sz="1200" b="0" i="0" u="none" strike="noStrike" cap="none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5pPr>
            <a:lvl6pPr marL="2743200" marR="0" lvl="5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Char char="■"/>
              <a:defRPr sz="1200" b="0" i="0" u="none" strike="noStrike" cap="none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6pPr>
            <a:lvl7pPr marL="3200400" marR="0" lvl="6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Char char="●"/>
              <a:defRPr sz="1200" b="0" i="0" u="none" strike="noStrike" cap="none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7pPr>
            <a:lvl8pPr marL="3657600" marR="0" lvl="7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Char char="○"/>
              <a:defRPr sz="1200" b="0" i="0" u="none" strike="noStrike" cap="none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8pPr>
            <a:lvl9pPr marL="4114800" marR="0" lvl="8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Char char="■"/>
              <a:defRPr sz="1200" b="0" i="0" u="none" strike="noStrike" cap="none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9pPr>
          </a:lstStyle>
          <a:p>
            <a:r>
              <a:rPr lang="en-US" dirty="0">
                <a:solidFill>
                  <a:schemeClr val="tx1"/>
                </a:solidFill>
              </a:rPr>
              <a:t>All differential equations:</a:t>
            </a:r>
            <a:endParaRPr lang="en-ID" dirty="0">
              <a:solidFill>
                <a:schemeClr val="tx1"/>
              </a:solidFill>
            </a:endParaRPr>
          </a:p>
        </p:txBody>
      </p:sp>
      <p:graphicFrame>
        <p:nvGraphicFramePr>
          <p:cNvPr id="13" name="Object 12">
            <a:extLst>
              <a:ext uri="{FF2B5EF4-FFF2-40B4-BE49-F238E27FC236}">
                <a16:creationId xmlns:a16="http://schemas.microsoft.com/office/drawing/2014/main" id="{ECCD5CA5-C871-BE68-859F-6BE6316121C7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902485587"/>
              </p:ext>
            </p:extLst>
          </p:nvPr>
        </p:nvGraphicFramePr>
        <p:xfrm>
          <a:off x="5721351" y="3021391"/>
          <a:ext cx="1320800" cy="711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9" imgW="1320480" imgH="711000" progId="Equation.DSMT4">
                  <p:embed/>
                </p:oleObj>
              </mc:Choice>
              <mc:Fallback>
                <p:oleObj name="Equation" r:id="rId9" imgW="1320480" imgH="71100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5721351" y="3021391"/>
                        <a:ext cx="1320800" cy="711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3AE07962-A6B9-2FD1-33A9-42315E656C63}"/>
              </a:ext>
            </a:extLst>
          </p:cNvPr>
          <p:cNvSpPr txBox="1">
            <a:spLocks/>
          </p:cNvSpPr>
          <p:nvPr/>
        </p:nvSpPr>
        <p:spPr>
          <a:xfrm>
            <a:off x="5131008" y="2660773"/>
            <a:ext cx="4353059" cy="3556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Char char="●"/>
              <a:defRPr sz="1200" b="0" i="0" u="none" strike="noStrike" cap="none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1pPr>
            <a:lvl2pPr marL="914400" marR="0" lvl="1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Char char="○"/>
              <a:defRPr sz="1200" b="0" i="0" u="none" strike="noStrike" cap="none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2pPr>
            <a:lvl3pPr marL="1371600" marR="0" lvl="2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Char char="■"/>
              <a:defRPr sz="1200" b="0" i="0" u="none" strike="noStrike" cap="none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3pPr>
            <a:lvl4pPr marL="1828800" marR="0" lvl="3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Char char="●"/>
              <a:defRPr sz="1200" b="0" i="0" u="none" strike="noStrike" cap="none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4pPr>
            <a:lvl5pPr marL="2286000" marR="0" lvl="4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Char char="○"/>
              <a:defRPr sz="1200" b="0" i="0" u="none" strike="noStrike" cap="none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5pPr>
            <a:lvl6pPr marL="2743200" marR="0" lvl="5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Char char="■"/>
              <a:defRPr sz="1200" b="0" i="0" u="none" strike="noStrike" cap="none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6pPr>
            <a:lvl7pPr marL="3200400" marR="0" lvl="6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Char char="●"/>
              <a:defRPr sz="1200" b="0" i="0" u="none" strike="noStrike" cap="none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7pPr>
            <a:lvl8pPr marL="3657600" marR="0" lvl="7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Char char="○"/>
              <a:defRPr sz="1200" b="0" i="0" u="none" strike="noStrike" cap="none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8pPr>
            <a:lvl9pPr marL="4114800" marR="0" lvl="8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Char char="■"/>
              <a:defRPr sz="1200" b="0" i="0" u="none" strike="noStrike" cap="none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9pPr>
          </a:lstStyle>
          <a:p>
            <a:r>
              <a:rPr lang="en-US" dirty="0">
                <a:solidFill>
                  <a:schemeClr val="tx1"/>
                </a:solidFill>
              </a:rPr>
              <a:t>The equation Explicit Euler:</a:t>
            </a:r>
            <a:endParaRPr lang="en-ID" dirty="0">
              <a:solidFill>
                <a:schemeClr val="tx1"/>
              </a:solidFill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0F3E7796-F836-06E4-CCA3-A1D05C264D1C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637835" y="3804995"/>
            <a:ext cx="2829516" cy="5675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46887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687144-3386-E094-84A4-D5D9A51512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7D0548FB-0829-8C1D-56C7-DCAE343547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713" y="58659"/>
            <a:ext cx="8983014" cy="572700"/>
          </a:xfrm>
        </p:spPr>
        <p:txBody>
          <a:bodyPr/>
          <a:lstStyle/>
          <a:p>
            <a:r>
              <a:rPr lang="en-US" sz="2000" dirty="0"/>
              <a:t>Solve Kinematic Reactor Differential Equations using Explicit Euler Method</a:t>
            </a:r>
            <a:r>
              <a:rPr lang="en-US" sz="2000" dirty="0">
                <a:solidFill>
                  <a:schemeClr val="tx1"/>
                </a:solidFill>
              </a:rPr>
              <a:t> </a:t>
            </a:r>
            <a:endParaRPr lang="en-ID" sz="2000" dirty="0">
              <a:solidFill>
                <a:schemeClr val="tx1"/>
              </a:solidFill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55100FCF-A82A-97B7-C083-0F8D90FD48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124" y="1223492"/>
            <a:ext cx="3844229" cy="3068599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B4FD2853-36B6-7CFF-FE87-B180608B1B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03004" y="1223492"/>
            <a:ext cx="3844228" cy="3068598"/>
          </a:xfrm>
          <a:prstGeom prst="rect">
            <a:avLst/>
          </a:prstGeom>
        </p:spPr>
      </p:pic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E1D46B42-6925-AC8D-1F8E-22239CDD9D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713" y="851409"/>
            <a:ext cx="4353059" cy="355669"/>
          </a:xfrm>
        </p:spPr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Position = 80 %</a:t>
            </a:r>
            <a:endParaRPr lang="en-ID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805267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5264F405-3FE0-9B7B-A6CA-1C2E1532BD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713" y="58659"/>
            <a:ext cx="8983014" cy="572700"/>
          </a:xfrm>
        </p:spPr>
        <p:txBody>
          <a:bodyPr/>
          <a:lstStyle/>
          <a:p>
            <a:r>
              <a:rPr lang="en-US" sz="2000" dirty="0"/>
              <a:t>Solve Kinematic Reactor Differential Equations using Explicit Euler Method with Temperature Feedback</a:t>
            </a:r>
            <a:r>
              <a:rPr lang="en-US" sz="2000" dirty="0">
                <a:solidFill>
                  <a:schemeClr val="tx1"/>
                </a:solidFill>
              </a:rPr>
              <a:t> </a:t>
            </a:r>
            <a:endParaRPr lang="en-ID" sz="2000" dirty="0">
              <a:solidFill>
                <a:schemeClr val="tx1"/>
              </a:solidFill>
            </a:endParaRP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B6312EAE-FFDC-DCF5-9D67-D68F043129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0" y="920681"/>
            <a:ext cx="4353059" cy="355669"/>
          </a:xfrm>
        </p:spPr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Variable Inputs:</a:t>
            </a:r>
            <a:endParaRPr lang="en-ID" dirty="0">
              <a:solidFill>
                <a:schemeClr val="tx1"/>
              </a:solidFill>
            </a:endParaRPr>
          </a:p>
        </p:txBody>
      </p:sp>
      <p:graphicFrame>
        <p:nvGraphicFramePr>
          <p:cNvPr id="7" name="Object 6">
            <a:extLst>
              <a:ext uri="{FF2B5EF4-FFF2-40B4-BE49-F238E27FC236}">
                <a16:creationId xmlns:a16="http://schemas.microsoft.com/office/drawing/2014/main" id="{B4B7CECA-B070-EE6F-85CF-2220A3C4FC82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847132804"/>
              </p:ext>
            </p:extLst>
          </p:nvPr>
        </p:nvGraphicFramePr>
        <p:xfrm>
          <a:off x="177800" y="1276350"/>
          <a:ext cx="723900" cy="1130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723600" imgH="1130040" progId="Equation.DSMT4">
                  <p:embed/>
                </p:oleObj>
              </mc:Choice>
              <mc:Fallback>
                <p:oleObj name="Equation" r:id="rId3" imgW="723600" imgH="1130040" progId="Equation.DSMT4">
                  <p:embed/>
                  <p:pic>
                    <p:nvPicPr>
                      <p:cNvPr id="6" name="Object 5">
                        <a:extLst>
                          <a:ext uri="{FF2B5EF4-FFF2-40B4-BE49-F238E27FC236}">
                            <a16:creationId xmlns:a16="http://schemas.microsoft.com/office/drawing/2014/main" id="{D92E637F-0CD7-AB80-B663-83F0983C37A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77800" y="1276350"/>
                        <a:ext cx="723900" cy="1130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8" name="Picture 7">
            <a:extLst>
              <a:ext uri="{FF2B5EF4-FFF2-40B4-BE49-F238E27FC236}">
                <a16:creationId xmlns:a16="http://schemas.microsoft.com/office/drawing/2014/main" id="{7D1EAC07-D570-24D9-0800-D3CE96C52BB7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3075"/>
          <a:stretch>
            <a:fillRect/>
          </a:stretch>
        </p:blipFill>
        <p:spPr>
          <a:xfrm>
            <a:off x="1456291" y="1276350"/>
            <a:ext cx="3545969" cy="1241112"/>
          </a:xfrm>
          <a:prstGeom prst="rect">
            <a:avLst/>
          </a:prstGeom>
        </p:spPr>
      </p:pic>
      <p:graphicFrame>
        <p:nvGraphicFramePr>
          <p:cNvPr id="9" name="Object 8">
            <a:extLst>
              <a:ext uri="{FF2B5EF4-FFF2-40B4-BE49-F238E27FC236}">
                <a16:creationId xmlns:a16="http://schemas.microsoft.com/office/drawing/2014/main" id="{BD8D6A1C-2751-1EC7-7D57-B4857141E34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327673142"/>
              </p:ext>
            </p:extLst>
          </p:nvPr>
        </p:nvGraphicFramePr>
        <p:xfrm>
          <a:off x="646113" y="3198813"/>
          <a:ext cx="1409700" cy="431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409400" imgH="431640" progId="Equation.DSMT4">
                  <p:embed/>
                </p:oleObj>
              </mc:Choice>
              <mc:Fallback>
                <p:oleObj name="Equation" r:id="rId6" imgW="1409400" imgH="431640" progId="Equation.DSMT4">
                  <p:embed/>
                  <p:pic>
                    <p:nvPicPr>
                      <p:cNvPr id="9" name="Object 8">
                        <a:extLst>
                          <a:ext uri="{FF2B5EF4-FFF2-40B4-BE49-F238E27FC236}">
                            <a16:creationId xmlns:a16="http://schemas.microsoft.com/office/drawing/2014/main" id="{276FE4E9-9A30-4169-875C-5B3FA5EDE60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646113" y="3198813"/>
                        <a:ext cx="1409700" cy="4318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A9DFD5BF-9069-2C7D-DB37-DC8A8F19545F}"/>
              </a:ext>
            </a:extLst>
          </p:cNvPr>
          <p:cNvSpPr txBox="1">
            <a:spLocks/>
          </p:cNvSpPr>
          <p:nvPr/>
        </p:nvSpPr>
        <p:spPr>
          <a:xfrm>
            <a:off x="-20112" y="2591617"/>
            <a:ext cx="4353059" cy="3556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Char char="●"/>
              <a:defRPr sz="1200" b="0" i="0" u="none" strike="noStrike" cap="none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1pPr>
            <a:lvl2pPr marL="914400" marR="0" lvl="1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Char char="○"/>
              <a:defRPr sz="1200" b="0" i="0" u="none" strike="noStrike" cap="none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2pPr>
            <a:lvl3pPr marL="1371600" marR="0" lvl="2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Char char="■"/>
              <a:defRPr sz="1200" b="0" i="0" u="none" strike="noStrike" cap="none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3pPr>
            <a:lvl4pPr marL="1828800" marR="0" lvl="3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Char char="●"/>
              <a:defRPr sz="1200" b="0" i="0" u="none" strike="noStrike" cap="none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4pPr>
            <a:lvl5pPr marL="2286000" marR="0" lvl="4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Char char="○"/>
              <a:defRPr sz="1200" b="0" i="0" u="none" strike="noStrike" cap="none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5pPr>
            <a:lvl6pPr marL="2743200" marR="0" lvl="5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Char char="■"/>
              <a:defRPr sz="1200" b="0" i="0" u="none" strike="noStrike" cap="none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6pPr>
            <a:lvl7pPr marL="3200400" marR="0" lvl="6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Char char="●"/>
              <a:defRPr sz="1200" b="0" i="0" u="none" strike="noStrike" cap="none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7pPr>
            <a:lvl8pPr marL="3657600" marR="0" lvl="7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Char char="○"/>
              <a:defRPr sz="1200" b="0" i="0" u="none" strike="noStrike" cap="none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8pPr>
            <a:lvl9pPr marL="4114800" marR="0" lvl="8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Char char="■"/>
              <a:defRPr sz="1200" b="0" i="0" u="none" strike="noStrike" cap="none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9pPr>
          </a:lstStyle>
          <a:p>
            <a:r>
              <a:rPr lang="en-US" dirty="0">
                <a:solidFill>
                  <a:schemeClr val="tx1"/>
                </a:solidFill>
              </a:rPr>
              <a:t>The equation approach used:</a:t>
            </a:r>
            <a:endParaRPr lang="en-ID" dirty="0">
              <a:solidFill>
                <a:schemeClr val="tx1"/>
              </a:solidFill>
            </a:endParaRPr>
          </a:p>
        </p:txBody>
      </p:sp>
      <p:graphicFrame>
        <p:nvGraphicFramePr>
          <p:cNvPr id="11" name="Object 10">
            <a:extLst>
              <a:ext uri="{FF2B5EF4-FFF2-40B4-BE49-F238E27FC236}">
                <a16:creationId xmlns:a16="http://schemas.microsoft.com/office/drawing/2014/main" id="{A7D250A5-B6F5-3F88-7579-7535CFB27C87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234256460"/>
              </p:ext>
            </p:extLst>
          </p:nvPr>
        </p:nvGraphicFramePr>
        <p:xfrm>
          <a:off x="6038850" y="1134906"/>
          <a:ext cx="1498600" cy="1524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1498320" imgH="1523880" progId="Equation.DSMT4">
                  <p:embed/>
                </p:oleObj>
              </mc:Choice>
              <mc:Fallback>
                <p:oleObj name="Equation" r:id="rId8" imgW="1498320" imgH="1523880" progId="Equation.DSMT4">
                  <p:embed/>
                  <p:pic>
                    <p:nvPicPr>
                      <p:cNvPr id="11" name="Object 10">
                        <a:extLst>
                          <a:ext uri="{FF2B5EF4-FFF2-40B4-BE49-F238E27FC236}">
                            <a16:creationId xmlns:a16="http://schemas.microsoft.com/office/drawing/2014/main" id="{FB2281A5-90CC-71BF-65FA-1D15B081962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6038850" y="1134906"/>
                        <a:ext cx="1498600" cy="1524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BA13E7D4-4BD0-71FC-6734-1A50B552B752}"/>
              </a:ext>
            </a:extLst>
          </p:cNvPr>
          <p:cNvSpPr txBox="1">
            <a:spLocks/>
          </p:cNvSpPr>
          <p:nvPr/>
        </p:nvSpPr>
        <p:spPr>
          <a:xfrm>
            <a:off x="5467351" y="801385"/>
            <a:ext cx="3149600" cy="3556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Char char="●"/>
              <a:defRPr sz="1200" b="0" i="0" u="none" strike="noStrike" cap="none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1pPr>
            <a:lvl2pPr marL="914400" marR="0" lvl="1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Char char="○"/>
              <a:defRPr sz="1200" b="0" i="0" u="none" strike="noStrike" cap="none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2pPr>
            <a:lvl3pPr marL="1371600" marR="0" lvl="2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Char char="■"/>
              <a:defRPr sz="1200" b="0" i="0" u="none" strike="noStrike" cap="none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3pPr>
            <a:lvl4pPr marL="1828800" marR="0" lvl="3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Char char="●"/>
              <a:defRPr sz="1200" b="0" i="0" u="none" strike="noStrike" cap="none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4pPr>
            <a:lvl5pPr marL="2286000" marR="0" lvl="4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Char char="○"/>
              <a:defRPr sz="1200" b="0" i="0" u="none" strike="noStrike" cap="none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5pPr>
            <a:lvl6pPr marL="2743200" marR="0" lvl="5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Char char="■"/>
              <a:defRPr sz="1200" b="0" i="0" u="none" strike="noStrike" cap="none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6pPr>
            <a:lvl7pPr marL="3200400" marR="0" lvl="6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Char char="●"/>
              <a:defRPr sz="1200" b="0" i="0" u="none" strike="noStrike" cap="none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7pPr>
            <a:lvl8pPr marL="3657600" marR="0" lvl="7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Char char="○"/>
              <a:defRPr sz="1200" b="0" i="0" u="none" strike="noStrike" cap="none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8pPr>
            <a:lvl9pPr marL="4114800" marR="0" lvl="8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Char char="■"/>
              <a:defRPr sz="1200" b="0" i="0" u="none" strike="noStrike" cap="none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9pPr>
          </a:lstStyle>
          <a:p>
            <a:r>
              <a:rPr lang="en-US" dirty="0">
                <a:solidFill>
                  <a:schemeClr val="tx1"/>
                </a:solidFill>
              </a:rPr>
              <a:t>All differential equations:</a:t>
            </a:r>
            <a:endParaRPr lang="en-ID" dirty="0">
              <a:solidFill>
                <a:schemeClr val="tx1"/>
              </a:solidFill>
            </a:endParaRPr>
          </a:p>
        </p:txBody>
      </p:sp>
      <p:graphicFrame>
        <p:nvGraphicFramePr>
          <p:cNvPr id="14" name="Object 13">
            <a:extLst>
              <a:ext uri="{FF2B5EF4-FFF2-40B4-BE49-F238E27FC236}">
                <a16:creationId xmlns:a16="http://schemas.microsoft.com/office/drawing/2014/main" id="{07897DC7-BF68-B593-145E-33775018E8F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23976769"/>
              </p:ext>
            </p:extLst>
          </p:nvPr>
        </p:nvGraphicFramePr>
        <p:xfrm>
          <a:off x="4087860" y="3198813"/>
          <a:ext cx="1828800" cy="2286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1828800" imgH="228600" progId="Equation.DSMT4">
                  <p:embed/>
                </p:oleObj>
              </mc:Choice>
              <mc:Fallback>
                <p:oleObj name="Equation" r:id="rId10" imgW="1828800" imgH="22860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4087860" y="3198813"/>
                        <a:ext cx="1828800" cy="2286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3F892A3D-C4F2-45D1-C0CC-674EBFA73506}"/>
              </a:ext>
            </a:extLst>
          </p:cNvPr>
          <p:cNvSpPr txBox="1">
            <a:spLocks/>
          </p:cNvSpPr>
          <p:nvPr/>
        </p:nvSpPr>
        <p:spPr>
          <a:xfrm>
            <a:off x="3594816" y="2873131"/>
            <a:ext cx="4353059" cy="3556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Char char="●"/>
              <a:defRPr sz="1200" b="0" i="0" u="none" strike="noStrike" cap="none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1pPr>
            <a:lvl2pPr marL="914400" marR="0" lvl="1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Char char="○"/>
              <a:defRPr sz="1200" b="0" i="0" u="none" strike="noStrike" cap="none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2pPr>
            <a:lvl3pPr marL="1371600" marR="0" lvl="2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Char char="■"/>
              <a:defRPr sz="1200" b="0" i="0" u="none" strike="noStrike" cap="none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3pPr>
            <a:lvl4pPr marL="1828800" marR="0" lvl="3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Char char="●"/>
              <a:defRPr sz="1200" b="0" i="0" u="none" strike="noStrike" cap="none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4pPr>
            <a:lvl5pPr marL="2286000" marR="0" lvl="4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Char char="○"/>
              <a:defRPr sz="1200" b="0" i="0" u="none" strike="noStrike" cap="none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5pPr>
            <a:lvl6pPr marL="2743200" marR="0" lvl="5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Char char="■"/>
              <a:defRPr sz="1200" b="0" i="0" u="none" strike="noStrike" cap="none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6pPr>
            <a:lvl7pPr marL="3200400" marR="0" lvl="6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Char char="●"/>
              <a:defRPr sz="1200" b="0" i="0" u="none" strike="noStrike" cap="none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7pPr>
            <a:lvl8pPr marL="3657600" marR="0" lvl="7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Char char="○"/>
              <a:defRPr sz="1200" b="0" i="0" u="none" strike="noStrike" cap="none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8pPr>
            <a:lvl9pPr marL="4114800" marR="0" lvl="8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Char char="■"/>
              <a:defRPr sz="1200" b="0" i="0" u="none" strike="noStrike" cap="none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9pPr>
          </a:lstStyle>
          <a:p>
            <a:r>
              <a:rPr lang="en-US" dirty="0">
                <a:solidFill>
                  <a:schemeClr val="tx1"/>
                </a:solidFill>
              </a:rPr>
              <a:t>Reactivity total:</a:t>
            </a:r>
            <a:endParaRPr lang="en-ID" dirty="0">
              <a:solidFill>
                <a:schemeClr val="tx1"/>
              </a:solidFill>
            </a:endParaRPr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454DF225-0D46-9617-83E9-6E89E8DED5BD}"/>
              </a:ext>
            </a:extLst>
          </p:cNvPr>
          <p:cNvSpPr txBox="1">
            <a:spLocks/>
          </p:cNvSpPr>
          <p:nvPr/>
        </p:nvSpPr>
        <p:spPr>
          <a:xfrm>
            <a:off x="3594815" y="3467833"/>
            <a:ext cx="4353059" cy="3556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Char char="●"/>
              <a:defRPr sz="1200" b="0" i="0" u="none" strike="noStrike" cap="none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1pPr>
            <a:lvl2pPr marL="914400" marR="0" lvl="1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Char char="○"/>
              <a:defRPr sz="1200" b="0" i="0" u="none" strike="noStrike" cap="none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2pPr>
            <a:lvl3pPr marL="1371600" marR="0" lvl="2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Char char="■"/>
              <a:defRPr sz="1200" b="0" i="0" u="none" strike="noStrike" cap="none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3pPr>
            <a:lvl4pPr marL="1828800" marR="0" lvl="3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Char char="●"/>
              <a:defRPr sz="1200" b="0" i="0" u="none" strike="noStrike" cap="none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4pPr>
            <a:lvl5pPr marL="2286000" marR="0" lvl="4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Char char="○"/>
              <a:defRPr sz="1200" b="0" i="0" u="none" strike="noStrike" cap="none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5pPr>
            <a:lvl6pPr marL="2743200" marR="0" lvl="5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Char char="■"/>
              <a:defRPr sz="1200" b="0" i="0" u="none" strike="noStrike" cap="none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6pPr>
            <a:lvl7pPr marL="3200400" marR="0" lvl="6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Char char="●"/>
              <a:defRPr sz="1200" b="0" i="0" u="none" strike="noStrike" cap="none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7pPr>
            <a:lvl8pPr marL="3657600" marR="0" lvl="7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Char char="○"/>
              <a:defRPr sz="1200" b="0" i="0" u="none" strike="noStrike" cap="none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8pPr>
            <a:lvl9pPr marL="4114800" marR="0" lvl="8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Char char="■"/>
              <a:defRPr sz="1200" b="0" i="0" u="none" strike="noStrike" cap="none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9pPr>
          </a:lstStyle>
          <a:p>
            <a:r>
              <a:rPr lang="en-US" dirty="0">
                <a:solidFill>
                  <a:schemeClr val="tx1"/>
                </a:solidFill>
              </a:rPr>
              <a:t>Temperature Ordinary Differential Equation :</a:t>
            </a:r>
            <a:endParaRPr lang="en-ID" dirty="0">
              <a:solidFill>
                <a:schemeClr val="tx1"/>
              </a:solidFill>
            </a:endParaRPr>
          </a:p>
        </p:txBody>
      </p:sp>
      <p:graphicFrame>
        <p:nvGraphicFramePr>
          <p:cNvPr id="17" name="Object 16">
            <a:extLst>
              <a:ext uri="{FF2B5EF4-FFF2-40B4-BE49-F238E27FC236}">
                <a16:creationId xmlns:a16="http://schemas.microsoft.com/office/drawing/2014/main" id="{A6AC96D8-5EC8-3CCF-27BD-934BB635C9FA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132387193"/>
              </p:ext>
            </p:extLst>
          </p:nvPr>
        </p:nvGraphicFramePr>
        <p:xfrm>
          <a:off x="4087860" y="3808132"/>
          <a:ext cx="1409700" cy="3937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1409400" imgH="393480" progId="Equation.DSMT4">
                  <p:embed/>
                </p:oleObj>
              </mc:Choice>
              <mc:Fallback>
                <p:oleObj name="Equation" r:id="rId12" imgW="1409400" imgH="39348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13"/>
                      <a:stretch>
                        <a:fillRect/>
                      </a:stretch>
                    </p:blipFill>
                    <p:spPr>
                      <a:xfrm>
                        <a:off x="4087860" y="3808132"/>
                        <a:ext cx="1409700" cy="3937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" name="Object 17">
            <a:extLst>
              <a:ext uri="{FF2B5EF4-FFF2-40B4-BE49-F238E27FC236}">
                <a16:creationId xmlns:a16="http://schemas.microsoft.com/office/drawing/2014/main" id="{AE84A144-4569-6D1C-A7DD-0BB64EC9460A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767320712"/>
              </p:ext>
            </p:extLst>
          </p:nvPr>
        </p:nvGraphicFramePr>
        <p:xfrm>
          <a:off x="6515100" y="3224213"/>
          <a:ext cx="546100" cy="203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545760" imgH="203040" progId="Equation.DSMT4">
                  <p:embed/>
                </p:oleObj>
              </mc:Choice>
              <mc:Fallback>
                <p:oleObj name="Equation" r:id="rId14" imgW="545760" imgH="20304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15"/>
                      <a:stretch>
                        <a:fillRect/>
                      </a:stretch>
                    </p:blipFill>
                    <p:spPr>
                      <a:xfrm>
                        <a:off x="6515100" y="3224213"/>
                        <a:ext cx="546100" cy="203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9" name="Object 18">
            <a:extLst>
              <a:ext uri="{FF2B5EF4-FFF2-40B4-BE49-F238E27FC236}">
                <a16:creationId xmlns:a16="http://schemas.microsoft.com/office/drawing/2014/main" id="{35FCEBA0-F421-31BA-99CF-7FFFF980CD13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614265225"/>
              </p:ext>
            </p:extLst>
          </p:nvPr>
        </p:nvGraphicFramePr>
        <p:xfrm>
          <a:off x="5759450" y="3797300"/>
          <a:ext cx="558800" cy="431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6" imgW="558720" imgH="431640" progId="Equation.DSMT4">
                  <p:embed/>
                </p:oleObj>
              </mc:Choice>
              <mc:Fallback>
                <p:oleObj name="Equation" r:id="rId16" imgW="558720" imgH="43164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17"/>
                      <a:stretch>
                        <a:fillRect/>
                      </a:stretch>
                    </p:blipFill>
                    <p:spPr>
                      <a:xfrm>
                        <a:off x="5759450" y="3797300"/>
                        <a:ext cx="558800" cy="4318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44873438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A649B8D7-A963-0325-3912-069C402E90CA}"/>
              </a:ext>
            </a:extLst>
          </p:cNvPr>
          <p:cNvSpPr txBox="1">
            <a:spLocks/>
          </p:cNvSpPr>
          <p:nvPr/>
        </p:nvSpPr>
        <p:spPr>
          <a:xfrm>
            <a:off x="83713" y="58659"/>
            <a:ext cx="8983014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Geologica"/>
              <a:buNone/>
              <a:defRPr sz="3000" b="1" i="0" u="none" strike="noStrike" cap="none">
                <a:solidFill>
                  <a:schemeClr val="dk1"/>
                </a:solidFill>
                <a:latin typeface="Geologica"/>
                <a:ea typeface="Geologica"/>
                <a:cs typeface="Geologica"/>
                <a:sym typeface="Geologica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Geologica"/>
              <a:buNone/>
              <a:defRPr sz="3000" b="1" i="0" u="none" strike="noStrike" cap="none">
                <a:solidFill>
                  <a:schemeClr val="dk1"/>
                </a:solidFill>
                <a:latin typeface="Geologica"/>
                <a:ea typeface="Geologica"/>
                <a:cs typeface="Geologica"/>
                <a:sym typeface="Geologica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Geologica"/>
              <a:buNone/>
              <a:defRPr sz="3000" b="1" i="0" u="none" strike="noStrike" cap="none">
                <a:solidFill>
                  <a:schemeClr val="dk1"/>
                </a:solidFill>
                <a:latin typeface="Geologica"/>
                <a:ea typeface="Geologica"/>
                <a:cs typeface="Geologica"/>
                <a:sym typeface="Geologica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Geologica"/>
              <a:buNone/>
              <a:defRPr sz="3000" b="1" i="0" u="none" strike="noStrike" cap="none">
                <a:solidFill>
                  <a:schemeClr val="dk1"/>
                </a:solidFill>
                <a:latin typeface="Geologica"/>
                <a:ea typeface="Geologica"/>
                <a:cs typeface="Geologica"/>
                <a:sym typeface="Geologica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Geologica"/>
              <a:buNone/>
              <a:defRPr sz="3000" b="1" i="0" u="none" strike="noStrike" cap="none">
                <a:solidFill>
                  <a:schemeClr val="dk1"/>
                </a:solidFill>
                <a:latin typeface="Geologica"/>
                <a:ea typeface="Geologica"/>
                <a:cs typeface="Geologica"/>
                <a:sym typeface="Geologica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Geologica"/>
              <a:buNone/>
              <a:defRPr sz="3000" b="1" i="0" u="none" strike="noStrike" cap="none">
                <a:solidFill>
                  <a:schemeClr val="dk1"/>
                </a:solidFill>
                <a:latin typeface="Geologica"/>
                <a:ea typeface="Geologica"/>
                <a:cs typeface="Geologica"/>
                <a:sym typeface="Geologica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Geologica"/>
              <a:buNone/>
              <a:defRPr sz="3000" b="1" i="0" u="none" strike="noStrike" cap="none">
                <a:solidFill>
                  <a:schemeClr val="dk1"/>
                </a:solidFill>
                <a:latin typeface="Geologica"/>
                <a:ea typeface="Geologica"/>
                <a:cs typeface="Geologica"/>
                <a:sym typeface="Geologica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Geologica"/>
              <a:buNone/>
              <a:defRPr sz="3000" b="1" i="0" u="none" strike="noStrike" cap="none">
                <a:solidFill>
                  <a:schemeClr val="dk1"/>
                </a:solidFill>
                <a:latin typeface="Geologica"/>
                <a:ea typeface="Geologica"/>
                <a:cs typeface="Geologica"/>
                <a:sym typeface="Geologica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Geologica"/>
              <a:buNone/>
              <a:defRPr sz="3000" b="1" i="0" u="none" strike="noStrike" cap="none">
                <a:solidFill>
                  <a:schemeClr val="dk1"/>
                </a:solidFill>
                <a:latin typeface="Geologica"/>
                <a:ea typeface="Geologica"/>
                <a:cs typeface="Geologica"/>
                <a:sym typeface="Geologica"/>
              </a:defRPr>
            </a:lvl9pPr>
          </a:lstStyle>
          <a:p>
            <a:r>
              <a:rPr lang="en-US" sz="2000"/>
              <a:t>Solve Kinematic Reactor Differential Equations using Explicit Euler Method with Temperature Feedback</a:t>
            </a:r>
            <a:r>
              <a:rPr lang="en-US" sz="2000">
                <a:solidFill>
                  <a:schemeClr val="tx1"/>
                </a:solidFill>
              </a:rPr>
              <a:t> </a:t>
            </a:r>
            <a:endParaRPr lang="en-ID" sz="2000" dirty="0">
              <a:solidFill>
                <a:schemeClr val="tx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746EADB-FBF1-2FE5-4A12-5046C38022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8083" y="2945007"/>
            <a:ext cx="2568158" cy="2034436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9D036D6C-18FB-2700-3A94-3972FEF330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7415" y="743501"/>
            <a:ext cx="2689495" cy="208194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1076CD6-77C4-5032-DAB9-66F286F7AD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431" y="2897501"/>
            <a:ext cx="2628127" cy="2081942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CF07A32C-F7F5-DE14-301D-A4E5C6EAD33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7431" y="735540"/>
            <a:ext cx="2628127" cy="20978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659924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FC6984CB-3117-D6C2-93F2-8D63B42E1E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713" y="58659"/>
            <a:ext cx="8983014" cy="572700"/>
          </a:xfrm>
        </p:spPr>
        <p:txBody>
          <a:bodyPr/>
          <a:lstStyle/>
          <a:p>
            <a:r>
              <a:rPr lang="en-US" sz="2000" dirty="0"/>
              <a:t>Solve Kinematic Reactor Differential Equations using Implicit Euler Method with Temperature Feedback</a:t>
            </a:r>
            <a:r>
              <a:rPr lang="en-US" sz="2000" dirty="0">
                <a:solidFill>
                  <a:schemeClr val="tx1"/>
                </a:solidFill>
              </a:rPr>
              <a:t> </a:t>
            </a:r>
            <a:endParaRPr lang="en-ID" sz="2000" dirty="0">
              <a:solidFill>
                <a:schemeClr val="tx1"/>
              </a:solidFill>
            </a:endParaRPr>
          </a:p>
        </p:txBody>
      </p:sp>
      <p:graphicFrame>
        <p:nvGraphicFramePr>
          <p:cNvPr id="5" name="Object 4">
            <a:extLst>
              <a:ext uri="{FF2B5EF4-FFF2-40B4-BE49-F238E27FC236}">
                <a16:creationId xmlns:a16="http://schemas.microsoft.com/office/drawing/2014/main" id="{417F0191-58BC-28E8-9166-144EA10DB177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930609229"/>
              </p:ext>
            </p:extLst>
          </p:nvPr>
        </p:nvGraphicFramePr>
        <p:xfrm>
          <a:off x="2658774" y="832520"/>
          <a:ext cx="2196563" cy="9762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485720" imgH="660240" progId="Equation.DSMT4">
                  <p:embed/>
                </p:oleObj>
              </mc:Choice>
              <mc:Fallback>
                <p:oleObj name="Equation" r:id="rId2" imgW="1485720" imgH="660240" progId="Equation.DSMT4">
                  <p:embed/>
                  <p:pic>
                    <p:nvPicPr>
                      <p:cNvPr id="13" name="Object 12">
                        <a:extLst>
                          <a:ext uri="{FF2B5EF4-FFF2-40B4-BE49-F238E27FC236}">
                            <a16:creationId xmlns:a16="http://schemas.microsoft.com/office/drawing/2014/main" id="{ECCD5CA5-C871-BE68-859F-6BE6316121C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2658774" y="832520"/>
                        <a:ext cx="2196563" cy="9762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9E231F96-A33B-23B8-62A5-ECAF378C920C}"/>
              </a:ext>
            </a:extLst>
          </p:cNvPr>
          <p:cNvSpPr txBox="1">
            <a:spLocks/>
          </p:cNvSpPr>
          <p:nvPr/>
        </p:nvSpPr>
        <p:spPr>
          <a:xfrm>
            <a:off x="0" y="993506"/>
            <a:ext cx="4353059" cy="3556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Char char="●"/>
              <a:defRPr sz="1200" b="0" i="0" u="none" strike="noStrike" cap="none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1pPr>
            <a:lvl2pPr marL="914400" marR="0" lvl="1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Char char="○"/>
              <a:defRPr sz="1200" b="0" i="0" u="none" strike="noStrike" cap="none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2pPr>
            <a:lvl3pPr marL="1371600" marR="0" lvl="2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Char char="■"/>
              <a:defRPr sz="1200" b="0" i="0" u="none" strike="noStrike" cap="none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3pPr>
            <a:lvl4pPr marL="1828800" marR="0" lvl="3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Char char="●"/>
              <a:defRPr sz="1200" b="0" i="0" u="none" strike="noStrike" cap="none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4pPr>
            <a:lvl5pPr marL="2286000" marR="0" lvl="4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Char char="○"/>
              <a:defRPr sz="1200" b="0" i="0" u="none" strike="noStrike" cap="none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5pPr>
            <a:lvl6pPr marL="2743200" marR="0" lvl="5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Char char="■"/>
              <a:defRPr sz="1200" b="0" i="0" u="none" strike="noStrike" cap="none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6pPr>
            <a:lvl7pPr marL="3200400" marR="0" lvl="6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Char char="●"/>
              <a:defRPr sz="1200" b="0" i="0" u="none" strike="noStrike" cap="none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7pPr>
            <a:lvl8pPr marL="3657600" marR="0" lvl="7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Char char="○"/>
              <a:defRPr sz="1200" b="0" i="0" u="none" strike="noStrike" cap="none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8pPr>
            <a:lvl9pPr marL="4114800" marR="0" lvl="8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Char char="■"/>
              <a:defRPr sz="1200" b="0" i="0" u="none" strike="noStrike" cap="none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9pPr>
          </a:lstStyle>
          <a:p>
            <a:r>
              <a:rPr lang="en-US" dirty="0">
                <a:solidFill>
                  <a:schemeClr val="tx1"/>
                </a:solidFill>
              </a:rPr>
              <a:t>The equation Implicit Euler:</a:t>
            </a:r>
            <a:endParaRPr lang="en-ID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0581658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6AD634-0282-31E8-8511-8BC89937A0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624CD95D-1B59-2B10-F9CA-73349F778F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713" y="58659"/>
            <a:ext cx="8983014" cy="572700"/>
          </a:xfrm>
        </p:spPr>
        <p:txBody>
          <a:bodyPr/>
          <a:lstStyle/>
          <a:p>
            <a:r>
              <a:rPr lang="en-US" sz="2000" dirty="0"/>
              <a:t>Solve Kinematic Reactor Differential Equations using Implicit Euler Method with Temperature Feedback</a:t>
            </a:r>
            <a:r>
              <a:rPr lang="en-US" sz="2000" dirty="0">
                <a:solidFill>
                  <a:schemeClr val="tx1"/>
                </a:solidFill>
              </a:rPr>
              <a:t> </a:t>
            </a:r>
            <a:endParaRPr lang="en-ID" sz="2000" dirty="0">
              <a:solidFill>
                <a:schemeClr val="tx1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DD52E21-D1B0-959B-4CE6-C55C462882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6801" y="723061"/>
            <a:ext cx="2788773" cy="215879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50B4386-774C-2DA4-9B45-F1D36E94CE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8952" y="2982158"/>
            <a:ext cx="2654308" cy="210268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B73224B-C9B8-6F97-5933-0F72C25C536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7792" y="779172"/>
            <a:ext cx="2634165" cy="210268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BB85759A-730D-E4D4-E9D9-E0B3398B4B1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76800" y="2926047"/>
            <a:ext cx="2788773" cy="22092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545217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A115438C-B6A4-9109-3EA8-5A1D64A3A8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713" y="58659"/>
            <a:ext cx="8983014" cy="572700"/>
          </a:xfrm>
        </p:spPr>
        <p:txBody>
          <a:bodyPr/>
          <a:lstStyle/>
          <a:p>
            <a:r>
              <a:rPr lang="en-US" sz="2000" dirty="0"/>
              <a:t>Solve Kinematic Reactor Differential Equations using Runge-</a:t>
            </a:r>
            <a:r>
              <a:rPr lang="en-US" sz="2000" dirty="0" err="1"/>
              <a:t>Kutta</a:t>
            </a:r>
            <a:r>
              <a:rPr lang="en-US" sz="2000" dirty="0"/>
              <a:t> 4th Method with Temperature Feedback</a:t>
            </a:r>
            <a:r>
              <a:rPr lang="en-US" sz="2000" dirty="0">
                <a:solidFill>
                  <a:schemeClr val="tx1"/>
                </a:solidFill>
              </a:rPr>
              <a:t> </a:t>
            </a:r>
            <a:endParaRPr lang="en-ID" sz="2000" dirty="0">
              <a:solidFill>
                <a:schemeClr val="tx1"/>
              </a:solidFill>
            </a:endParaRPr>
          </a:p>
        </p:txBody>
      </p:sp>
      <p:graphicFrame>
        <p:nvGraphicFramePr>
          <p:cNvPr id="5" name="Object 4">
            <a:extLst>
              <a:ext uri="{FF2B5EF4-FFF2-40B4-BE49-F238E27FC236}">
                <a16:creationId xmlns:a16="http://schemas.microsoft.com/office/drawing/2014/main" id="{B95488A2-34BE-CE9F-938B-B40A43B2114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861330742"/>
              </p:ext>
            </p:extLst>
          </p:nvPr>
        </p:nvGraphicFramePr>
        <p:xfrm>
          <a:off x="3070225" y="1349175"/>
          <a:ext cx="3003550" cy="322897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2031840" imgH="2184120" progId="Equation.DSMT4">
                  <p:embed/>
                </p:oleObj>
              </mc:Choice>
              <mc:Fallback>
                <p:oleObj name="Equation" r:id="rId2" imgW="2031840" imgH="2184120" progId="Equation.DSMT4">
                  <p:embed/>
                  <p:pic>
                    <p:nvPicPr>
                      <p:cNvPr id="5" name="Object 4">
                        <a:extLst>
                          <a:ext uri="{FF2B5EF4-FFF2-40B4-BE49-F238E27FC236}">
                            <a16:creationId xmlns:a16="http://schemas.microsoft.com/office/drawing/2014/main" id="{417F0191-58BC-28E8-9166-144EA10DB17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3070225" y="1349175"/>
                        <a:ext cx="3003550" cy="3228976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5672FD3A-6720-47CE-8A26-CAD4F595D370}"/>
              </a:ext>
            </a:extLst>
          </p:cNvPr>
          <p:cNvSpPr txBox="1">
            <a:spLocks/>
          </p:cNvSpPr>
          <p:nvPr/>
        </p:nvSpPr>
        <p:spPr>
          <a:xfrm>
            <a:off x="0" y="993506"/>
            <a:ext cx="4353059" cy="3556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Char char="●"/>
              <a:defRPr sz="1200" b="0" i="0" u="none" strike="noStrike" cap="none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1pPr>
            <a:lvl2pPr marL="914400" marR="0" lvl="1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Char char="○"/>
              <a:defRPr sz="1200" b="0" i="0" u="none" strike="noStrike" cap="none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2pPr>
            <a:lvl3pPr marL="1371600" marR="0" lvl="2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Char char="■"/>
              <a:defRPr sz="1200" b="0" i="0" u="none" strike="noStrike" cap="none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3pPr>
            <a:lvl4pPr marL="1828800" marR="0" lvl="3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Char char="●"/>
              <a:defRPr sz="1200" b="0" i="0" u="none" strike="noStrike" cap="none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4pPr>
            <a:lvl5pPr marL="2286000" marR="0" lvl="4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Char char="○"/>
              <a:defRPr sz="1200" b="0" i="0" u="none" strike="noStrike" cap="none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5pPr>
            <a:lvl6pPr marL="2743200" marR="0" lvl="5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Char char="■"/>
              <a:defRPr sz="1200" b="0" i="0" u="none" strike="noStrike" cap="none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6pPr>
            <a:lvl7pPr marL="3200400" marR="0" lvl="6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Char char="●"/>
              <a:defRPr sz="1200" b="0" i="0" u="none" strike="noStrike" cap="none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7pPr>
            <a:lvl8pPr marL="3657600" marR="0" lvl="7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Char char="○"/>
              <a:defRPr sz="1200" b="0" i="0" u="none" strike="noStrike" cap="none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8pPr>
            <a:lvl9pPr marL="4114800" marR="0" lvl="8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Char char="■"/>
              <a:defRPr sz="1200" b="0" i="0" u="none" strike="noStrike" cap="none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9pPr>
          </a:lstStyle>
          <a:p>
            <a:r>
              <a:rPr lang="en-US" dirty="0">
                <a:solidFill>
                  <a:schemeClr val="tx1"/>
                </a:solidFill>
              </a:rPr>
              <a:t>The equation Runge-</a:t>
            </a:r>
            <a:r>
              <a:rPr lang="en-US" dirty="0" err="1">
                <a:solidFill>
                  <a:schemeClr val="tx1"/>
                </a:solidFill>
              </a:rPr>
              <a:t>Kutta</a:t>
            </a:r>
            <a:r>
              <a:rPr lang="en-US" dirty="0">
                <a:solidFill>
                  <a:schemeClr val="tx1"/>
                </a:solidFill>
              </a:rPr>
              <a:t> 4</a:t>
            </a:r>
            <a:r>
              <a:rPr lang="en-US" baseline="30000" dirty="0">
                <a:solidFill>
                  <a:schemeClr val="tx1"/>
                </a:solidFill>
              </a:rPr>
              <a:t>th</a:t>
            </a:r>
            <a:r>
              <a:rPr lang="en-US" dirty="0">
                <a:solidFill>
                  <a:schemeClr val="tx1"/>
                </a:solidFill>
              </a:rPr>
              <a:t> (RK4):</a:t>
            </a:r>
            <a:endParaRPr lang="en-ID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0421219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5ADC991E-312C-B655-353B-41E2B705B009}"/>
              </a:ext>
            </a:extLst>
          </p:cNvPr>
          <p:cNvSpPr txBox="1">
            <a:spLocks/>
          </p:cNvSpPr>
          <p:nvPr/>
        </p:nvSpPr>
        <p:spPr>
          <a:xfrm>
            <a:off x="83713" y="58659"/>
            <a:ext cx="8983014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Geologica"/>
              <a:buNone/>
              <a:defRPr sz="3000" b="1" i="0" u="none" strike="noStrike" cap="none">
                <a:solidFill>
                  <a:schemeClr val="dk1"/>
                </a:solidFill>
                <a:latin typeface="Geologica"/>
                <a:ea typeface="Geologica"/>
                <a:cs typeface="Geologica"/>
                <a:sym typeface="Geologica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Geologica"/>
              <a:buNone/>
              <a:defRPr sz="3000" b="1" i="0" u="none" strike="noStrike" cap="none">
                <a:solidFill>
                  <a:schemeClr val="dk1"/>
                </a:solidFill>
                <a:latin typeface="Geologica"/>
                <a:ea typeface="Geologica"/>
                <a:cs typeface="Geologica"/>
                <a:sym typeface="Geologica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Geologica"/>
              <a:buNone/>
              <a:defRPr sz="3000" b="1" i="0" u="none" strike="noStrike" cap="none">
                <a:solidFill>
                  <a:schemeClr val="dk1"/>
                </a:solidFill>
                <a:latin typeface="Geologica"/>
                <a:ea typeface="Geologica"/>
                <a:cs typeface="Geologica"/>
                <a:sym typeface="Geologica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Geologica"/>
              <a:buNone/>
              <a:defRPr sz="3000" b="1" i="0" u="none" strike="noStrike" cap="none">
                <a:solidFill>
                  <a:schemeClr val="dk1"/>
                </a:solidFill>
                <a:latin typeface="Geologica"/>
                <a:ea typeface="Geologica"/>
                <a:cs typeface="Geologica"/>
                <a:sym typeface="Geologica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Geologica"/>
              <a:buNone/>
              <a:defRPr sz="3000" b="1" i="0" u="none" strike="noStrike" cap="none">
                <a:solidFill>
                  <a:schemeClr val="dk1"/>
                </a:solidFill>
                <a:latin typeface="Geologica"/>
                <a:ea typeface="Geologica"/>
                <a:cs typeface="Geologica"/>
                <a:sym typeface="Geologica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Geologica"/>
              <a:buNone/>
              <a:defRPr sz="3000" b="1" i="0" u="none" strike="noStrike" cap="none">
                <a:solidFill>
                  <a:schemeClr val="dk1"/>
                </a:solidFill>
                <a:latin typeface="Geologica"/>
                <a:ea typeface="Geologica"/>
                <a:cs typeface="Geologica"/>
                <a:sym typeface="Geologica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Geologica"/>
              <a:buNone/>
              <a:defRPr sz="3000" b="1" i="0" u="none" strike="noStrike" cap="none">
                <a:solidFill>
                  <a:schemeClr val="dk1"/>
                </a:solidFill>
                <a:latin typeface="Geologica"/>
                <a:ea typeface="Geologica"/>
                <a:cs typeface="Geologica"/>
                <a:sym typeface="Geologica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Geologica"/>
              <a:buNone/>
              <a:defRPr sz="3000" b="1" i="0" u="none" strike="noStrike" cap="none">
                <a:solidFill>
                  <a:schemeClr val="dk1"/>
                </a:solidFill>
                <a:latin typeface="Geologica"/>
                <a:ea typeface="Geologica"/>
                <a:cs typeface="Geologica"/>
                <a:sym typeface="Geologica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Geologica"/>
              <a:buNone/>
              <a:defRPr sz="3000" b="1" i="0" u="none" strike="noStrike" cap="none">
                <a:solidFill>
                  <a:schemeClr val="dk1"/>
                </a:solidFill>
                <a:latin typeface="Geologica"/>
                <a:ea typeface="Geologica"/>
                <a:cs typeface="Geologica"/>
                <a:sym typeface="Geologica"/>
              </a:defRPr>
            </a:lvl9pPr>
          </a:lstStyle>
          <a:p>
            <a:r>
              <a:rPr lang="en-US" sz="2000"/>
              <a:t>Solve Kinematic Reactor Differential Equations using Runge-Kutta 4th Method with Temperature Feedback</a:t>
            </a:r>
            <a:r>
              <a:rPr lang="en-US" sz="2000">
                <a:solidFill>
                  <a:schemeClr val="tx1"/>
                </a:solidFill>
              </a:rPr>
              <a:t> </a:t>
            </a:r>
            <a:endParaRPr lang="en-ID" sz="2000" dirty="0">
              <a:solidFill>
                <a:schemeClr val="tx1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1CFFDBE-8F09-EB39-B50E-2D95295EAF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1561" y="3055954"/>
            <a:ext cx="2635200" cy="208754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B93A0AA-5585-355D-52F6-2A58016382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1561" y="840715"/>
            <a:ext cx="2635200" cy="210350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E3E2BB3-C1BA-F567-6B53-1F7AFB1BF1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16705" y="2997295"/>
            <a:ext cx="2635200" cy="208754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AA118F4-8A18-305A-F0CC-17627D07B65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16705" y="767835"/>
            <a:ext cx="2635200" cy="20399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15560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2445D460-57AD-DBE2-B9FB-4370688D23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713" y="58659"/>
            <a:ext cx="8983014" cy="572700"/>
          </a:xfrm>
        </p:spPr>
        <p:txBody>
          <a:bodyPr/>
          <a:lstStyle/>
          <a:p>
            <a:r>
              <a:rPr lang="en-US" sz="2000" dirty="0"/>
              <a:t>Solve Kinematic Reactor Differential Equations using Exponential Time Differencing (ETD) 1</a:t>
            </a:r>
            <a:r>
              <a:rPr lang="en-US" sz="2000" baseline="30000" dirty="0"/>
              <a:t>st</a:t>
            </a:r>
            <a:r>
              <a:rPr lang="en-US" sz="2000" dirty="0"/>
              <a:t> Method with Temperature Feedback</a:t>
            </a:r>
            <a:r>
              <a:rPr lang="en-US" sz="2000" dirty="0">
                <a:solidFill>
                  <a:schemeClr val="tx1"/>
                </a:solidFill>
              </a:rPr>
              <a:t> </a:t>
            </a:r>
            <a:endParaRPr lang="en-ID" sz="2000" dirty="0">
              <a:solidFill>
                <a:schemeClr val="tx1"/>
              </a:solidFill>
            </a:endParaRPr>
          </a:p>
        </p:txBody>
      </p:sp>
      <p:graphicFrame>
        <p:nvGraphicFramePr>
          <p:cNvPr id="7" name="Object 6">
            <a:extLst>
              <a:ext uri="{FF2B5EF4-FFF2-40B4-BE49-F238E27FC236}">
                <a16:creationId xmlns:a16="http://schemas.microsoft.com/office/drawing/2014/main" id="{12FB49F8-34EF-318A-1676-8754B4B6F677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33188723"/>
              </p:ext>
            </p:extLst>
          </p:nvPr>
        </p:nvGraphicFramePr>
        <p:xfrm>
          <a:off x="3327736" y="1623789"/>
          <a:ext cx="2308225" cy="12763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562040" imgH="863280" progId="Equation.DSMT4">
                  <p:embed/>
                </p:oleObj>
              </mc:Choice>
              <mc:Fallback>
                <p:oleObj name="Equation" r:id="rId2" imgW="1562040" imgH="863280" progId="Equation.DSMT4">
                  <p:embed/>
                  <p:pic>
                    <p:nvPicPr>
                      <p:cNvPr id="5" name="Object 4">
                        <a:extLst>
                          <a:ext uri="{FF2B5EF4-FFF2-40B4-BE49-F238E27FC236}">
                            <a16:creationId xmlns:a16="http://schemas.microsoft.com/office/drawing/2014/main" id="{B95488A2-34BE-CE9F-938B-B40A43B2114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3327736" y="1623789"/>
                        <a:ext cx="2308225" cy="12763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C0A44784-F388-C267-DBD3-622A71A7AA3A}"/>
              </a:ext>
            </a:extLst>
          </p:cNvPr>
          <p:cNvSpPr txBox="1">
            <a:spLocks/>
          </p:cNvSpPr>
          <p:nvPr/>
        </p:nvSpPr>
        <p:spPr>
          <a:xfrm>
            <a:off x="0" y="993506"/>
            <a:ext cx="4353059" cy="3556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Char char="●"/>
              <a:defRPr sz="1200" b="0" i="0" u="none" strike="noStrike" cap="none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1pPr>
            <a:lvl2pPr marL="914400" marR="0" lvl="1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Char char="○"/>
              <a:defRPr sz="1200" b="0" i="0" u="none" strike="noStrike" cap="none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2pPr>
            <a:lvl3pPr marL="1371600" marR="0" lvl="2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Char char="■"/>
              <a:defRPr sz="1200" b="0" i="0" u="none" strike="noStrike" cap="none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3pPr>
            <a:lvl4pPr marL="1828800" marR="0" lvl="3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Char char="●"/>
              <a:defRPr sz="1200" b="0" i="0" u="none" strike="noStrike" cap="none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4pPr>
            <a:lvl5pPr marL="2286000" marR="0" lvl="4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Char char="○"/>
              <a:defRPr sz="1200" b="0" i="0" u="none" strike="noStrike" cap="none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5pPr>
            <a:lvl6pPr marL="2743200" marR="0" lvl="5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Char char="■"/>
              <a:defRPr sz="1200" b="0" i="0" u="none" strike="noStrike" cap="none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6pPr>
            <a:lvl7pPr marL="3200400" marR="0" lvl="6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Char char="●"/>
              <a:defRPr sz="1200" b="0" i="0" u="none" strike="noStrike" cap="none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7pPr>
            <a:lvl8pPr marL="3657600" marR="0" lvl="7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Char char="○"/>
              <a:defRPr sz="1200" b="0" i="0" u="none" strike="noStrike" cap="none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8pPr>
            <a:lvl9pPr marL="4114800" marR="0" lvl="8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Char char="■"/>
              <a:defRPr sz="1200" b="0" i="0" u="none" strike="noStrike" cap="none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9pPr>
          </a:lstStyle>
          <a:p>
            <a:r>
              <a:rPr lang="en-US" dirty="0">
                <a:solidFill>
                  <a:schemeClr val="tx1"/>
                </a:solidFill>
              </a:rPr>
              <a:t>The equation Runge-</a:t>
            </a:r>
            <a:r>
              <a:rPr lang="en-US" dirty="0" err="1">
                <a:solidFill>
                  <a:schemeClr val="tx1"/>
                </a:solidFill>
              </a:rPr>
              <a:t>Kutta</a:t>
            </a:r>
            <a:r>
              <a:rPr lang="en-US" dirty="0">
                <a:solidFill>
                  <a:schemeClr val="tx1"/>
                </a:solidFill>
              </a:rPr>
              <a:t> 4</a:t>
            </a:r>
            <a:r>
              <a:rPr lang="en-US" baseline="30000" dirty="0">
                <a:solidFill>
                  <a:schemeClr val="tx1"/>
                </a:solidFill>
              </a:rPr>
              <a:t>th</a:t>
            </a:r>
            <a:r>
              <a:rPr lang="en-US" dirty="0">
                <a:solidFill>
                  <a:schemeClr val="tx1"/>
                </a:solidFill>
              </a:rPr>
              <a:t> (RK4):</a:t>
            </a:r>
            <a:endParaRPr lang="en-ID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4260709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576320EB-444C-D16A-0A0C-DAA960C365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713" y="58659"/>
            <a:ext cx="8983014" cy="572700"/>
          </a:xfrm>
        </p:spPr>
        <p:txBody>
          <a:bodyPr/>
          <a:lstStyle/>
          <a:p>
            <a:r>
              <a:rPr lang="en-US" sz="2000" dirty="0"/>
              <a:t>Solve Kinematic Reactor Differential Equations using Exponential Time Differencing (ETD) 1</a:t>
            </a:r>
            <a:r>
              <a:rPr lang="en-US" sz="2000" baseline="30000" dirty="0"/>
              <a:t>st</a:t>
            </a:r>
            <a:r>
              <a:rPr lang="en-US" sz="2000" dirty="0"/>
              <a:t> Method with Temperature Feedback</a:t>
            </a:r>
            <a:r>
              <a:rPr lang="en-US" sz="2000" dirty="0">
                <a:solidFill>
                  <a:schemeClr val="tx1"/>
                </a:solidFill>
              </a:rPr>
              <a:t> </a:t>
            </a:r>
            <a:endParaRPr lang="en-ID" sz="2000" dirty="0">
              <a:solidFill>
                <a:schemeClr val="tx1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E0F63C6-8A46-4C49-FCC0-26324C0805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1940" y="3027292"/>
            <a:ext cx="2635200" cy="208754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10FB8F9-2523-5E7E-FB51-C2EAAA0CD3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1940" y="806332"/>
            <a:ext cx="2635200" cy="210350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43122AF-1800-5EB0-DAFD-2A99D5B192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39081" y="2997295"/>
            <a:ext cx="2635200" cy="208754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3AC0419-5E8C-47E6-AA81-C219DA4E255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39081" y="806332"/>
            <a:ext cx="2635200" cy="20399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518372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8073AE7-3DB4-CFAF-9754-56A5D6F5A2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1382" y="844968"/>
            <a:ext cx="5221235" cy="4136144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0E469777-9D1D-460F-B03E-1D7315F89C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713" y="58659"/>
            <a:ext cx="8983014" cy="572700"/>
          </a:xfrm>
        </p:spPr>
        <p:txBody>
          <a:bodyPr/>
          <a:lstStyle/>
          <a:p>
            <a:r>
              <a:rPr lang="en-US" sz="2000" dirty="0"/>
              <a:t>Compare all method in neutron density</a:t>
            </a:r>
            <a:endParaRPr lang="en-ID" sz="2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4871362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C3082C15-82F2-FAF6-EDA3-5CE0ACB253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713" y="58659"/>
            <a:ext cx="8983014" cy="572700"/>
          </a:xfrm>
        </p:spPr>
        <p:txBody>
          <a:bodyPr/>
          <a:lstStyle/>
          <a:p>
            <a:r>
              <a:rPr lang="en-US" sz="2000" dirty="0"/>
              <a:t>h=0.05</a:t>
            </a:r>
            <a:endParaRPr lang="en-ID" sz="2000" dirty="0">
              <a:solidFill>
                <a:schemeClr val="tx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3609852-0CA3-398D-BE96-AC40700FAB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043" y="469411"/>
            <a:ext cx="2880000" cy="226428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97143FB-9EFC-766A-C146-702F3D7F1B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33959" y="2733698"/>
            <a:ext cx="2880000" cy="228147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8DF68A4-2A26-BA46-96ED-4DDC7070A41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0043" y="2844583"/>
            <a:ext cx="2880000" cy="229891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A20655F-06C9-2A3C-F412-5B4F3D2DC09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33959" y="338830"/>
            <a:ext cx="2880000" cy="2281471"/>
          </a:xfrm>
          <a:prstGeom prst="rect">
            <a:avLst/>
          </a:prstGeom>
        </p:spPr>
      </p:pic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56CF9474-509E-449E-B6DE-A3A7D3E002E0}"/>
              </a:ext>
            </a:extLst>
          </p:cNvPr>
          <p:cNvSpPr txBox="1">
            <a:spLocks/>
          </p:cNvSpPr>
          <p:nvPr/>
        </p:nvSpPr>
        <p:spPr>
          <a:xfrm>
            <a:off x="2844085" y="1301730"/>
            <a:ext cx="1320085" cy="3556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Char char="●"/>
              <a:defRPr sz="1200" b="0" i="0" u="none" strike="noStrike" cap="none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1pPr>
            <a:lvl2pPr marL="914400" marR="0" lvl="1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Char char="○"/>
              <a:defRPr sz="1200" b="0" i="0" u="none" strike="noStrike" cap="none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2pPr>
            <a:lvl3pPr marL="1371600" marR="0" lvl="2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Char char="■"/>
              <a:defRPr sz="1200" b="0" i="0" u="none" strike="noStrike" cap="none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3pPr>
            <a:lvl4pPr marL="1828800" marR="0" lvl="3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Char char="●"/>
              <a:defRPr sz="1200" b="0" i="0" u="none" strike="noStrike" cap="none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4pPr>
            <a:lvl5pPr marL="2286000" marR="0" lvl="4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Char char="○"/>
              <a:defRPr sz="1200" b="0" i="0" u="none" strike="noStrike" cap="none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5pPr>
            <a:lvl6pPr marL="2743200" marR="0" lvl="5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Char char="■"/>
              <a:defRPr sz="1200" b="0" i="0" u="none" strike="noStrike" cap="none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6pPr>
            <a:lvl7pPr marL="3200400" marR="0" lvl="6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Char char="●"/>
              <a:defRPr sz="1200" b="0" i="0" u="none" strike="noStrike" cap="none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7pPr>
            <a:lvl8pPr marL="3657600" marR="0" lvl="7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Char char="○"/>
              <a:defRPr sz="1200" b="0" i="0" u="none" strike="noStrike" cap="none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8pPr>
            <a:lvl9pPr marL="4114800" marR="0" lvl="8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Char char="■"/>
              <a:defRPr sz="1200" b="0" i="0" u="none" strike="noStrike" cap="none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9pPr>
          </a:lstStyle>
          <a:p>
            <a:pPr marL="152400" indent="0">
              <a:buNone/>
            </a:pPr>
            <a:r>
              <a:rPr lang="en-US" dirty="0">
                <a:solidFill>
                  <a:schemeClr val="tx1"/>
                </a:solidFill>
              </a:rPr>
              <a:t>Explicit </a:t>
            </a:r>
            <a:r>
              <a:rPr lang="en-US" dirty="0" err="1">
                <a:solidFill>
                  <a:schemeClr val="tx1"/>
                </a:solidFill>
              </a:rPr>
              <a:t>euler</a:t>
            </a:r>
            <a:endParaRPr lang="en-ID" dirty="0">
              <a:solidFill>
                <a:schemeClr val="tx1"/>
              </a:solidFill>
            </a:endParaRP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91DA1620-2E73-0CBF-A892-492C980D4ACF}"/>
              </a:ext>
            </a:extLst>
          </p:cNvPr>
          <p:cNvSpPr txBox="1">
            <a:spLocks/>
          </p:cNvSpPr>
          <p:nvPr/>
        </p:nvSpPr>
        <p:spPr>
          <a:xfrm>
            <a:off x="2844085" y="3948692"/>
            <a:ext cx="1320085" cy="3556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Char char="●"/>
              <a:defRPr sz="1200" b="0" i="0" u="none" strike="noStrike" cap="none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1pPr>
            <a:lvl2pPr marL="914400" marR="0" lvl="1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Char char="○"/>
              <a:defRPr sz="1200" b="0" i="0" u="none" strike="noStrike" cap="none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2pPr>
            <a:lvl3pPr marL="1371600" marR="0" lvl="2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Char char="■"/>
              <a:defRPr sz="1200" b="0" i="0" u="none" strike="noStrike" cap="none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3pPr>
            <a:lvl4pPr marL="1828800" marR="0" lvl="3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Char char="●"/>
              <a:defRPr sz="1200" b="0" i="0" u="none" strike="noStrike" cap="none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4pPr>
            <a:lvl5pPr marL="2286000" marR="0" lvl="4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Char char="○"/>
              <a:defRPr sz="1200" b="0" i="0" u="none" strike="noStrike" cap="none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5pPr>
            <a:lvl6pPr marL="2743200" marR="0" lvl="5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Char char="■"/>
              <a:defRPr sz="1200" b="0" i="0" u="none" strike="noStrike" cap="none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6pPr>
            <a:lvl7pPr marL="3200400" marR="0" lvl="6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Char char="●"/>
              <a:defRPr sz="1200" b="0" i="0" u="none" strike="noStrike" cap="none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7pPr>
            <a:lvl8pPr marL="3657600" marR="0" lvl="7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Char char="○"/>
              <a:defRPr sz="1200" b="0" i="0" u="none" strike="noStrike" cap="none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8pPr>
            <a:lvl9pPr marL="4114800" marR="0" lvl="8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Char char="■"/>
              <a:defRPr sz="1200" b="0" i="0" u="none" strike="noStrike" cap="none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9pPr>
          </a:lstStyle>
          <a:p>
            <a:pPr marL="152400" indent="0">
              <a:buNone/>
            </a:pPr>
            <a:r>
              <a:rPr lang="en-US" dirty="0">
                <a:solidFill>
                  <a:schemeClr val="tx1"/>
                </a:solidFill>
              </a:rPr>
              <a:t>RK4</a:t>
            </a:r>
            <a:endParaRPr lang="en-ID" dirty="0">
              <a:solidFill>
                <a:schemeClr val="tx1"/>
              </a:solidFill>
            </a:endParaRP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A6AA6716-E07C-CB7F-5356-0B23D848ECD9}"/>
              </a:ext>
            </a:extLst>
          </p:cNvPr>
          <p:cNvSpPr txBox="1">
            <a:spLocks/>
          </p:cNvSpPr>
          <p:nvPr/>
        </p:nvSpPr>
        <p:spPr>
          <a:xfrm>
            <a:off x="7323705" y="1029127"/>
            <a:ext cx="1320085" cy="3556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Char char="●"/>
              <a:defRPr sz="1200" b="0" i="0" u="none" strike="noStrike" cap="none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1pPr>
            <a:lvl2pPr marL="914400" marR="0" lvl="1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Char char="○"/>
              <a:defRPr sz="1200" b="0" i="0" u="none" strike="noStrike" cap="none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2pPr>
            <a:lvl3pPr marL="1371600" marR="0" lvl="2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Char char="■"/>
              <a:defRPr sz="1200" b="0" i="0" u="none" strike="noStrike" cap="none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3pPr>
            <a:lvl4pPr marL="1828800" marR="0" lvl="3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Char char="●"/>
              <a:defRPr sz="1200" b="0" i="0" u="none" strike="noStrike" cap="none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4pPr>
            <a:lvl5pPr marL="2286000" marR="0" lvl="4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Char char="○"/>
              <a:defRPr sz="1200" b="0" i="0" u="none" strike="noStrike" cap="none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5pPr>
            <a:lvl6pPr marL="2743200" marR="0" lvl="5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Char char="■"/>
              <a:defRPr sz="1200" b="0" i="0" u="none" strike="noStrike" cap="none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6pPr>
            <a:lvl7pPr marL="3200400" marR="0" lvl="6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Char char="●"/>
              <a:defRPr sz="1200" b="0" i="0" u="none" strike="noStrike" cap="none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7pPr>
            <a:lvl8pPr marL="3657600" marR="0" lvl="7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Char char="○"/>
              <a:defRPr sz="1200" b="0" i="0" u="none" strike="noStrike" cap="none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8pPr>
            <a:lvl9pPr marL="4114800" marR="0" lvl="8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Char char="■"/>
              <a:defRPr sz="1200" b="0" i="0" u="none" strike="noStrike" cap="none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9pPr>
          </a:lstStyle>
          <a:p>
            <a:pPr marL="152400" indent="0">
              <a:buNone/>
            </a:pPr>
            <a:r>
              <a:rPr lang="en-US" dirty="0">
                <a:solidFill>
                  <a:schemeClr val="tx1"/>
                </a:solidFill>
              </a:rPr>
              <a:t>Implicit </a:t>
            </a:r>
            <a:r>
              <a:rPr lang="en-US" dirty="0" err="1">
                <a:solidFill>
                  <a:schemeClr val="tx1"/>
                </a:solidFill>
              </a:rPr>
              <a:t>euler</a:t>
            </a:r>
            <a:endParaRPr lang="en-ID" dirty="0">
              <a:solidFill>
                <a:schemeClr val="tx1"/>
              </a:solidFill>
            </a:endParaRP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EDB00A2D-5920-ED0E-3F90-D92B89837E6E}"/>
              </a:ext>
            </a:extLst>
          </p:cNvPr>
          <p:cNvSpPr txBox="1">
            <a:spLocks/>
          </p:cNvSpPr>
          <p:nvPr/>
        </p:nvSpPr>
        <p:spPr>
          <a:xfrm>
            <a:off x="7323705" y="3580870"/>
            <a:ext cx="1320085" cy="3556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Char char="●"/>
              <a:defRPr sz="1200" b="0" i="0" u="none" strike="noStrike" cap="none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1pPr>
            <a:lvl2pPr marL="914400" marR="0" lvl="1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Char char="○"/>
              <a:defRPr sz="1200" b="0" i="0" u="none" strike="noStrike" cap="none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2pPr>
            <a:lvl3pPr marL="1371600" marR="0" lvl="2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Char char="■"/>
              <a:defRPr sz="1200" b="0" i="0" u="none" strike="noStrike" cap="none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3pPr>
            <a:lvl4pPr marL="1828800" marR="0" lvl="3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Char char="●"/>
              <a:defRPr sz="1200" b="0" i="0" u="none" strike="noStrike" cap="none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4pPr>
            <a:lvl5pPr marL="2286000" marR="0" lvl="4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Char char="○"/>
              <a:defRPr sz="1200" b="0" i="0" u="none" strike="noStrike" cap="none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5pPr>
            <a:lvl6pPr marL="2743200" marR="0" lvl="5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Char char="■"/>
              <a:defRPr sz="1200" b="0" i="0" u="none" strike="noStrike" cap="none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6pPr>
            <a:lvl7pPr marL="3200400" marR="0" lvl="6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Char char="●"/>
              <a:defRPr sz="1200" b="0" i="0" u="none" strike="noStrike" cap="none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7pPr>
            <a:lvl8pPr marL="3657600" marR="0" lvl="7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Char char="○"/>
              <a:defRPr sz="1200" b="0" i="0" u="none" strike="noStrike" cap="none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8pPr>
            <a:lvl9pPr marL="4114800" marR="0" lvl="8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Char char="■"/>
              <a:defRPr sz="1200" b="0" i="0" u="none" strike="noStrike" cap="none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9pPr>
          </a:lstStyle>
          <a:p>
            <a:pPr marL="152400" indent="0">
              <a:buNone/>
            </a:pPr>
            <a:r>
              <a:rPr lang="en-US" dirty="0">
                <a:solidFill>
                  <a:schemeClr val="tx1"/>
                </a:solidFill>
              </a:rPr>
              <a:t>ETD1</a:t>
            </a:r>
            <a:endParaRPr lang="en-ID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88590441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Pastel Company Profile by Slidesgo">
  <a:themeElements>
    <a:clrScheme name="Simple Light">
      <a:dk1>
        <a:srgbClr val="36502A"/>
      </a:dk1>
      <a:lt1>
        <a:srgbClr val="F9FDF8"/>
      </a:lt1>
      <a:dk2>
        <a:srgbClr val="E0F0DA"/>
      </a:dk2>
      <a:lt2>
        <a:srgbClr val="B6D7A8"/>
      </a:lt2>
      <a:accent1>
        <a:srgbClr val="38761D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36502A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576</TotalTime>
  <Words>491</Words>
  <Application>Microsoft Office PowerPoint</Application>
  <PresentationFormat>On-screen Show (16:9)</PresentationFormat>
  <Paragraphs>65</Paragraphs>
  <Slides>20</Slides>
  <Notes>3</Notes>
  <HiddenSlides>0</HiddenSlides>
  <MMClips>0</MMClips>
  <ScaleCrop>false</ScaleCrop>
  <HeadingPairs>
    <vt:vector size="8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9" baseType="lpstr">
      <vt:lpstr>Arial</vt:lpstr>
      <vt:lpstr>Actor</vt:lpstr>
      <vt:lpstr>Geologica</vt:lpstr>
      <vt:lpstr>Open Sans</vt:lpstr>
      <vt:lpstr>Cambria Math</vt:lpstr>
      <vt:lpstr>Nunito Light</vt:lpstr>
      <vt:lpstr>Figtree</vt:lpstr>
      <vt:lpstr>Simple Pastel Company Profile by Slidesgo</vt:lpstr>
      <vt:lpstr>Equation</vt:lpstr>
      <vt:lpstr>Numerical Modeling of Control Rod Reactivity in the Kartini Research Reactor Using Differential Rod Worth Functions</vt:lpstr>
      <vt:lpstr>Kinematic Equations of the Kartini Reactor</vt:lpstr>
      <vt:lpstr>Kinematic Equations of the Kartini Reactor</vt:lpstr>
      <vt:lpstr>Reactivity Model with Control Rod Position</vt:lpstr>
      <vt:lpstr>Reactivity Model Approach with Control Rod Position</vt:lpstr>
      <vt:lpstr>Solve Kinematic Reactor Differential Equations</vt:lpstr>
      <vt:lpstr>Speed Of The Control Rod Regulating The Kartini Reactor</vt:lpstr>
      <vt:lpstr>Speed Of The Control Rod Regulating The Kartini Reactor</vt:lpstr>
      <vt:lpstr>Solve Kinematic Reactor Differential Equations using Explicit Euler Method </vt:lpstr>
      <vt:lpstr>Solve Kinematic Reactor Differential Equations using Explicit Euler Method </vt:lpstr>
      <vt:lpstr>Solve Kinematic Reactor Differential Equations using Explicit Euler Method with Temperature Feedback </vt:lpstr>
      <vt:lpstr>PowerPoint Presentation</vt:lpstr>
      <vt:lpstr>Solve Kinematic Reactor Differential Equations using Implicit Euler Method with Temperature Feedback </vt:lpstr>
      <vt:lpstr>Solve Kinematic Reactor Differential Equations using Implicit Euler Method with Temperature Feedback </vt:lpstr>
      <vt:lpstr>Solve Kinematic Reactor Differential Equations using Runge-Kutta 4th Method with Temperature Feedback </vt:lpstr>
      <vt:lpstr>PowerPoint Presentation</vt:lpstr>
      <vt:lpstr>Solve Kinematic Reactor Differential Equations using Exponential Time Differencing (ETD) 1st Method with Temperature Feedback </vt:lpstr>
      <vt:lpstr>Solve Kinematic Reactor Differential Equations using Exponential Time Differencing (ETD) 1st Method with Temperature Feedback </vt:lpstr>
      <vt:lpstr>Compare all method in neutron density</vt:lpstr>
      <vt:lpstr>h=0.05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ASUS</dc:creator>
  <cp:lastModifiedBy>asus ROG</cp:lastModifiedBy>
  <cp:revision>20</cp:revision>
  <dcterms:modified xsi:type="dcterms:W3CDTF">2026-04-13T08:35:19Z</dcterms:modified>
</cp:coreProperties>
</file>